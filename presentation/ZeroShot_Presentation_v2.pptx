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Fine-Tuned LLMs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Misinformation Detection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029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RoBERTa Fine-Tuned with Llama 3.1 8B Zero-Shot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Misinformation Datasets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Manchester Arena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Monkeypox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PHEME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Yoni  |  Final Project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this study?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09728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large language model, with zero training examples, detect misinformation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accurately as a fine-tuned RoBERTa model trained on thousands of labeled tweets?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2651760" cy="32004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3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 bombing,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health claims,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breaking news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606040"/>
            <a:ext cx="265176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2 Approaches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(supervised)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(no training)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606040"/>
            <a:ext cx="2651760" cy="320040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624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Metrics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30175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Macro, F1 Weighted,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domains — real-world misinformation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88720"/>
            <a:ext cx="2834640" cy="43891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</a:t>
            </a:r>
            <a:endParaRPr lang="en-US" sz="1400" dirty="0"/>
          </a:p>
        </p:txBody>
      </p:sp>
      <p:pic>
        <p:nvPicPr>
          <p:cNvPr id="10" name="Image 0" descr="C:/Users/yoni1/Desktop/ZEROSHO_CODE/results/figures/manchester/01_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673352"/>
            <a:ext cx="2743200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89,147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2,427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(event-specific)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1188720"/>
            <a:ext cx="2834640" cy="43891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33009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400" dirty="0"/>
          </a:p>
        </p:txBody>
      </p:sp>
      <p:pic>
        <p:nvPicPr>
          <p:cNvPr id="18" name="Image 1" descr="C:/Users/yoni1/Desktop/ZEROSHO_CODE/results/figures/monkeypox/mpox_01_label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673352"/>
            <a:ext cx="2743200" cy="1691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92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~6,287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3,043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92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reliable / misinformation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192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(health crisis)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99632" y="1188720"/>
            <a:ext cx="28346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99632" y="1188720"/>
            <a:ext cx="2834640" cy="438912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25" name="Text 21"/>
          <p:cNvSpPr/>
          <p:nvPr/>
        </p:nvSpPr>
        <p:spPr>
          <a:xfrm>
            <a:off x="6272784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400" dirty="0"/>
          </a:p>
        </p:txBody>
      </p:sp>
      <p:pic>
        <p:nvPicPr>
          <p:cNvPr id="26" name="Image 2" descr="C:/Users/yoni1/Desktop/ZEROSHO_CODE/results/figures/pheme/pheme_01_label_distrib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73352"/>
            <a:ext cx="2743200" cy="1691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tweets: 62,445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91072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12,887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91072" y="3858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not_rumour / rumour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91072" y="4059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Twitter (breaking news)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clean, curated Gold Standard for fair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1673352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234440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2527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URLs, @mentions,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#tags (keep text), RT, emojis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2386584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947672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1965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tweets &lt; 5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(noise removal)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6090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" y="3099816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660904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26791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exact copies)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" y="3813048"/>
            <a:ext cx="54864" cy="2743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374136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3392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Gold Standard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 stratified tweets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8736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4087368"/>
            <a:ext cx="3840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41056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Cleaning</a:t>
            </a:r>
            <a:endParaRPr lang="en-US" sz="1200" dirty="0"/>
          </a:p>
        </p:txBody>
      </p:sp>
      <p:pic>
        <p:nvPicPr>
          <p:cNvPr id="32" name="Image 0" descr="C:/Users/yoni1/Desktop/ZEROSHO_CODE/results/figures/manchester/08_before_after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977640" cy="210312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4937760" y="3657600"/>
            <a:ext cx="3977640" cy="1280160"/>
          </a:xfrm>
          <a:prstGeom prst="rect">
            <a:avLst/>
          </a:prstGeom>
          <a:solidFill>
            <a:srgbClr val="FFFBF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074920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Tweet (Manchester):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3931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"@user RT: Manchester Arena BOMB — refugees did this! 💥 #Islamists http://t.co/xyz"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"Manchester Arena BOMB — refugees did this Islamists"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&amp; Class Imbalance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cannot use the raw data directly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023360" cy="1463040"/>
          </a:xfrm>
          <a:prstGeom prst="rect">
            <a:avLst/>
          </a:prstGeom>
          <a:solidFill>
            <a:srgbClr val="FFF3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91440" cy="1463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raw: 89,147 tweets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490 misinformation (0.55%)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"reliable" always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achieve 99.4% accuracy!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23360" cy="2057400"/>
          </a:xfrm>
          <a:prstGeom prst="rect">
            <a:avLst/>
          </a:prstGeom>
          <a:solidFill>
            <a:srgbClr val="F0FFF4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34640"/>
            <a:ext cx="91440" cy="20574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ALL minority class examples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sample from majority class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a curated Gold Standard per dataset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70/15/15 split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weights in training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Gold Standard Splits</a:t>
            </a:r>
            <a:endParaRPr lang="en-US" sz="1200" dirty="0"/>
          </a:p>
        </p:txBody>
      </p:sp>
      <p:pic>
        <p:nvPicPr>
          <p:cNvPr id="16" name="Image 0" descr="C:/Users/yoni1/Desktop/ZEROSHO_CODE/results/figures/manchester/09_gold_standard_spl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463040"/>
            <a:ext cx="4251960" cy="21945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617720" y="361188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648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611880"/>
            <a:ext cx="9144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17336" y="3648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Total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95160" y="3611880"/>
            <a:ext cx="7772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31736" y="3648456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089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58200" y="3611880"/>
            <a:ext cx="6858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94776" y="364845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394106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54296" y="39776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80760" y="394106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17336" y="39776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95160" y="3941064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31736" y="3977640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1,698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724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089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458200" y="3941064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94776" y="397764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17720" y="427024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4296" y="43068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0248"/>
            <a:ext cx="9144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17336" y="43068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3,043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95160" y="4270248"/>
            <a:ext cx="7772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31736" y="4306824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7724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089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58200" y="4270248"/>
            <a:ext cx="685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94776" y="43068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617720" y="459943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54296" y="46360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80760" y="459943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17336" y="46360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12,887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995160" y="4599432"/>
            <a:ext cx="777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31736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9,020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7724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089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1,933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458200" y="4599432"/>
            <a:ext cx="685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494776" y="463600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approach — learning from labeled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344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66420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7465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(BPE)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17627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2585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t1 t2 ... [SEP]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6883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7706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(125M params)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2004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282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Representation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7124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7947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2 (Linear)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2245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3068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/ misinformation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1207008"/>
            <a:ext cx="51663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862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22192" y="1691640"/>
            <a:ext cx="14630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67912" y="1728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85232" y="1691640"/>
            <a:ext cx="137160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1728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56832" y="1691640"/>
            <a:ext cx="2148840" cy="32918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17282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22192" y="2020824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7912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85232" y="202082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56832" y="202082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catastrophic forgetting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22192" y="2350008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67912" y="2386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85232" y="2350008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0952" y="2386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56832" y="2350008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02552" y="238658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balance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22192" y="2679192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67912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(max)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85232" y="267919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56832" y="267919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2715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stopping (patience=2)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22192" y="3008376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67912" y="3044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Ratio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285232" y="3008376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30952" y="3044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656832" y="3008376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02552" y="3044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LR increase at start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22192" y="3337560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67912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285232" y="33375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0952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56832" y="333756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2552" y="33741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822192" y="3666744"/>
            <a:ext cx="14630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67912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285232" y="3666744"/>
            <a:ext cx="13716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30952" y="3703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(mixed)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656832" y="3666744"/>
            <a:ext cx="214884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02552" y="37033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GPU training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822192" y="399592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67912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285232" y="399592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30952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56832" y="399592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02552" y="40325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749040" y="4206240"/>
            <a:ext cx="5166360" cy="68580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88620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5-Fold Stratified Cross-Validation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886200" y="4507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split into 5 equal parts → train on 4, validate on 1 → rotate → report mean ± std F1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 Final Test Set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5-Fold CV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roberta_cv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411480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Test Set Confusion Matrix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roberta_test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420624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 — All Datasets (RoBERTa Fine-Tuned)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3922776"/>
            <a:ext cx="141732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6616" y="3950208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737360" y="3922776"/>
            <a:ext cx="17373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73936" y="3950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Macro (mean ± std)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7472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1129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3922776"/>
            <a:ext cx="105156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08576" y="3950208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62356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013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Precision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20840" y="3922776"/>
            <a:ext cx="1097280" cy="283464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57416" y="39502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4206240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6616" y="4233672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737360" y="4206240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773936" y="42336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± 0.012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7472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1129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72000" y="4206240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08576" y="4233672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2356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6013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720840" y="4206240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57416" y="4233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20040" y="4489704"/>
            <a:ext cx="141732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6616" y="4517136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737360" y="4489704"/>
            <a:ext cx="1737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773936" y="451713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 ± 0.014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47472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1129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0" y="4489704"/>
            <a:ext cx="10515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608576" y="4517136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562356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66013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720840" y="4489704"/>
            <a:ext cx="109728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757416" y="451713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20040" y="4773168"/>
            <a:ext cx="14173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6616" y="4800600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1737360" y="4773168"/>
            <a:ext cx="1737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773936" y="480060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0.599 ± 0.007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347472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51129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4572000" y="4773168"/>
            <a:ext cx="1051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08576" y="48006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562356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66013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6720840" y="4773168"/>
            <a:ext cx="1097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757416" y="48006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— Ollama + Llama 3.1 8B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1148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How Zero-Shot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Llama 3.1 8B locally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API key, no internet required)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313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33172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Chain-of-Thought prompt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dataset-specific class definitions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907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292608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 step-by-step,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outputs structured JSON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502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52044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→ extract label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keyword scan in raw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4864" cy="128016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096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114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50 tweets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 if interrupted)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207008"/>
            <a:ext cx="4251960" cy="370332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12618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(Chain-of-Thought)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81728" y="1609344"/>
            <a:ext cx="41148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fact-checker...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the 2017 Manchester Arena bombing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"reliable": factually accurate...
</a:t>
            </a:r>
            <a:pPr indent="0" marL="0">
              <a:buNone/>
            </a:pPr>
            <a:r>
              <a:rPr lang="en-US" sz="9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"misinformation": false claims...
</a:t>
            </a:r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TWEET: """[tweet text]"""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INSTRUCTIONS: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step-by-step: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What claim does the tweet make?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Verifiable facts or emotional?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Conspiracy signals?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{"reasoning":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"label": "reliable",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0.87}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46177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 (deterministic output)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 — RoBERTa vs Llama 3.1 Zero-Shot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all three datasets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compariso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44752"/>
            <a:ext cx="283464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1704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(Manchester)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comparison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44752"/>
            <a:ext cx="5577840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— Final Summary</a:t>
            </a:r>
            <a:endParaRPr lang="en-US" sz="1100" dirty="0"/>
          </a:p>
        </p:txBody>
      </p:sp>
      <p:pic>
        <p:nvPicPr>
          <p:cNvPr id="12" name="Image 2" descr="C:/Users/yoni1/Desktop/ZEROSHO_CODE/results/figures/manchester/manchester_final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3632"/>
            <a:ext cx="2834640" cy="1097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46120" y="3611880"/>
            <a:ext cx="5577840" cy="14173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383280" y="3657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83280" y="3977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RoBERTa wins all 3 datasets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 Macro: 0.986 / 0.913 / 0.598 vs Zero-Shot: 0.684 / 0.613 / 0.398)
</a:t>
            </a:r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3.1 8B Zero-Shot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competitive on Manchester &amp; Monkeypox — </a:t>
            </a:r>
            <a:pPr indent="0" marL="0">
              <a:buNone/>
            </a:pPr>
            <a:r>
              <a:rPr lang="en-US" sz="10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training examples
</a:t>
            </a:r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McNemar's Test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differences are highly significant (p ≈ 3.4e-24 / 5e-29 / &lt;1e-80)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— Side by Side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metrics, both models, all datasets (test 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371600"/>
            <a:ext cx="132588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41732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1371600"/>
            <a:ext cx="19202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2496" y="14173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0058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4173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0058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4173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10058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14173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10058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141732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1371600"/>
            <a:ext cx="132588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141732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(positive class)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755648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180136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0" y="1755648"/>
            <a:ext cx="19202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82496" y="18013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1755648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18013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755648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18013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755648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18013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755648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18013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1755648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180136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139696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2185416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2139696"/>
            <a:ext cx="19202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82496" y="218541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Zero-Shot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2139696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02736" y="2185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2139696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2185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2139696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4416" y="2185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2139696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218541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89520" y="2139696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6096" y="2185416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2523744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" y="256946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645920" y="2523744"/>
            <a:ext cx="19202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82496" y="256946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566160" y="2523744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02736" y="256946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0" y="2523744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08576" y="256946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77840" y="2523744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14416" y="256946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83680" y="2523744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56946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589520" y="2523744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26096" y="2569464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0040" y="2907792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" y="295351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645920" y="2907792"/>
            <a:ext cx="19202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82496" y="295351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Zero-Shot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566160" y="2907792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02736" y="29535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0" y="2907792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08576" y="29535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77840" y="2907792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14416" y="29535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583680" y="2907792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0256" y="29535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589520" y="2907792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26096" y="295351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0.616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" y="3291840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6616" y="3337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645920" y="3291840"/>
            <a:ext cx="19202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82496" y="333756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Fine-Tuned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566160" y="3291840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02736" y="333756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72000" y="3291840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08576" y="333756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577840" y="3291840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14416" y="333756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583680" y="3291840"/>
            <a:ext cx="100584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20256" y="333756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589520" y="3291840"/>
            <a:ext cx="1325880" cy="384048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26096" y="333756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20040" y="3675888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6616" y="372160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645920" y="3675888"/>
            <a:ext cx="19202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82496" y="37216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Zero-Shot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566160" y="3675888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02736" y="3721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72000" y="3675888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08576" y="3721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0.434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577840" y="3675888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14416" y="3721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583680" y="3675888"/>
            <a:ext cx="100584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20256" y="3721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0.506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7589520" y="3675888"/>
            <a:ext cx="1325880" cy="384048"/>
          </a:xfrm>
          <a:prstGeom prst="rect">
            <a:avLst/>
          </a:prstGeom>
          <a:solidFill>
            <a:srgbClr val="FDEBD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6096" y="372160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0.546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320040" y="4206240"/>
            <a:ext cx="228600" cy="22860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1792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Fine-Tuned (125M, supervised)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023360" y="4206240"/>
            <a:ext cx="228600" cy="228600"/>
          </a:xfrm>
          <a:prstGeom prst="rect">
            <a:avLst/>
          </a:prstGeom>
          <a:solidFill>
            <a:srgbClr val="FDEBD0"/>
          </a:solidFill>
          <a:ln w="6350">
            <a:solidFill>
              <a:srgbClr val="E8C49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25112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Zero-Shot (Ollama, no training)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is hardest for both models — rumour detection requires event context that a single tweet rarely contains.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— No Overfitting, No Data Leakage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results can be trusted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34416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5819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(15%) was never touched during training, hyperparameter choice, or prompt design. Evaluated exactly once.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34416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6088" y="1307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76088" y="15819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≈ Test score (e.g. Manchester 0.961 CV vs 0.986 Test). A large gap would signal overfitting — we see none.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262432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8408" y="2587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2862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halts when validation F1 stops improving (patience=2). Prevents memorizing the training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262432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76088" y="2587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Weights, Not Oversampling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76088" y="2862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duplicated samples that could leak between folds. Imbalance handled in the loss function only.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79476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390448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8408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(42) + Stratified Splits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8408" y="41422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 ratio in every split, fully reproducible runs. Per-fold class weights computed from the training fold only.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794760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27448" y="3904488"/>
            <a:ext cx="457200" cy="457200"/>
          </a:xfrm>
          <a:prstGeom prst="ellipse">
            <a:avLst/>
          </a:prstGeom>
          <a:solidFill>
            <a:srgbClr val="E0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🧊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76088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Cannot Overfit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6088" y="41422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saw no training data at all — its score is a true generalization measure, and temperature=0 makes it deterministic.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5486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datasets preprocessed &amp; Gold Standards created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RoBERTa-base fine-tuned on each dataset (5-Fold CV)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Zero-Shot with Llama 3.1 8B via Ollama (local)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evaluation: F1 Macro, Confusion Matrices, McNemar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Comparison figures &amp; Master Results CSV generated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977640"/>
          </a:xfrm>
          <a:prstGeom prst="rect">
            <a:avLst/>
          </a:prstGeom>
          <a:solidFill>
            <a:srgbClr val="0A254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87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 — Planned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85232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  (via Groq 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open-source, 120B params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48716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🦙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85232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 (via Groq API)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70B dense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8416"/>
            <a:ext cx="3977640" cy="91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49300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85232" y="3566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32B  (via Groq API)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Alibaba, 32B with thinking mode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553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whether bigger models = better zero-shot performance (scaling law)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model is the one that generalizes — with or without training."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vs Fine-Tuned LLMs for Misinformation Detection</dc:title>
  <dc:subject>PptxGenJS Presentation</dc:subject>
  <dc:creator>PptxGenJS</dc:creator>
  <cp:lastModifiedBy>PptxGenJS</cp:lastModifiedBy>
  <cp:revision>1</cp:revision>
  <dcterms:created xsi:type="dcterms:W3CDTF">2026-06-12T08:53:46Z</dcterms:created>
  <dcterms:modified xsi:type="dcterms:W3CDTF">2026-06-12T08:53:46Z</dcterms:modified>
</cp:coreProperties>
</file>