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7" r:id="rId18"/>
    <p:sldId id="278" r:id="rId19"/>
    <p:sldId id="279" r:id="rId20"/>
    <p:sldId id="281" r:id="rId21"/>
    <p:sldId id="282" r:id="rId22"/>
    <p:sldId id="283" r:id="rId23"/>
    <p:sldId id="284" r:id="rId24"/>
    <p:sldId id="280" r:id="rId25"/>
    <p:sldId id="285" r:id="rId26"/>
    <p:sldId id="275" r:id="rId27"/>
  </p:sldIdLst>
  <p:sldSz cx="9144000" cy="5143500" type="screen16x9"/>
  <p:notesSz cx="6858000" cy="9144000"/>
  <p:embeddedFontLst>
    <p:embeddedFont>
      <p:font typeface="Assistant" pitchFamily="2" charset="-79"/>
      <p:regular r:id="rId29"/>
      <p:bold r:id="rId30"/>
    </p:embeddedFont>
    <p:embeddedFont>
      <p:font typeface="Assistant ExtraBold" pitchFamily="2" charset="-79"/>
      <p:bold r:id="rId31"/>
    </p:embeddedFont>
    <p:embeddedFont>
      <p:font typeface="Assistant Medium" panose="020B0604020202020204" charset="-79"/>
      <p:regular r:id="rId32"/>
      <p:bold r:id="rId33"/>
    </p:embeddedFont>
    <p:embeddedFont>
      <p:font typeface="Assistant SemiBold" pitchFamily="2" charset="-79"/>
      <p:regular r:id="rId34"/>
      <p:bold r:id="rId35"/>
    </p:embeddedFont>
    <p:embeddedFont>
      <p:font typeface="David" panose="020E0502060401010101" pitchFamily="34" charset="-79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6E7B18-D933-4BB6-8C4F-23904260E9A3}">
  <a:tblStyle styleId="{556E7B18-D933-4BB6-8C4F-23904260E9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16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223cb978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4223cb978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223cb978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4223cb978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רקע למחקר - נדבר על מודלי הLLM כתחליף למודלים מאומנים מבוססי transformerים. נדבר על הבעיה הספציפית שבה מתמקד המחקר שלנו.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4223cb978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4223cb978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223cb978_0_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223cb978_0_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223cb978_0_1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4223cb978_0_1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223cb978_0_1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223cb978_0_1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223cb978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223cb978_0_1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223cb978_0_1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4223cb978_0_1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4223cb978_0_1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4223cb978_0_1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223cb978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4223cb978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223cb978_0_1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4223cb978_0_1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d734dfb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d734dfb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223cb978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4223cb978_0_1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4223cb978_0_1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4223cb978_0_1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4223cb978_0_1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4223cb978_0_1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במחקר זה ניתן משקל מיוחד למדד </a:t>
            </a:r>
            <a:r>
              <a:rPr lang="en-US" dirty="0"/>
              <a:t>macroF1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הדבר חשוב במיוחד במשימות של מידע כוזב ושמועות,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שבהן דווקא המחלקה הקריטית עשויה להיות קטנה יותר אך בעלת חשיבות מחקרית ויישומית גבוהה.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223cb978_0_1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4223cb978_0_1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4223cb978_0_1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4223cb978_0_1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במחקר זה ניתן משקל מיוחד למדד F1-Macro,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משום שהוא בוחן את ביצועי המודל על כל מחלקה באופן מאוזן ואינו מאפשר למחלקת הרוב להסתיר ביצועים חלשים במחלקת המיעוט. 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הדבר חשוב במיוחד במשימות של מידע כוזב ושמועות, 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שבהן דווקא המחלקה הקריטית עשויה להיות קטנה יותר אך בעלת חשיבות מחקרית ויישומית גבוהה.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4223cb978_0_3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4223cb978_0_3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4223cb978_12_0)">
  <p:cSld name="Generated (g3e4223cb978_12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51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31773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3333750" y="666750"/>
            <a:ext cx="38100" cy="3810000"/>
          </a:xfrm>
          <a:prstGeom prst="rect">
            <a:avLst/>
          </a:prstGeom>
          <a:solidFill>
            <a:srgbClr val="1A237E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" name="Google Shape;58;p14"/>
          <p:cNvGrpSpPr/>
          <p:nvPr/>
        </p:nvGrpSpPr>
        <p:grpSpPr>
          <a:xfrm>
            <a:off x="3831850" y="666750"/>
            <a:ext cx="5048400" cy="3429000"/>
            <a:chOff x="0" y="0"/>
            <a:chExt cx="5048400" cy="3429000"/>
          </a:xfrm>
        </p:grpSpPr>
        <p:sp>
          <p:nvSpPr>
            <p:cNvPr id="59" name="Google Shape;59;p14"/>
            <p:cNvSpPr txBox="1"/>
            <p:nvPr/>
          </p:nvSpPr>
          <p:spPr>
            <a:xfrm>
              <a:off x="0" y="0"/>
              <a:ext cx="5048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500" b="0">
                  <a:solidFill>
                    <a:srgbClr val="1A237E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סיווג ציוצים (Tweets) באמצעות מודלי שפה גדולים (LLM) </a:t>
              </a:r>
              <a:r>
                <a:rPr lang="iw" sz="2500" b="1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בגישת Zero-Shot למידע כוזב</a:t>
              </a:r>
              <a:endParaRPr sz="2500" b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142875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000">
                  <a:solidFill>
                    <a:srgbClr val="3949AB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תוצאות סופיות</a:t>
              </a:r>
              <a:endParaRPr sz="2000" b="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333750" y="2095500"/>
              <a:ext cx="1714500" cy="19200"/>
            </a:xfrm>
            <a:prstGeom prst="rect">
              <a:avLst/>
            </a:prstGeom>
            <a:solidFill>
              <a:srgbClr val="1A237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2286000"/>
              <a:ext cx="504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מגישים: יהונתן שדה ושובל ברמלי</a:t>
              </a:r>
              <a:endParaRPr sz="1400" b="0" dirty="0">
                <a:solidFill>
                  <a:srgbClr val="5C6BC0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מנחה: </a:t>
              </a:r>
              <a:r>
                <a:rPr lang="he-IL" sz="1400" b="0" dirty="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פרופסור</a:t>
              </a:r>
              <a:r>
                <a:rPr lang="iw" sz="1400" b="0" dirty="0">
                  <a:solidFill>
                    <a:srgbClr val="5C6BC0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 אבי יוסיפוף</a:t>
              </a:r>
              <a:endParaRPr sz="1400" b="0" dirty="0">
                <a:solidFill>
                  <a:srgbClr val="5C6BC0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 b="0" dirty="0">
                  <a:solidFill>
                    <a:srgbClr val="7986CB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המרכז האקדמי למשפט ולעסקים | סדנה לפרוייקטים- פרויקט גמר</a:t>
              </a:r>
              <a:endParaRPr sz="1200" b="0" dirty="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7239000" y="4572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dirty="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rPr>
              <a:t>אוגוסט</a:t>
            </a:r>
            <a:r>
              <a:rPr lang="iw" sz="1200" b="0" dirty="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rPr>
              <a:t> 2026 | תשפ"ו</a:t>
            </a:r>
            <a:endParaRPr sz="1200" b="0" dirty="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l="19144" r="19082"/>
          <a:stretch/>
        </p:blipFill>
        <p:spPr>
          <a:xfrm>
            <a:off x="0" y="0"/>
            <a:ext cx="31773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831850" y="666750"/>
            <a:ext cx="50484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 b="0" i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תוכן עניינים</a:t>
            </a:r>
            <a:endParaRPr sz="2800" b="0" i="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831850" y="1333500"/>
            <a:ext cx="50484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r" rtl="1">
              <a:spcBef>
                <a:spcPts val="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iw" sz="1800" b="0" i="0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רקע למחקר</a:t>
            </a:r>
            <a:endParaRPr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457200" lvl="0" indent="-342900" algn="r" rtl="1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iw" sz="1800" b="0" i="0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מטרת המחקר ורציונל</a:t>
            </a:r>
            <a:endParaRPr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457200" lvl="0" indent="-342900" algn="r" rtl="1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iw" sz="1800" b="0" i="0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השערת המחקר</a:t>
            </a:r>
            <a:endParaRPr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457200" lvl="0" indent="-342900" algn="r" rtl="1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iw" sz="1800" b="0" i="0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שיטה</a:t>
            </a:r>
            <a:endParaRPr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457200" lvl="0" indent="-342900" algn="r" rtl="1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iw" sz="1800" b="0" i="0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תוצאות</a:t>
            </a:r>
            <a:endParaRPr lang="he-IL"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457200" lvl="0" indent="-342900" algn="r" rtl="1">
              <a:spcBef>
                <a:spcPts val="1200"/>
              </a:spcBef>
              <a:spcAft>
                <a:spcPts val="0"/>
              </a:spcAft>
              <a:buClr>
                <a:srgbClr val="3949AB"/>
              </a:buClr>
              <a:buSzPts val="1800"/>
              <a:buFont typeface="Assistant"/>
              <a:buAutoNum type="arabicPeriod"/>
            </a:pPr>
            <a:r>
              <a:rPr lang="he-IL" dirty="0">
                <a:solidFill>
                  <a:srgbClr val="3949AB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סיכום</a:t>
            </a:r>
            <a:endParaRPr sz="1800" b="0" i="0" dirty="0">
              <a:solidFill>
                <a:srgbClr val="3949AB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239000" y="4572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 b="0">
                <a:solidFill>
                  <a:srgbClr val="7986CB"/>
                </a:solidFill>
                <a:latin typeface="Assistant"/>
                <a:ea typeface="Assistant"/>
                <a:cs typeface="Assistant"/>
                <a:sym typeface="Assistant"/>
              </a:rPr>
              <a:t>מאי 2026 | תשפ"ו</a:t>
            </a:r>
            <a:endParaRPr sz="1000" b="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l="22264" b="46176"/>
          <a:stretch/>
        </p:blipFill>
        <p:spPr>
          <a:xfrm>
            <a:off x="0" y="2656275"/>
            <a:ext cx="4366576" cy="24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Google Shape;78;p16"/>
          <p:cNvGrpSpPr/>
          <p:nvPr/>
        </p:nvGrpSpPr>
        <p:grpSpPr>
          <a:xfrm>
            <a:off x="895386" y="2590904"/>
            <a:ext cx="4900746" cy="152552"/>
            <a:chOff x="895350" y="2590800"/>
            <a:chExt cx="4895850" cy="152400"/>
          </a:xfrm>
        </p:grpSpPr>
        <p:pic>
          <p:nvPicPr>
            <p:cNvPr id="79" name="Google Shape;79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00" y="2657475"/>
              <a:ext cx="4762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6"/>
            <p:cNvSpPr/>
            <p:nvPr/>
          </p:nvSpPr>
          <p:spPr>
            <a:xfrm>
              <a:off x="895350" y="2609850"/>
              <a:ext cx="114300" cy="1143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276600" y="2609850"/>
              <a:ext cx="114300" cy="114300"/>
            </a:xfrm>
            <a:prstGeom prst="ellipse">
              <a:avLst/>
            </a:prstGeom>
            <a:solidFill>
              <a:srgbClr val="3949A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638800" y="2590800"/>
              <a:ext cx="152400" cy="152400"/>
            </a:xfrm>
            <a:prstGeom prst="ellipse">
              <a:avLst/>
            </a:prstGeom>
            <a:solidFill>
              <a:srgbClr val="5C6B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666750" y="476250"/>
            <a:ext cx="5048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 b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רקע </a:t>
            </a:r>
            <a:endParaRPr sz="2800" b="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76250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2017</a:t>
            </a:r>
            <a:endParaRPr sz="18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Transformer</a:t>
            </a:r>
            <a:endParaRPr sz="14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100" b="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הבסיס המודרני ל-NLP</a:t>
            </a:r>
            <a:endParaRPr sz="1100" b="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619375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b="1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2020</a:t>
            </a:r>
            <a:endParaRPr sz="1800" b="1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1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GPT-3 / LLMs</a:t>
            </a:r>
            <a:endParaRPr sz="1400" b="1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100" b="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מודל יחיד למשימות רבות</a:t>
            </a:r>
            <a:endParaRPr sz="1100" b="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762500" y="1428750"/>
            <a:ext cx="1428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b="1">
                <a:solidFill>
                  <a:srgbClr val="5C6BC0"/>
                </a:solidFill>
                <a:latin typeface="Assistant"/>
                <a:ea typeface="Assistant"/>
                <a:cs typeface="Assistant"/>
                <a:sym typeface="Assistant"/>
              </a:rPr>
              <a:t>היום</a:t>
            </a:r>
            <a:endParaRPr sz="1800" b="1">
              <a:solidFill>
                <a:srgbClr val="5C6BC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1">
                <a:solidFill>
                  <a:srgbClr val="5C6BC0"/>
                </a:solidFill>
                <a:latin typeface="Assistant"/>
                <a:ea typeface="Assistant"/>
                <a:cs typeface="Assistant"/>
                <a:sym typeface="Assistant"/>
              </a:rPr>
              <a:t>Zero-Shot</a:t>
            </a:r>
            <a:endParaRPr sz="1400" b="1">
              <a:solidFill>
                <a:srgbClr val="5C6BC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100" b="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  <a:t>שימוש מיידי ללא אימון</a:t>
            </a:r>
            <a:endParaRPr sz="1100" b="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585788" y="2986088"/>
            <a:ext cx="5210100" cy="1305000"/>
            <a:chOff x="585788" y="2986088"/>
            <a:chExt cx="5210100" cy="1305000"/>
          </a:xfrm>
        </p:grpSpPr>
        <p:pic>
          <p:nvPicPr>
            <p:cNvPr id="88" name="Google Shape;8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5788" y="2986088"/>
              <a:ext cx="5210100" cy="13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6"/>
            <p:cNvSpPr txBox="1"/>
            <p:nvPr/>
          </p:nvSpPr>
          <p:spPr>
            <a:xfrm>
              <a:off x="857250" y="3190875"/>
              <a:ext cx="466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200" b="1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Fine-Tuning: הגישה המסורתית</a:t>
              </a:r>
              <a:endParaRPr sz="12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מודלים כמו </a:t>
              </a:r>
              <a:r>
                <a:rPr lang="iw" sz="1200" b="0">
                  <a:solidFill>
                    <a:srgbClr val="595959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BERT, RoBERTa, MiniLM</a:t>
              </a:r>
              <a:r>
                <a:rPr lang="iw" sz="120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 דורשים אימון ייעודי לכל משימה ספציפית כדי להגיע לביצועים אופטימליים.</a:t>
              </a:r>
              <a:endParaRPr sz="12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90" name="Google Shape;90;p16"/>
          <p:cNvSpPr txBox="1"/>
          <p:nvPr/>
        </p:nvSpPr>
        <p:spPr>
          <a:xfrm>
            <a:off x="6286500" y="666750"/>
            <a:ext cx="2667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000" b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מושגי יסוד</a:t>
            </a:r>
            <a:endParaRPr sz="2000" b="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marL="0" lvl="0" indent="0" algn="r" rtl="1">
              <a:spcBef>
                <a:spcPts val="1500"/>
              </a:spcBef>
              <a:spcAft>
                <a:spcPts val="0"/>
              </a:spcAft>
              <a:buNone/>
            </a:pPr>
            <a:r>
              <a:rPr lang="iw" sz="14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Fine Tuning</a:t>
            </a:r>
            <a:endParaRPr sz="14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spcBef>
                <a:spcPts val="375"/>
              </a:spcBef>
              <a:spcAft>
                <a:spcPts val="0"/>
              </a:spcAft>
              <a:buNone/>
            </a:pPr>
            <a:r>
              <a:rPr lang="iw" sz="11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כוונון עדין של מודל קיים על דאטה ספציפי ומתויג לשיפור הדיוק במשימה מוגדרת.</a:t>
            </a:r>
            <a:endParaRPr sz="11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spcBef>
                <a:spcPts val="1875"/>
              </a:spcBef>
              <a:spcAft>
                <a:spcPts val="0"/>
              </a:spcAft>
              <a:buNone/>
            </a:pPr>
            <a:r>
              <a:rPr lang="iw" sz="14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Zero Shot</a:t>
            </a:r>
            <a:endParaRPr sz="14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spcBef>
                <a:spcPts val="375"/>
              </a:spcBef>
              <a:spcAft>
                <a:spcPts val="0"/>
              </a:spcAft>
              <a:buNone/>
            </a:pPr>
            <a:r>
              <a:rPr lang="iw" sz="1100">
                <a:solidFill>
                  <a:srgbClr val="3949AB"/>
                </a:solidFill>
                <a:latin typeface="Assistant"/>
                <a:ea typeface="Assistant"/>
                <a:cs typeface="Assistant"/>
                <a:sym typeface="Assistant"/>
              </a:rPr>
              <a:t>יכולת המודל לבצע משימה מבלי שנחשף לדוגמאות ממנה במהלך האימון, בהתבסס על הבנה כללית בלבד.</a:t>
            </a:r>
            <a:endParaRPr sz="1100">
              <a:solidFill>
                <a:srgbClr val="3949A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1875"/>
              </a:spcBef>
              <a:spcAft>
                <a:spcPts val="0"/>
              </a:spcAft>
              <a:buNone/>
            </a:pPr>
            <a:endParaRPr sz="1000">
              <a:solidFill>
                <a:srgbClr val="7986C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4019800" y="476250"/>
            <a:ext cx="17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3200" b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מה עדיף?</a:t>
            </a:r>
            <a:endParaRPr sz="3200" b="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96" name="Google Shape;96;p17"/>
          <p:cNvGrpSpPr/>
          <p:nvPr/>
        </p:nvGrpSpPr>
        <p:grpSpPr>
          <a:xfrm>
            <a:off x="2231575" y="1428750"/>
            <a:ext cx="5334150" cy="1905000"/>
            <a:chOff x="666750" y="1428750"/>
            <a:chExt cx="5334150" cy="1905000"/>
          </a:xfrm>
        </p:grpSpPr>
        <p:sp>
          <p:nvSpPr>
            <p:cNvPr id="97" name="Google Shape;97;p17"/>
            <p:cNvSpPr/>
            <p:nvPr/>
          </p:nvSpPr>
          <p:spPr>
            <a:xfrm>
              <a:off x="666750" y="1428750"/>
              <a:ext cx="2381400" cy="1905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9050" cap="flat" cmpd="sng">
              <a:solidFill>
                <a:srgbClr val="3949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666750" y="1428750"/>
              <a:ext cx="2381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 b="1" dirty="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Zero Shot</a:t>
              </a:r>
              <a:endParaRPr sz="2400" b="1" dirty="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ct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באמצעות מודל LLM</a:t>
              </a:r>
              <a:endParaRPr sz="1400" b="0" dirty="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3048000" y="2143125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000" b="0">
                  <a:solidFill>
                    <a:srgbClr val="7986C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או</a:t>
              </a:r>
              <a:endParaRPr sz="2000" b="0">
                <a:solidFill>
                  <a:srgbClr val="7986C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3619500" y="1428750"/>
              <a:ext cx="2381400" cy="1905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9050" cap="flat" cmpd="sng">
              <a:solidFill>
                <a:srgbClr val="1A23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3619500" y="1428750"/>
              <a:ext cx="2381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 b="1" dirty="0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Fine Tuning</a:t>
              </a:r>
              <a:endParaRPr sz="2400" b="1" dirty="0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ct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59595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 NLP מבוסס Transformers</a:t>
              </a:r>
              <a:endParaRPr sz="1400" b="0" dirty="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02" name="Google Shape;102;p17"/>
          <p:cNvSpPr txBox="1"/>
          <p:nvPr/>
        </p:nvSpPr>
        <p:spPr>
          <a:xfrm>
            <a:off x="5046225" y="3612700"/>
            <a:ext cx="2412600" cy="12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00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קריטריונים:</a:t>
            </a:r>
            <a:endParaRPr sz="2000" b="0">
              <a:solidFill>
                <a:srgbClr val="1A237E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marL="457200" lvl="0" indent="-336550" algn="r" rtl="1">
              <a:spcBef>
                <a:spcPts val="1500"/>
              </a:spcBef>
              <a:spcAft>
                <a:spcPts val="0"/>
              </a:spcAft>
              <a:buClr>
                <a:srgbClr val="1A237E"/>
              </a:buClr>
              <a:buSzPts val="1700"/>
              <a:buFont typeface="Assistant"/>
              <a:buAutoNum type="arabicPeriod"/>
            </a:pPr>
            <a:r>
              <a:rPr lang="iw" sz="17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דיוק</a:t>
            </a:r>
            <a:endParaRPr sz="17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36550" algn="r" rtl="1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700"/>
              <a:buFont typeface="Assistant"/>
              <a:buAutoNum type="arabicPeriod"/>
            </a:pPr>
            <a:r>
              <a:rPr lang="iw" sz="17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rPr>
              <a:t>מהירות ביצועים</a:t>
            </a:r>
            <a:endParaRPr sz="1700" b="1">
              <a:solidFill>
                <a:srgbClr val="1A237E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18"/>
          <p:cNvGrpSpPr/>
          <p:nvPr/>
        </p:nvGrpSpPr>
        <p:grpSpPr>
          <a:xfrm>
            <a:off x="3619350" y="449025"/>
            <a:ext cx="5334000" cy="609600"/>
            <a:chOff x="381000" y="381000"/>
            <a:chExt cx="5334000" cy="609600"/>
          </a:xfrm>
        </p:grpSpPr>
        <p:sp>
          <p:nvSpPr>
            <p:cNvPr id="109" name="Google Shape;109;p18"/>
            <p:cNvSpPr txBox="1"/>
            <p:nvPr/>
          </p:nvSpPr>
          <p:spPr>
            <a:xfrm>
              <a:off x="381000" y="381000"/>
              <a:ext cx="533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800" b="0">
                  <a:solidFill>
                    <a:srgbClr val="1E293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רקע: בעיית הציוצים הכוזבים</a:t>
              </a:r>
              <a:endParaRPr sz="28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5334000" y="9525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18"/>
          <p:cNvSpPr txBox="1"/>
          <p:nvPr/>
        </p:nvSpPr>
        <p:spPr>
          <a:xfrm>
            <a:off x="4340375" y="1190650"/>
            <a:ext cx="4476900" cy="20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302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Twitter/X - פלטפורמה שמאפשרת הפצת מידע מהירה בזמן אמת.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לצד מידע אמין, מופצים גם שמועות ומידע כוזב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ציוצים קצרים ותלויי־הקשר מקשים על סיווג אוטומטי.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302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ssistant"/>
              <a:buChar char="●"/>
            </a:pPr>
            <a:r>
              <a:rPr lang="iw"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במצבי חירום, מידע כוזב משפיע על קבלת החלטות.</a:t>
            </a:r>
            <a:endParaRPr sz="160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12" name="Google Shape;112;p18"/>
          <p:cNvGrpSpPr/>
          <p:nvPr/>
        </p:nvGrpSpPr>
        <p:grpSpPr>
          <a:xfrm>
            <a:off x="190500" y="571500"/>
            <a:ext cx="2667000" cy="4000500"/>
            <a:chOff x="6286500" y="571500"/>
            <a:chExt cx="2667000" cy="4000500"/>
          </a:xfrm>
        </p:grpSpPr>
        <p:sp>
          <p:nvSpPr>
            <p:cNvPr id="113" name="Google Shape;113;p18"/>
            <p:cNvSpPr/>
            <p:nvPr/>
          </p:nvSpPr>
          <p:spPr>
            <a:xfrm>
              <a:off x="6286500" y="571500"/>
              <a:ext cx="2667000" cy="40005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6477000" y="76200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שאלת המפתח:</a:t>
              </a:r>
              <a:endParaRPr sz="1800" b="1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647700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האם </a:t>
              </a:r>
              <a:r>
                <a:rPr lang="iw" sz="160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מספיק טוב למשימה רגישה כזו?</a:t>
              </a:r>
              <a:endParaRPr sz="16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או שעדיין נדרש </a:t>
              </a:r>
              <a:r>
                <a:rPr lang="iw" sz="160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6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ייעודי?</a:t>
              </a:r>
              <a:endParaRPr sz="16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נדרש מודל מדויק לזיהוי שמועות בזמן אמת.</a:t>
              </a:r>
              <a:endParaRPr sz="1200" b="0">
                <a:solidFill>
                  <a:srgbClr val="1D4ED8"/>
                </a:solidFill>
                <a:highlight>
                  <a:srgbClr val="EFF6FF"/>
                </a:highlight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950" y="3186375"/>
            <a:ext cx="2848401" cy="18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4">
            <a:alphaModFix/>
          </a:blip>
          <a:srcRect r="25334"/>
          <a:stretch/>
        </p:blipFill>
        <p:spPr>
          <a:xfrm>
            <a:off x="3082525" y="3186376"/>
            <a:ext cx="2797404" cy="18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19"/>
          <p:cNvGrpSpPr/>
          <p:nvPr/>
        </p:nvGrpSpPr>
        <p:grpSpPr>
          <a:xfrm>
            <a:off x="476250" y="381000"/>
            <a:ext cx="5334000" cy="609600"/>
            <a:chOff x="476250" y="381000"/>
            <a:chExt cx="5334000" cy="609600"/>
          </a:xfrm>
        </p:grpSpPr>
        <p:sp>
          <p:nvSpPr>
            <p:cNvPr id="124" name="Google Shape;124;p19"/>
            <p:cNvSpPr/>
            <p:nvPr/>
          </p:nvSpPr>
          <p:spPr>
            <a:xfrm>
              <a:off x="476250" y="381000"/>
              <a:ext cx="5334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9"/>
            <p:cNvSpPr txBox="1"/>
            <p:nvPr/>
          </p:nvSpPr>
          <p:spPr>
            <a:xfrm>
              <a:off x="476250" y="381000"/>
              <a:ext cx="533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800" b="0">
                  <a:solidFill>
                    <a:srgbClr val="1A237E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מטרת המחקר</a:t>
              </a:r>
              <a:endParaRPr sz="2800" b="0">
                <a:solidFill>
                  <a:srgbClr val="1A237E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5429250" y="9525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3949A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19"/>
          <p:cNvGrpSpPr/>
          <p:nvPr/>
        </p:nvGrpSpPr>
        <p:grpSpPr>
          <a:xfrm>
            <a:off x="476250" y="1238250"/>
            <a:ext cx="5334000" cy="1333500"/>
            <a:chOff x="476250" y="1238250"/>
            <a:chExt cx="5334000" cy="1333500"/>
          </a:xfrm>
        </p:grpSpPr>
        <p:sp>
          <p:nvSpPr>
            <p:cNvPr id="128" name="Google Shape;128;p19"/>
            <p:cNvSpPr/>
            <p:nvPr/>
          </p:nvSpPr>
          <p:spPr>
            <a:xfrm>
              <a:off x="476250" y="1238250"/>
              <a:ext cx="5334000" cy="13335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 cap="flat" cmpd="sng">
              <a:solidFill>
                <a:srgbClr val="C5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714375" y="1381125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80" b="1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מטרה מרכזית:</a:t>
              </a:r>
              <a:endParaRPr sz="148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לבחון האם מודלי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LLM</a:t>
              </a: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בגישת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br>
                <a:rPr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יכולים להתחרות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ברמת דיוק </a:t>
              </a:r>
              <a:b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" sz="148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של </a:t>
              </a: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Transformer</a:t>
              </a: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שעברו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b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" sz="1480" b="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במשימת </a:t>
              </a:r>
              <a:r>
                <a:rPr lang="iw" sz="148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סיווג מידע כוזב בציוצים.</a:t>
              </a:r>
              <a:endParaRPr sz="1480" b="1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30" name="Google Shape;130;p19"/>
          <p:cNvGrpSpPr/>
          <p:nvPr/>
        </p:nvGrpSpPr>
        <p:grpSpPr>
          <a:xfrm>
            <a:off x="476250" y="2762250"/>
            <a:ext cx="5334000" cy="2000250"/>
            <a:chOff x="476250" y="2762250"/>
            <a:chExt cx="5334000" cy="2000250"/>
          </a:xfrm>
        </p:grpSpPr>
        <p:sp>
          <p:nvSpPr>
            <p:cNvPr id="131" name="Google Shape;131;p19"/>
            <p:cNvSpPr txBox="1"/>
            <p:nvPr/>
          </p:nvSpPr>
          <p:spPr>
            <a:xfrm>
              <a:off x="476250" y="276225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>
                  <a:solidFill>
                    <a:srgbClr val="1A237E"/>
                  </a:solidFill>
                  <a:latin typeface="Assistant"/>
                  <a:ea typeface="Assistant"/>
                  <a:cs typeface="Assistant"/>
                  <a:sym typeface="Assistant"/>
                </a:rPr>
                <a:t>הרציונל המחקרי</a:t>
              </a:r>
              <a:endParaRPr sz="1800" b="1">
                <a:solidFill>
                  <a:srgbClr val="1A237E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2" name="Google Shape;132;p19"/>
            <p:cNvGrpSpPr/>
            <p:nvPr/>
          </p:nvGrpSpPr>
          <p:grpSpPr>
            <a:xfrm>
              <a:off x="476250" y="3238500"/>
              <a:ext cx="5334000" cy="1524000"/>
              <a:chOff x="0" y="0"/>
              <a:chExt cx="5334000" cy="1524000"/>
            </a:xfrm>
          </p:grpSpPr>
          <p:sp>
            <p:nvSpPr>
              <p:cNvPr id="133" name="Google Shape;133;p19"/>
              <p:cNvSpPr/>
              <p:nvPr/>
            </p:nvSpPr>
            <p:spPr>
              <a:xfrm>
                <a:off x="0" y="0"/>
                <a:ext cx="5334000" cy="15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9"/>
              <p:cNvSpPr txBox="1"/>
              <p:nvPr/>
            </p:nvSpPr>
            <p:spPr>
              <a:xfrm>
                <a:off x="0" y="0"/>
                <a:ext cx="5334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ציוצים הם קצרים, מהירים ותלויי־הקשר, ולכן קשה לזהות בהם מידע כוזב באופן אוטומטי.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  <a:p>
                <a:pPr marL="0" lvl="0" indent="0" algn="r" rtl="1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iw" sz="1395" b="1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Zero-Shot:</a:t>
                </a: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מאפשר סיווג מהיר ללא אימון, אך ייתכן שאינו מדויק מספיק.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  <a:p>
                <a:pPr marL="0" lvl="0" indent="0" algn="r" rtl="1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iw" sz="1395" b="1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Fine-Tuning:</a:t>
                </a:r>
                <a:r>
                  <a:rPr lang="iw" sz="1395">
                    <a:solidFill>
                      <a:srgbClr val="475569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דורש דאטה מתויג ומשאבים, אך עשוי לספק ביצועים גבוהים יותר.</a:t>
                </a:r>
                <a:endParaRPr sz="1395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325" y="1791625"/>
            <a:ext cx="2751350" cy="24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>
            <a:off x="3333750" y="381000"/>
            <a:ext cx="5524500" cy="762000"/>
            <a:chOff x="3333750" y="381000"/>
            <a:chExt cx="5524500" cy="762000"/>
          </a:xfrm>
        </p:grpSpPr>
        <p:sp>
          <p:nvSpPr>
            <p:cNvPr id="142" name="Google Shape;142;p20"/>
            <p:cNvSpPr/>
            <p:nvPr/>
          </p:nvSpPr>
          <p:spPr>
            <a:xfrm>
              <a:off x="3333750" y="381000"/>
              <a:ext cx="5524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3333750" y="381000"/>
              <a:ext cx="552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3200" b="0">
                  <a:solidFill>
                    <a:srgbClr val="1E293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השערות המחקר</a:t>
              </a:r>
              <a:endParaRPr sz="32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8286750" y="1047750"/>
              <a:ext cx="571500" cy="573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20"/>
          <p:cNvGrpSpPr/>
          <p:nvPr/>
        </p:nvGrpSpPr>
        <p:grpSpPr>
          <a:xfrm>
            <a:off x="3333750" y="1333500"/>
            <a:ext cx="5524500" cy="1143000"/>
            <a:chOff x="3333750" y="1333500"/>
            <a:chExt cx="5524500" cy="1143000"/>
          </a:xfrm>
        </p:grpSpPr>
        <p:sp>
          <p:nvSpPr>
            <p:cNvPr id="146" name="Google Shape;146;p20"/>
            <p:cNvSpPr/>
            <p:nvPr/>
          </p:nvSpPr>
          <p:spPr>
            <a:xfrm>
              <a:off x="3333750" y="1333500"/>
              <a:ext cx="55245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3524250" y="133350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 b="1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השערה ראשית:</a:t>
              </a:r>
              <a:endParaRPr sz="1600" b="1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</a:t>
              </a:r>
              <a:r>
                <a:rPr lang="iw" sz="1600" b="1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Transformer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שעברו </a:t>
              </a:r>
              <a:r>
                <a:rPr lang="iw" sz="1600" b="1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ייעודי ישיגו ביצועים גבוהים יותר ממודלי LLM בגישת </a:t>
              </a:r>
              <a:r>
                <a:rPr lang="iw" sz="1600" b="1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6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במשימת סיווג ציוצים.</a:t>
              </a:r>
              <a:endParaRPr sz="16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3333750" y="2667000"/>
            <a:ext cx="5524500" cy="2286000"/>
            <a:chOff x="3333750" y="2667000"/>
            <a:chExt cx="5524500" cy="2286000"/>
          </a:xfrm>
        </p:grpSpPr>
        <p:sp>
          <p:nvSpPr>
            <p:cNvPr id="149" name="Google Shape;149;p20"/>
            <p:cNvSpPr/>
            <p:nvPr/>
          </p:nvSpPr>
          <p:spPr>
            <a:xfrm>
              <a:off x="3333750" y="2667000"/>
              <a:ext cx="552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3333750" y="2667000"/>
              <a:ext cx="5524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השערות משנה:</a:t>
              </a:r>
              <a:endParaRPr sz="18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במאגרים תלויי-הקשר ספציפי, צפוי יתרון מובהק למודל שעבר </a:t>
              </a:r>
              <a:r>
                <a:rPr lang="iw" sz="1400" b="1" dirty="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.</a:t>
              </a:r>
              <a:endParaRPr sz="14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LLM מתקדמים ישפרו את ביצועי ה־</a:t>
              </a:r>
              <a:r>
                <a:rPr lang="iw" sz="1400" b="1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, אך לא יסגרו את הפער מול מודלים מאומנים.</a:t>
              </a:r>
              <a:endParaRPr sz="14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iw" sz="1400" b="0" dirty="0">
                  <a:solidFill>
                    <a:srgbClr val="3B82F6"/>
                  </a:solidFill>
                  <a:latin typeface="Assistant"/>
                  <a:ea typeface="Assistant"/>
                  <a:cs typeface="Assistant"/>
                  <a:sym typeface="Assistant"/>
                </a:rPr>
                <a:t>•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במדדי </a:t>
              </a:r>
              <a:r>
                <a:rPr lang="en-US" b="1" dirty="0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F1-Macro</a:t>
              </a:r>
              <a:r>
                <a:rPr lang="iw" sz="14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 ובחינת המחלקה הקריטית הכרחיים מעבר ל-Accuracy בלבד.</a:t>
              </a:r>
              <a:endParaRPr sz="14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190500" y="381000"/>
            <a:ext cx="2667000" cy="4381500"/>
            <a:chOff x="190500" y="381000"/>
            <a:chExt cx="2667000" cy="4381500"/>
          </a:xfrm>
        </p:grpSpPr>
        <p:sp>
          <p:nvSpPr>
            <p:cNvPr id="152" name="Google Shape;152;p20"/>
            <p:cNvSpPr/>
            <p:nvPr/>
          </p:nvSpPr>
          <p:spPr>
            <a:xfrm>
              <a:off x="190500" y="381000"/>
              <a:ext cx="2667000" cy="4381500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381000" y="66675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הנחות יסוד:</a:t>
              </a:r>
              <a:endParaRPr sz="1800" b="1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381000" y="1238250"/>
              <a:ext cx="2286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המחקר בוחן את היכולת לזהות </a:t>
              </a:r>
              <a:r>
                <a:rPr lang="iw" sz="1400" b="1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מידע כוזב ושמועות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בזמן אמת.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ההשוואה מתמקדת </a:t>
              </a:r>
              <a:r>
                <a:rPr lang="iw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ב</a:t>
              </a:r>
              <a:r>
                <a:rPr lang="iw" sz="1400" b="0">
                  <a:solidFill>
                    <a:srgbClr val="1D4ED8"/>
                  </a:solidFill>
                  <a:highlight>
                    <a:srgbClr val="EFF6FF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דיוק מרבי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iw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ולא </a:t>
              </a:r>
              <a:r>
                <a:rPr lang="iw">
                  <a:solidFill>
                    <a:srgbClr val="15803D"/>
                  </a:solidFill>
                  <a:highlight>
                    <a:srgbClr val="F0FDF4"/>
                  </a:highlight>
                  <a:latin typeface="Assistant SemiBold"/>
                  <a:ea typeface="Assistant SemiBold"/>
                  <a:cs typeface="Assistant SemiBold"/>
                  <a:sym typeface="Assistant SemiBold"/>
                </a:rPr>
                <a:t>במהירות מירבית</a:t>
              </a:r>
              <a:r>
                <a:rPr lang="iw" sz="1400">
                  <a:solidFill>
                    <a:srgbClr val="334155"/>
                  </a:solidFill>
                  <a:latin typeface="Assistant"/>
                  <a:ea typeface="Assistant"/>
                  <a:cs typeface="Assistant"/>
                  <a:sym typeface="Assistant"/>
                </a:rPr>
                <a:t>.</a:t>
              </a:r>
              <a:endParaRPr sz="1400">
                <a:solidFill>
                  <a:srgbClr val="33415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1500"/>
                </a:spcBef>
                <a:spcAft>
                  <a:spcPts val="0"/>
                </a:spcAft>
                <a:buNone/>
              </a:pPr>
              <a:endParaRPr sz="1200" i="1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8382000" y="5715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 b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המחקר הוא מחקר </a:t>
            </a:r>
            <a:r>
              <a:rPr lang="iw" sz="1600" b="1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rPr>
              <a:t>אמפירי־השוואתי</a:t>
            </a:r>
            <a:r>
              <a:rPr lang="iw" sz="1600" b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בתחום עיבוד השפה הטבעית, הבוחן שתי גישות לסיווג ציוצים:</a:t>
            </a:r>
            <a:endParaRPr sz="1600" b="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571500" y="1619250"/>
            <a:ext cx="8001000" cy="1333500"/>
            <a:chOff x="571500" y="1619250"/>
            <a:chExt cx="8001000" cy="1333500"/>
          </a:xfrm>
        </p:grpSpPr>
        <p:sp>
          <p:nvSpPr>
            <p:cNvPr id="164" name="Google Shape;164;p21"/>
            <p:cNvSpPr/>
            <p:nvPr/>
          </p:nvSpPr>
          <p:spPr>
            <a:xfrm>
              <a:off x="4762500" y="1619250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4953000" y="176212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 u="sng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Fine-Tuning:</a:t>
              </a:r>
              <a:endParaRPr sz="1800" b="1" u="sng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3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אימון ייעודי של מודל Transformer על נתונים מתויגים.</a:t>
              </a:r>
              <a:endParaRPr sz="13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571500" y="1619250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762000" y="176212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00" b="1" u="sng">
                  <a:solidFill>
                    <a:srgbClr val="1E40AF"/>
                  </a:solidFill>
                  <a:latin typeface="Assistant"/>
                  <a:ea typeface="Assistant"/>
                  <a:cs typeface="Assistant"/>
                  <a:sym typeface="Assistant"/>
                </a:rPr>
                <a:t>Zero-Shot:</a:t>
              </a:r>
              <a:endParaRPr sz="1800" b="1" u="sng">
                <a:solidFill>
                  <a:srgbClr val="1E40A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3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במודל שפה גדול ללא אימון על נתוני המשימה, אלא באמצעות פרומפט בלבד.</a:t>
              </a:r>
              <a:endParaRPr sz="130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68" name="Google Shape;168;p21"/>
          <p:cNvGrpSpPr/>
          <p:nvPr/>
        </p:nvGrpSpPr>
        <p:grpSpPr>
          <a:xfrm>
            <a:off x="571500" y="3143250"/>
            <a:ext cx="8001000" cy="1524000"/>
            <a:chOff x="571500" y="3143250"/>
            <a:chExt cx="8001000" cy="1524000"/>
          </a:xfrm>
        </p:grpSpPr>
        <p:sp>
          <p:nvSpPr>
            <p:cNvPr id="169" name="Google Shape;169;p21"/>
            <p:cNvSpPr/>
            <p:nvPr/>
          </p:nvSpPr>
          <p:spPr>
            <a:xfrm>
              <a:off x="571500" y="3143250"/>
              <a:ext cx="8001000" cy="1524000"/>
            </a:xfrm>
            <a:prstGeom prst="roundRect">
              <a:avLst>
                <a:gd name="adj" fmla="val 75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762000" y="328612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>
                  <a:solidFill>
                    <a:srgbClr val="1E3A8A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במחקר המלא הושוו תשעה מודלים על פני 12 מאגרי נתונים:</a:t>
              </a:r>
              <a:endParaRPr sz="1400" b="1">
                <a:solidFill>
                  <a:srgbClr val="1E3A8A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w" sz="1600" b="0">
                  <a:solidFill>
                    <a:srgbClr val="2563E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RoBERTa | BERTweet | MiniLM | ModernBERT  (Fine-Tuned)</a:t>
              </a:r>
            </a:p>
            <a:p>
              <a:pPr marL="0" lvl="0" indent="0" algn="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w" sz="1600" b="0">
                  <a:solidFill>
                    <a:srgbClr val="2563EB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Llama 3.1 | Gemini 2.5 Flash | GPT-OSS 120B | Llama 3.3 70B | Qwen3.6 27B  (Zero-Shot)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iw" sz="1300" b="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מטרת ההשוואה</a:t>
              </a:r>
              <a:r>
                <a:rPr lang="iw" sz="1300" b="0">
                  <a:solidFill>
                    <a:srgbClr val="334155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 היא לבדוק האם מודלי LLM כלליים - קטנים כגדולים - יכולים להתחרות במודלי Transformer שאומנו במיוחד על הדאטה, ואיך הפער משתנה בין דומיינים שונים (כולל תשעה תת-אירועי PHEME).</a:t>
              </a:r>
              <a:endParaRPr sz="1300" b="0">
                <a:solidFill>
                  <a:srgbClr val="334155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iw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המחקר מתבסס על </a:t>
            </a:r>
            <a:r>
              <a:rPr lang="iw" b="1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שלושה מאגרי ציוצים</a:t>
            </a:r>
            <a:r>
              <a:rPr lang="iw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, שכל אחד מהם מייצג </a:t>
            </a:r>
            <a:r>
              <a:rPr lang="iw" b="1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דומיין שונה</a:t>
            </a:r>
            <a:r>
              <a:rPr lang="iw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של מידע כוזב או שיח לא ודאי:</a:t>
            </a:r>
            <a:endParaRPr b="1" dirty="0"/>
          </a:p>
          <a:p>
            <a:pPr marL="0" lvl="0" indent="0"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endParaRPr dirty="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dirty="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iw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כל המאגרים מבוססים על ציוצים מ־Twitter/X. לשלושת המאגרים הראשיים נוסף תיוג שלישי (unrelated), ו-PHEME פוצל גם ל-9 תת-מאגרי אירועים ייעודיים (דו-מחלקתי)</a:t>
            </a:r>
            <a:r>
              <a:rPr lang="en-US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dirty="0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endParaRPr b="1" dirty="0"/>
          </a:p>
          <a:p>
            <a:pPr marL="0" lvl="0" indent="0"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dirty="0"/>
          </a:p>
          <a:p>
            <a:pPr marL="0" lvl="0" indent="0" algn="r" rtl="1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endParaRPr sz="1395" dirty="0"/>
          </a:p>
        </p:txBody>
      </p:sp>
      <p:graphicFrame>
        <p:nvGraphicFramePr>
          <p:cNvPr id="176" name="Google Shape;176;p22"/>
          <p:cNvGraphicFramePr/>
          <p:nvPr/>
        </p:nvGraphicFramePr>
        <p:xfrm>
          <a:off x="952500" y="2068275"/>
          <a:ext cx="7239000" cy="1584840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>
                          <a:solidFill>
                            <a:srgbClr val="1A237E"/>
                          </a:solidFill>
                        </a:rPr>
                        <a:t>משימת סיווג 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>
                          <a:solidFill>
                            <a:srgbClr val="1A237E"/>
                          </a:solidFill>
                        </a:rPr>
                        <a:t>דומיין 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>
                          <a:solidFill>
                            <a:srgbClr val="1A237E"/>
                          </a:solidFill>
                        </a:rPr>
                        <a:t>מאגר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מידע אמין מול מידע כוזב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אירוע טרור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Manchester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מידע אמין מול מידע כוזב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משבר בריאותי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Monkeypox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שמועה מול לא־שמועה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זיהוי שמועות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PHEME</a:t>
                      </a:r>
                      <a:r>
                        <a:rPr lang="iw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7" name="Google Shape;177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מאגרי הנתונים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8325304" y="559746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העיבוד המקדים כלל את הפעולות הבאות:</a:t>
            </a:r>
            <a:endParaRPr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r" rtl="1">
              <a:spcBef>
                <a:spcPts val="1200"/>
              </a:spcBef>
              <a:spcAft>
                <a:spcPts val="1200"/>
              </a:spcAft>
              <a:buNone/>
            </a:pPr>
            <a:r>
              <a:rPr lang="iw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w"/>
              <a:t> </a:t>
            </a:r>
            <a:endParaRPr/>
          </a:p>
        </p:txBody>
      </p:sp>
      <p:graphicFrame>
        <p:nvGraphicFramePr>
          <p:cNvPr id="186" name="Google Shape;186;p23"/>
          <p:cNvGraphicFramePr/>
          <p:nvPr/>
        </p:nvGraphicFramePr>
        <p:xfrm>
          <a:off x="952500" y="1605625"/>
          <a:ext cx="7239000" cy="3210035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7125"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הסרת כפילויות או ציוצים דומים מדי.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הסרת קישורים חיצוניים (URL), תיוגי משתמשים (@), תגיות hashtags, והסרת סמלוני emojis.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375"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נרמול עמודת הטקסט לעמודה אחידה בשם cleaned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מסנן "רעשים": ציוצים בעלי 4 מילים ומטה.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125"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יצירת קובצי Train, Validation ו־Test לכל אחד מהמאגרים (70,15,15).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Assistant Medium"/>
                        <a:buChar char="●"/>
                      </a:pPr>
                      <a:r>
                        <a:rPr lang="iw" sz="1800">
                          <a:solidFill>
                            <a:schemeClr val="dk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המרת טקסט לאותיות קטנות.</a:t>
                      </a: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7" name="Google Shape;187;p2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Preprocessing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8325304" y="559746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Fine-Tuning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197" name="Google Shape;197;p24"/>
          <p:cNvGrpSpPr/>
          <p:nvPr/>
        </p:nvGrpSpPr>
        <p:grpSpPr>
          <a:xfrm>
            <a:off x="4667250" y="1143000"/>
            <a:ext cx="4000500" cy="1333500"/>
            <a:chOff x="4667250" y="1143000"/>
            <a:chExt cx="4000500" cy="1333500"/>
          </a:xfrm>
        </p:grpSpPr>
        <p:sp>
          <p:nvSpPr>
            <p:cNvPr id="198" name="Google Shape;198;p24"/>
            <p:cNvSpPr/>
            <p:nvPr/>
          </p:nvSpPr>
          <p:spPr>
            <a:xfrm>
              <a:off x="4667250" y="1143000"/>
              <a:ext cx="4000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4"/>
            <p:cNvSpPr txBox="1"/>
            <p:nvPr/>
          </p:nvSpPr>
          <p:spPr>
            <a:xfrm>
              <a:off x="4857750" y="1666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 הבסיס</a:t>
              </a:r>
              <a:endParaRPr sz="1400" b="1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בארבעה קידודי טרנספורמר לצורך התאמה ייעודית למשימות הסיווג:</a:t>
              </a:r>
            </a:p>
            <a:p>
              <a:pPr marL="0" lvl="0" indent="0" algn="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RoBERTa | BERTweet | MiniLM | ModernBERT</a:t>
              </a:r>
            </a:p>
          </p:txBody>
        </p:sp>
      </p:grpSp>
      <p:grpSp>
        <p:nvGrpSpPr>
          <p:cNvPr id="201" name="Google Shape;201;p24"/>
          <p:cNvGrpSpPr/>
          <p:nvPr/>
        </p:nvGrpSpPr>
        <p:grpSpPr>
          <a:xfrm>
            <a:off x="476250" y="1143000"/>
            <a:ext cx="4000500" cy="1333500"/>
            <a:chOff x="476250" y="1143000"/>
            <a:chExt cx="4000500" cy="1333500"/>
          </a:xfrm>
        </p:grpSpPr>
        <p:sp>
          <p:nvSpPr>
            <p:cNvPr id="202" name="Google Shape;202;p24"/>
            <p:cNvSpPr/>
            <p:nvPr/>
          </p:nvSpPr>
          <p:spPr>
            <a:xfrm>
              <a:off x="476250" y="1143000"/>
              <a:ext cx="4000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 txBox="1"/>
            <p:nvPr/>
          </p:nvSpPr>
          <p:spPr>
            <a:xfrm>
              <a:off x="666750" y="1666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חלוקת הנתונים</a:t>
              </a:r>
              <a:endParaRPr sz="14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אימון (70%), ולידציה (15%) ובדיקה (15%) לשמירה על מהימנות ההערכה.</a:t>
              </a:r>
              <a:endParaRPr sz="12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5" name="Google Shape;205;p24"/>
          <p:cNvGrpSpPr/>
          <p:nvPr/>
        </p:nvGrpSpPr>
        <p:grpSpPr>
          <a:xfrm>
            <a:off x="4667250" y="2667000"/>
            <a:ext cx="4000500" cy="1333500"/>
            <a:chOff x="4667250" y="2667000"/>
            <a:chExt cx="4000500" cy="1333500"/>
          </a:xfrm>
        </p:grpSpPr>
        <p:sp>
          <p:nvSpPr>
            <p:cNvPr id="206" name="Google Shape;206;p24"/>
            <p:cNvSpPr/>
            <p:nvPr/>
          </p:nvSpPr>
          <p:spPr>
            <a:xfrm>
              <a:off x="4667250" y="2667000"/>
              <a:ext cx="4000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4857750" y="3190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Fine-Tuning ייעודי</a:t>
              </a:r>
              <a:endParaRPr sz="14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dirty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ביצוע תהליך כוונון עדין בנפרד עבור כל אחד מ-12 מאגרי הנתונים (3 ראשיים + 9 תת-אירועי PHEME).</a:t>
              </a:r>
              <a:endParaRPr sz="12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9" name="Google Shape;209;p24"/>
          <p:cNvGrpSpPr/>
          <p:nvPr/>
        </p:nvGrpSpPr>
        <p:grpSpPr>
          <a:xfrm>
            <a:off x="476250" y="2667000"/>
            <a:ext cx="4000500" cy="1333500"/>
            <a:chOff x="476250" y="2667000"/>
            <a:chExt cx="4000500" cy="1333500"/>
          </a:xfrm>
        </p:grpSpPr>
        <p:sp>
          <p:nvSpPr>
            <p:cNvPr id="210" name="Google Shape;210;p24"/>
            <p:cNvSpPr/>
            <p:nvPr/>
          </p:nvSpPr>
          <p:spPr>
            <a:xfrm>
              <a:off x="476250" y="2667000"/>
              <a:ext cx="4000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/>
            <p:cNvSpPr txBox="1"/>
            <p:nvPr/>
          </p:nvSpPr>
          <p:spPr>
            <a:xfrm>
              <a:off x="666750" y="3190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בקרת אימות (Validation)</a:t>
              </a:r>
              <a:endParaRPr lang="he-IL" sz="14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algn="r" rtl="1"/>
              <a:r>
                <a:rPr lang="he-IL" sz="1200" dirty="0">
                  <a:solidFill>
                    <a:schemeClr val="accent3">
                      <a:lumMod val="75000"/>
                    </a:schemeClr>
                  </a:solidFill>
                  <a:latin typeface="Assistant" pitchFamily="2" charset="-79"/>
                  <a:cs typeface="Assistant" pitchFamily="2" charset="-79"/>
                </a:rPr>
                <a:t>שימוש בשיטת </a:t>
              </a:r>
              <a:r>
                <a:rPr lang="en-US" sz="1200" dirty="0" err="1">
                  <a:solidFill>
                    <a:schemeClr val="accent3">
                      <a:lumMod val="75000"/>
                    </a:schemeClr>
                  </a:solidFill>
                  <a:latin typeface="Assistant" pitchFamily="2" charset="-79"/>
                  <a:cs typeface="Assistant" pitchFamily="2" charset="-79"/>
                </a:rPr>
                <a:t>Startified</a:t>
              </a:r>
              <a:r>
                <a:rPr lang="en-US" sz="1200" dirty="0">
                  <a:solidFill>
                    <a:schemeClr val="accent3">
                      <a:lumMod val="75000"/>
                    </a:schemeClr>
                  </a:solidFill>
                  <a:latin typeface="Assistant" pitchFamily="2" charset="-79"/>
                  <a:cs typeface="Assistant" pitchFamily="2" charset="-79"/>
                </a:rPr>
                <a:t> 5-fold CV</a:t>
              </a:r>
            </a:p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l">
                <a:spcBef>
                  <a:spcPts val="30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13" name="Google Shape;213;p24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14" name="Google Shape;214;p24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name="adj" fmla="val 50000"/>
              </a:avLst>
            </a:prstGeom>
            <a:solidFill>
              <a:srgbClr val="EEF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300" b="0" dirty="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תוצר סופי: 48 מודלים ייעודיים (4 קידודים × 12 מאגרי נתונים), מותאמים אישית לכל Data Set במחקר.</a:t>
              </a:r>
              <a:endParaRPr sz="1300" b="0" dirty="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Fine-Tuning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223" name="Google Shape;223;p25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24" name="Google Shape;224;p25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name="adj" fmla="val 50000"/>
              </a:avLst>
            </a:prstGeom>
            <a:solidFill>
              <a:srgbClr val="EEF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5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300" b="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ההיפרפרמטרים זהים לכל ארבעת הקידודים, לצורך השוואה הוגנת.</a:t>
              </a:r>
              <a:endParaRPr sz="1300" b="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  <p:graphicFrame>
        <p:nvGraphicFramePr>
          <p:cNvPr id="226" name="Google Shape;226;p25"/>
          <p:cNvGraphicFramePr/>
          <p:nvPr>
            <p:extLst>
              <p:ext uri="{D42A27DB-BD31-4B8C-83A1-F6EECF244321}">
                <p14:modId xmlns:p14="http://schemas.microsoft.com/office/powerpoint/2010/main" val="2414840798"/>
              </p:ext>
            </p:extLst>
          </p:nvPr>
        </p:nvGraphicFramePr>
        <p:xfrm>
          <a:off x="476250" y="1596450"/>
          <a:ext cx="8312649" cy="1950600"/>
        </p:xfrm>
        <a:graphic>
          <a:graphicData uri="http://schemas.openxmlformats.org/drawingml/2006/table">
            <a:tbl>
              <a:tblPr>
                <a:noFill/>
                <a:tableStyleId>{556E7B18-D933-4BB6-8C4F-23904260E9A3}</a:tableStyleId>
              </a:tblPr>
              <a:tblGrid>
                <a:gridCol w="3785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608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 dirty="0">
                          <a:solidFill>
                            <a:srgbClr val="1A237E"/>
                          </a:solidFill>
                        </a:rPr>
                        <a:t>רציונל</a:t>
                      </a:r>
                      <a:endParaRPr b="1" dirty="0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 dirty="0">
                          <a:solidFill>
                            <a:srgbClr val="1A237E"/>
                          </a:solidFill>
                        </a:rPr>
                        <a:t>ערך</a:t>
                      </a:r>
                      <a:endParaRPr b="1" dirty="0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b="1">
                          <a:solidFill>
                            <a:srgbClr val="1A237E"/>
                          </a:solidFill>
                        </a:rPr>
                        <a:t>משתנה</a:t>
                      </a:r>
                      <a:endParaRPr b="1">
                        <a:solidFill>
                          <a:srgbClr val="1A237E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339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סטנדרטי לכוונון עדין של טרנספורמרים בגודל בינוני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2e-05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Learning Rate</a:t>
                      </a: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608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dirty="0">
                          <a:solidFill>
                            <a:schemeClr val="dk2"/>
                          </a:solidFill>
                        </a:rPr>
                        <a:t>איזון בין יציבות האימון לזמן ריצה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dk2"/>
                          </a:solidFill>
                        </a:rPr>
                        <a:t>16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 dirty="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Batch Size</a:t>
                      </a:r>
                      <a:endParaRPr sz="1200" dirty="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608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2"/>
                          </a:solidFill>
                        </a:rPr>
                        <a:t>Early stopping (Patience=2) </a:t>
                      </a:r>
                      <a:r>
                        <a:rPr lang="en-US" dirty="0" err="1">
                          <a:solidFill>
                            <a:schemeClr val="dk2"/>
                          </a:solidFill>
                        </a:rPr>
                        <a:t>Startified</a:t>
                      </a:r>
                      <a:r>
                        <a:rPr lang="en-US" dirty="0">
                          <a:solidFill>
                            <a:schemeClr val="dk2"/>
                          </a:solidFill>
                        </a:rPr>
                        <a:t> 5-fold CV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dirty="0">
                          <a:solidFill>
                            <a:schemeClr val="dk2"/>
                          </a:solidFill>
                        </a:rPr>
                        <a:t>4 (מקסימום)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 dirty="0">
                          <a:solidFill>
                            <a:schemeClr val="dk2"/>
                          </a:solidFill>
                          <a:latin typeface="David"/>
                          <a:ea typeface="David"/>
                          <a:cs typeface="David"/>
                          <a:sym typeface="David"/>
                        </a:rPr>
                        <a:t>Epochs (max)</a:t>
                      </a:r>
                      <a:endParaRPr sz="1200" dirty="0">
                        <a:solidFill>
                          <a:schemeClr val="dk2"/>
                        </a:solidFill>
                        <a:latin typeface="David"/>
                        <a:ea typeface="David"/>
                        <a:cs typeface="David"/>
                        <a:sym typeface="Davi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Zero-Shot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234" name="Google Shape;234;p26"/>
          <p:cNvGrpSpPr/>
          <p:nvPr/>
        </p:nvGrpSpPr>
        <p:grpSpPr>
          <a:xfrm>
            <a:off x="4667250" y="1143000"/>
            <a:ext cx="4000500" cy="1428900"/>
            <a:chOff x="4667250" y="1143000"/>
            <a:chExt cx="4000500" cy="1428900"/>
          </a:xfrm>
        </p:grpSpPr>
        <p:sp>
          <p:nvSpPr>
            <p:cNvPr id="235" name="Google Shape;235;p26"/>
            <p:cNvSpPr/>
            <p:nvPr/>
          </p:nvSpPr>
          <p:spPr>
            <a:xfrm>
              <a:off x="4667250" y="1143000"/>
              <a:ext cx="40005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 txBox="1"/>
            <p:nvPr/>
          </p:nvSpPr>
          <p:spPr>
            <a:xfrm>
              <a:off x="5066375" y="1295325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המודל הנבחר</a:t>
              </a:r>
              <a:endParaRPr sz="1400" b="1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בחמישה מודלי LLM בגישת Zero-Shot ללא אימון מוקדם - מקומי אחד וארבעה בענן:</a:t>
              </a:r>
            </a:p>
            <a:p>
              <a:pPr marL="0" lvl="0" indent="0" algn="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Llama 3.1 8B (Ollama) | Gemini 2.5 Flash | GPT-OSS 120B | Llama 3.3 70B | Qwen3.6 27B</a:t>
              </a:r>
            </a:p>
          </p:txBody>
        </p:sp>
      </p:grpSp>
      <p:grpSp>
        <p:nvGrpSpPr>
          <p:cNvPr id="238" name="Google Shape;238;p26"/>
          <p:cNvGrpSpPr/>
          <p:nvPr/>
        </p:nvGrpSpPr>
        <p:grpSpPr>
          <a:xfrm>
            <a:off x="476250" y="1143000"/>
            <a:ext cx="4000500" cy="1428900"/>
            <a:chOff x="476250" y="1143000"/>
            <a:chExt cx="4000500" cy="1428900"/>
          </a:xfrm>
        </p:grpSpPr>
        <p:sp>
          <p:nvSpPr>
            <p:cNvPr id="239" name="Google Shape;239;p26"/>
            <p:cNvSpPr/>
            <p:nvPr/>
          </p:nvSpPr>
          <p:spPr>
            <a:xfrm>
              <a:off x="476250" y="1143000"/>
              <a:ext cx="40005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 txBox="1"/>
            <p:nvPr/>
          </p:nvSpPr>
          <p:spPr>
            <a:xfrm>
              <a:off x="916200" y="128580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עיבוד פלט</a:t>
              </a:r>
              <a:endParaRPr sz="1400" b="1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חילוץ התווית הסופית מתשובת המודל והמרתה לפורמט אחיד לצורך חישוב מדדי ההערכה.</a:t>
              </a:r>
              <a:endParaRPr sz="1200" b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42" name="Google Shape;242;p26"/>
          <p:cNvGrpSpPr/>
          <p:nvPr/>
        </p:nvGrpSpPr>
        <p:grpSpPr>
          <a:xfrm>
            <a:off x="476250" y="2857500"/>
            <a:ext cx="8191500" cy="1428900"/>
            <a:chOff x="476250" y="2857500"/>
            <a:chExt cx="8191500" cy="1428900"/>
          </a:xfrm>
        </p:grpSpPr>
        <p:sp>
          <p:nvSpPr>
            <p:cNvPr id="243" name="Google Shape;243;p26"/>
            <p:cNvSpPr/>
            <p:nvPr/>
          </p:nvSpPr>
          <p:spPr>
            <a:xfrm>
              <a:off x="476250" y="2857500"/>
              <a:ext cx="81915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 txBox="1"/>
            <p:nvPr/>
          </p:nvSpPr>
          <p:spPr>
            <a:xfrm>
              <a:off x="666750" y="3048000"/>
              <a:ext cx="74295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1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הנחיה טקסטואלית</a:t>
              </a:r>
              <a:endParaRPr b="1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iw" sz="1200" b="0">
                  <a:solidFill>
                    <a:srgbClr val="475569"/>
                  </a:solidFill>
                  <a:latin typeface="Assistant"/>
                  <a:ea typeface="Assistant"/>
                  <a:cs typeface="Assistant"/>
                  <a:sym typeface="Assistant"/>
                </a:rPr>
                <a:t>עבור כל ציוץ, המודל קיבל הנחיה זהה שכללה את תיאור המשימה, ההקשר של המאגר (Manchester, Monkeypox או PHEME), הגדרת הקטגוריות והנחיה לביצוע הסקה.</a:t>
              </a:r>
              <a:endParaRPr sz="1200" b="0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476250" y="4476750"/>
            <a:ext cx="8191500" cy="476400"/>
            <a:chOff x="476250" y="4476750"/>
            <a:chExt cx="8191500" cy="476400"/>
          </a:xfrm>
        </p:grpSpPr>
        <p:sp>
          <p:nvSpPr>
            <p:cNvPr id="247" name="Google Shape;247;p26"/>
            <p:cNvSpPr/>
            <p:nvPr/>
          </p:nvSpPr>
          <p:spPr>
            <a:xfrm>
              <a:off x="476250" y="4476750"/>
              <a:ext cx="8191500" cy="476400"/>
            </a:xfrm>
            <a:prstGeom prst="roundRect">
              <a:avLst>
                <a:gd name="adj" fmla="val 50000"/>
              </a:avLst>
            </a:prstGeom>
            <a:solidFill>
              <a:srgbClr val="EEF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 txBox="1"/>
            <p:nvPr/>
          </p:nvSpPr>
          <p:spPr>
            <a:xfrm>
              <a:off x="666750" y="4476750"/>
              <a:ext cx="7810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הגישה מאפשרת סיווג מהיר וגמיש ללא צורך באיסוף מאגר מתויג גדול או </a:t>
              </a:r>
              <a:r>
                <a:rPr lang="iw" sz="120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אימון</a:t>
              </a:r>
              <a:r>
                <a:rPr lang="iw" sz="1200" b="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 ממושך.</a:t>
              </a:r>
              <a:endParaRPr sz="1200" b="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שיטה | השוואה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476250" y="9525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 b="1">
                <a:solidFill>
                  <a:srgbClr val="475569"/>
                </a:solidFill>
                <a:latin typeface="Assistant"/>
                <a:ea typeface="Assistant"/>
                <a:cs typeface="Assistant"/>
                <a:sym typeface="Assistant"/>
              </a:rPr>
              <a:t>מדדי ההשוואה המרכזיים בפרויקט:</a:t>
            </a:r>
            <a:endParaRPr sz="1600" b="1">
              <a:solidFill>
                <a:srgbClr val="47556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57" name="Google Shape;257;p27"/>
          <p:cNvGrpSpPr/>
          <p:nvPr/>
        </p:nvGrpSpPr>
        <p:grpSpPr>
          <a:xfrm>
            <a:off x="6096000" y="1428750"/>
            <a:ext cx="2571900" cy="1238400"/>
            <a:chOff x="6096000" y="1428750"/>
            <a:chExt cx="2571900" cy="1238400"/>
          </a:xfrm>
        </p:grpSpPr>
        <p:sp>
          <p:nvSpPr>
            <p:cNvPr id="258" name="Google Shape;258;p27"/>
            <p:cNvSpPr/>
            <p:nvPr/>
          </p:nvSpPr>
          <p:spPr>
            <a:xfrm>
              <a:off x="6096000" y="1428750"/>
              <a:ext cx="25719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7"/>
            <p:cNvSpPr txBox="1"/>
            <p:nvPr/>
          </p:nvSpPr>
          <p:spPr>
            <a:xfrm>
              <a:off x="6238875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Accuracy</a:t>
              </a:r>
              <a:endParaRPr sz="1400" b="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הסיווגים הנכונים מתוך כלל הדוגמאות.</a:t>
              </a:r>
              <a:endParaRPr sz="1200" b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0" name="Google Shape;260;p27"/>
          <p:cNvGrpSpPr/>
          <p:nvPr/>
        </p:nvGrpSpPr>
        <p:grpSpPr>
          <a:xfrm>
            <a:off x="3286125" y="1428750"/>
            <a:ext cx="2571900" cy="1238400"/>
            <a:chOff x="3286125" y="1428750"/>
            <a:chExt cx="2571900" cy="1238400"/>
          </a:xfrm>
        </p:grpSpPr>
        <p:sp>
          <p:nvSpPr>
            <p:cNvPr id="261" name="Google Shape;261;p27"/>
            <p:cNvSpPr/>
            <p:nvPr/>
          </p:nvSpPr>
          <p:spPr>
            <a:xfrm>
              <a:off x="3286125" y="1428750"/>
              <a:ext cx="25719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3429000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Precision</a:t>
              </a:r>
              <a:endParaRPr sz="1400" b="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הדוגמאות שסווגו כחיוביות ואכן היו חיוביות.</a:t>
              </a:r>
              <a:endParaRPr sz="1200" b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3" name="Google Shape;263;p27"/>
          <p:cNvGrpSpPr/>
          <p:nvPr/>
        </p:nvGrpSpPr>
        <p:grpSpPr>
          <a:xfrm>
            <a:off x="476250" y="1428750"/>
            <a:ext cx="2571900" cy="1238400"/>
            <a:chOff x="476250" y="1428750"/>
            <a:chExt cx="2571900" cy="1238400"/>
          </a:xfrm>
        </p:grpSpPr>
        <p:sp>
          <p:nvSpPr>
            <p:cNvPr id="264" name="Google Shape;264;p27"/>
            <p:cNvSpPr/>
            <p:nvPr/>
          </p:nvSpPr>
          <p:spPr>
            <a:xfrm>
              <a:off x="476250" y="1428750"/>
              <a:ext cx="25719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 txBox="1"/>
            <p:nvPr/>
          </p:nvSpPr>
          <p:spPr>
            <a:xfrm>
              <a:off x="619125" y="157162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Recall</a:t>
              </a:r>
              <a:endParaRPr sz="1400" b="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שיעור הדוגמאות החיוביות שהמודל הצליח לזהות.</a:t>
              </a:r>
              <a:endParaRPr sz="1200" b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6" name="Google Shape;266;p27"/>
          <p:cNvGrpSpPr/>
          <p:nvPr/>
        </p:nvGrpSpPr>
        <p:grpSpPr>
          <a:xfrm>
            <a:off x="4667250" y="2857500"/>
            <a:ext cx="4000500" cy="952500"/>
            <a:chOff x="4667250" y="2857500"/>
            <a:chExt cx="4000500" cy="952500"/>
          </a:xfrm>
        </p:grpSpPr>
        <p:sp>
          <p:nvSpPr>
            <p:cNvPr id="267" name="Google Shape;267;p27"/>
            <p:cNvSpPr/>
            <p:nvPr/>
          </p:nvSpPr>
          <p:spPr>
            <a:xfrm>
              <a:off x="4667250" y="2857500"/>
              <a:ext cx="40005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 txBox="1"/>
            <p:nvPr/>
          </p:nvSpPr>
          <p:spPr>
            <a:xfrm>
              <a:off x="4857750" y="30003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F1- Macro</a:t>
              </a:r>
              <a:endParaRPr sz="1400" b="0" dirty="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ממוצע </a:t>
              </a:r>
              <a:r>
                <a:rPr lang="en-US" sz="1200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F1</a:t>
              </a:r>
              <a:r>
                <a:rPr lang="iw" sz="1200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 לא משוקלל בין המחלקות.</a:t>
              </a:r>
              <a:endParaRPr sz="1200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69" name="Google Shape;269;p27"/>
          <p:cNvGrpSpPr/>
          <p:nvPr/>
        </p:nvGrpSpPr>
        <p:grpSpPr>
          <a:xfrm>
            <a:off x="476250" y="2857500"/>
            <a:ext cx="4000500" cy="952500"/>
            <a:chOff x="476250" y="2857500"/>
            <a:chExt cx="4000500" cy="952500"/>
          </a:xfrm>
        </p:grpSpPr>
        <p:sp>
          <p:nvSpPr>
            <p:cNvPr id="270" name="Google Shape;270;p27"/>
            <p:cNvSpPr/>
            <p:nvPr/>
          </p:nvSpPr>
          <p:spPr>
            <a:xfrm>
              <a:off x="476250" y="2857500"/>
              <a:ext cx="40005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7"/>
            <p:cNvSpPr txBox="1"/>
            <p:nvPr/>
          </p:nvSpPr>
          <p:spPr>
            <a:xfrm>
              <a:off x="666750" y="30003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400" b="0">
                  <a:solidFill>
                    <a:srgbClr val="3B82F6"/>
                  </a:solidFill>
                  <a:latin typeface="Assistant ExtraBold"/>
                  <a:ea typeface="Assistant ExtraBold"/>
                  <a:cs typeface="Assistant ExtraBold"/>
                  <a:sym typeface="Assistant ExtraBold"/>
                </a:rPr>
                <a:t>ROC-AUC</a:t>
              </a:r>
              <a:endParaRPr sz="1400" b="0">
                <a:solidFill>
                  <a:srgbClr val="3B82F6"/>
                </a:solidFill>
                <a:latin typeface="Assistant ExtraBold"/>
                <a:ea typeface="Assistant ExtraBold"/>
                <a:cs typeface="Assistant ExtraBold"/>
                <a:sym typeface="Assistant ExtraBold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יכולת הבחנה בין מחלקות, רלוונטי כשיש ציוני הסתברות.</a:t>
              </a:r>
              <a:endParaRPr sz="1200" b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72" name="Google Shape;272;p27"/>
          <p:cNvGrpSpPr/>
          <p:nvPr/>
        </p:nvGrpSpPr>
        <p:grpSpPr>
          <a:xfrm>
            <a:off x="476250" y="4191000"/>
            <a:ext cx="8191500" cy="571500"/>
            <a:chOff x="476250" y="4191000"/>
            <a:chExt cx="8191500" cy="571500"/>
          </a:xfrm>
        </p:grpSpPr>
        <p:sp>
          <p:nvSpPr>
            <p:cNvPr id="273" name="Google Shape;273;p27"/>
            <p:cNvSpPr/>
            <p:nvPr/>
          </p:nvSpPr>
          <p:spPr>
            <a:xfrm>
              <a:off x="476250" y="4191000"/>
              <a:ext cx="8191500" cy="571500"/>
            </a:xfrm>
            <a:prstGeom prst="roundRect">
              <a:avLst>
                <a:gd name="adj" fmla="val 50000"/>
              </a:avLst>
            </a:prstGeom>
            <a:solidFill>
              <a:srgbClr val="EEF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7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300" b="0">
                  <a:solidFill>
                    <a:srgbClr val="3730A3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מדדים אלו משמשים להערכה והשוואה מהימנה בין המודלים השונים במחקר.</a:t>
              </a:r>
              <a:endParaRPr sz="1300" b="0">
                <a:solidFill>
                  <a:srgbClr val="3730A3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0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המודל המנצח בכל מאגר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381000" y="952500"/>
            <a:ext cx="8382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4" name="Google Shape;30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707" y="952500"/>
            <a:ext cx="6974586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381000" y="4524375"/>
            <a:ext cx="8382000" cy="428700"/>
            <a:chOff x="381000" y="4524375"/>
            <a:chExt cx="8382000" cy="428700"/>
          </a:xfrm>
        </p:grpSpPr>
        <p:sp>
          <p:nvSpPr>
            <p:cNvPr id="306" name="Google Shape;306;p30"/>
            <p:cNvSpPr/>
            <p:nvPr/>
          </p:nvSpPr>
          <p:spPr>
            <a:xfrm>
              <a:off x="381000" y="4524375"/>
              <a:ext cx="8382000" cy="428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571500" y="452437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200" b="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מודל BERTweet, שאומן מראש על ציוצים, מנצח או שווה-ראשון בחמישה מתוך שבעת המאגרים - עדות ליתרון של אימון-מקדים ייעודי לדומיין על פני מודל כללי גדול יותר.</a:t>
              </a:r>
              <a:endParaRPr sz="1200" b="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>
                <a:latin typeface="Assistant"/>
                <a:ea typeface="Assistant"/>
                <a:cs typeface="Assistant"/>
                <a:sym typeface="Assistant"/>
              </a:rPr>
              <a:t>מפת חום </a:t>
            </a:r>
            <a:r>
              <a:rPr lang="en-US" dirty="0">
                <a:latin typeface="Assistant"/>
                <a:ea typeface="Assistant"/>
                <a:cs typeface="Assistant"/>
                <a:sym typeface="Assistant"/>
              </a:rPr>
              <a:t>Macro-f1</a:t>
            </a:r>
            <a:r>
              <a:rPr lang="iw" dirty="0">
                <a:latin typeface="Assistant"/>
                <a:ea typeface="Assistant"/>
                <a:cs typeface="Assistant"/>
                <a:sym typeface="Assistant"/>
              </a:rPr>
              <a:t> עבור שבעת המודלים על פני שבעת מאגרי הנתונים - כיסוי מלא, ללא תאים חסרים:</a:t>
            </a:r>
            <a:endParaRPr dirty="0"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0" algn="r" rtl="1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92" name="Google Shape;29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571" y="1648274"/>
            <a:ext cx="6094858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תוצאות | </a:t>
            </a:r>
            <a:r>
              <a:rPr lang="iw" sz="240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מדדים כלליים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תוצאות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אירוע טרור - מידע אמין מול כוזב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36576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46066"/>
            <a:ext cx="4480560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Monkeypox</a:t>
            </a:r>
            <a:r>
              <a:rPr lang="en-US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משבר בריאותי - מידע אמין מול כוזב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36576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onkeypox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3228"/>
            <a:ext cx="4480560" cy="26942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PHEME</a:t>
            </a:r>
            <a:r>
              <a:rPr lang="en-US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</a:t>
            </a:r>
            <a:r>
              <a:rPr lang="en-US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זיהוי שמועות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329184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389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pheme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12025"/>
            <a:ext cx="4480560" cy="27709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PHEME All Events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תוצאות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כלל אירועי PHEME - שמועה מול לא־שמועה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2926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45" y="1546066"/>
            <a:ext cx="4315109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Hebdo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תוצאות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מתקפת שרלי הבדו 2015 - שמועה מול לא־שמועה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2926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45" y="1546066"/>
            <a:ext cx="4315109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Siege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תוצאות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מצור סידני 2014 - שמועה מול לא־שמועה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2926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45" y="1546066"/>
            <a:ext cx="4315109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he-IL" altLang="en-US" sz="2400" b="1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Ferguson</a:t>
            </a: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תוצאות 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מהומות פרגוסון 2014 - שמועה מול לא־שמועה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92040" y="1051560"/>
          <a:ext cx="3977640" cy="2926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45" y="1546066"/>
            <a:ext cx="4315109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סיכום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חום </a:t>
            </a:r>
            <a:r>
              <a:rPr lang="en-US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</a:t>
            </a: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כל המודלים על שלושת המאגרים</a:t>
            </a:r>
            <a:endParaRPr lang="he-IL" sz="1300" dirty="0"/>
          </a:p>
        </p:txBody>
      </p:sp>
      <p:pic>
        <p:nvPicPr>
          <p:cNvPr id="4" name="Image 0" descr="C:/Users/yoni1/AppData/Local/Temp/claude/C--Users-yoni1-Desktop-ZEROSHO-CODE/65bf9d6c-a595-4208-8e5a-9d5a6e2cba68/scratchpad/co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41" y="1051560"/>
            <a:ext cx="597971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8324850" y="5524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81000" y="19050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סיכום תוצאות</a:t>
            </a:r>
            <a:endParaRPr sz="24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grpSp>
        <p:nvGrpSpPr>
          <p:cNvPr id="315" name="Google Shape;315;p31"/>
          <p:cNvGrpSpPr/>
          <p:nvPr/>
        </p:nvGrpSpPr>
        <p:grpSpPr>
          <a:xfrm>
            <a:off x="381000" y="952500"/>
            <a:ext cx="8382000" cy="952500"/>
            <a:chOff x="381000" y="952500"/>
            <a:chExt cx="8382000" cy="952500"/>
          </a:xfrm>
        </p:grpSpPr>
        <p:sp>
          <p:nvSpPr>
            <p:cNvPr id="316" name="Google Shape;316;p31"/>
            <p:cNvSpPr/>
            <p:nvPr/>
          </p:nvSpPr>
          <p:spPr>
            <a:xfrm>
              <a:off x="381000" y="952500"/>
              <a:ext cx="8382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 txBox="1"/>
            <p:nvPr/>
          </p:nvSpPr>
          <p:spPr>
            <a:xfrm>
              <a:off x="571500" y="1047750"/>
              <a:ext cx="7429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יתרון עקבי, אך הפער מצטמצם</a:t>
              </a:r>
              <a:endParaRPr sz="16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lvl="0" algn="r" rtl="1">
                <a:spcBef>
                  <a:spcPts val="300"/>
                </a:spcBef>
              </a:pP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מודלי ה-</a:t>
              </a:r>
              <a:r>
                <a:rPr lang="en-US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Fine-Tuned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עלו על כל מודלי ה-</a:t>
              </a:r>
              <a:r>
                <a:rPr lang="en-US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Zero-Shot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בכל שבעת המאגרים, אך גודל הפער משתנה מאוד: פער של 0.10 בלבד ב-</a:t>
              </a:r>
              <a:r>
                <a:rPr lang="en-US" sz="120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Monkeypox</a:t>
              </a:r>
              <a:r>
                <a:rPr lang="he-IL" sz="120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לעומת פער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של 0.31 ב-</a:t>
              </a:r>
              <a:r>
                <a:rPr lang="en-US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Charlie Hebdo</a:t>
              </a:r>
            </a:p>
            <a:p>
              <a:pPr lvl="0" algn="r" rtl="1">
                <a:spcBef>
                  <a:spcPts val="300"/>
                </a:spcBef>
              </a:pP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שיא ה-</a:t>
              </a:r>
              <a:r>
                <a:rPr lang="en-US" sz="120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Zero-Shot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נרשם ב-</a:t>
              </a:r>
              <a:r>
                <a:rPr lang="en-US" sz="120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Sydney Siege 0.659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מול 0.818 של המקודד המוביל </a:t>
              </a:r>
              <a:r>
                <a:rPr lang="en-US" sz="1200" b="0" dirty="0" err="1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BERTweet</a:t>
              </a:r>
              <a:r>
                <a:rPr lang="en-US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.</a:t>
              </a:r>
            </a:p>
          </p:txBody>
        </p:sp>
      </p:grpSp>
      <p:grpSp>
        <p:nvGrpSpPr>
          <p:cNvPr id="319" name="Google Shape;319;p31"/>
          <p:cNvGrpSpPr/>
          <p:nvPr/>
        </p:nvGrpSpPr>
        <p:grpSpPr>
          <a:xfrm>
            <a:off x="381000" y="2047875"/>
            <a:ext cx="8382000" cy="952500"/>
            <a:chOff x="381000" y="2047875"/>
            <a:chExt cx="8382000" cy="952500"/>
          </a:xfrm>
        </p:grpSpPr>
        <p:sp>
          <p:nvSpPr>
            <p:cNvPr id="320" name="Google Shape;320;p31"/>
            <p:cNvSpPr/>
            <p:nvPr/>
          </p:nvSpPr>
          <p:spPr>
            <a:xfrm>
              <a:off x="381000" y="2047875"/>
              <a:ext cx="8382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 txBox="1"/>
            <p:nvPr/>
          </p:nvSpPr>
          <p:spPr>
            <a:xfrm>
              <a:off x="571500" y="2143125"/>
              <a:ext cx="7429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BERTweet: יתרון ל-‎Pretraining ייעודי לדומיין</a:t>
              </a:r>
              <a:endParaRPr sz="16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קידוד שאומן מראש על ציוצים (BERTweet) מנצח או שווה-ראשון בחמישה מתוך שבעת המאגרים - יותר מכל מודל אחר, כולל RoBERTa ו-‎ModernBERT הכלליים והגדולים ממנו.</a:t>
              </a:r>
              <a:endParaRPr sz="12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3" name="Google Shape;323;p31"/>
          <p:cNvGrpSpPr/>
          <p:nvPr/>
        </p:nvGrpSpPr>
        <p:grpSpPr>
          <a:xfrm>
            <a:off x="381000" y="3143250"/>
            <a:ext cx="8382000" cy="1143000"/>
            <a:chOff x="381000" y="3143250"/>
            <a:chExt cx="8382000" cy="1143000"/>
          </a:xfrm>
        </p:grpSpPr>
        <p:sp>
          <p:nvSpPr>
            <p:cNvPr id="324" name="Google Shape;324;p31"/>
            <p:cNvSpPr/>
            <p:nvPr/>
          </p:nvSpPr>
          <p:spPr>
            <a:xfrm>
              <a:off x="381000" y="3143250"/>
              <a:ext cx="8382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1"/>
            <p:cNvSpPr txBox="1"/>
            <p:nvPr/>
          </p:nvSpPr>
          <p:spPr>
            <a:xfrm>
              <a:off x="571500" y="3238500"/>
              <a:ext cx="7429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600" b="1" dirty="0">
                  <a:solidFill>
                    <a:srgbClr val="1E293B"/>
                  </a:solidFill>
                  <a:latin typeface="Assistant"/>
                  <a:ea typeface="Assistant"/>
                  <a:cs typeface="Assistant"/>
                  <a:sym typeface="Assistant"/>
                </a:rPr>
                <a:t>משימות תלת-מחלקתיות שוברות את Zero-Shot</a:t>
              </a:r>
              <a:endParaRPr sz="1600" b="1" dirty="0">
                <a:solidFill>
                  <a:srgbClr val="1E293B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lvl="0" indent="0" algn="r" rtl="1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במשימת השמועות התלת-מחלקתית מודלי ה-‎Zero-Shot מגיעים ל-‎0.28-0.35 בלבד, לעומת 0.43-0.66 במאגרי האירועים הדו-מחלקתיים </a:t>
              </a:r>
              <a:r>
                <a:rPr lang="en-US" sz="120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F1-Macro</a:t>
              </a:r>
              <a:r>
                <a:rPr lang="iw" sz="1200" b="0" dirty="0">
                  <a:solidFill>
                    <a:srgbClr val="64748B"/>
                  </a:solidFill>
                  <a:latin typeface="Assistant"/>
                  <a:ea typeface="Assistant"/>
                  <a:cs typeface="Assistant"/>
                  <a:sym typeface="Assistant"/>
                </a:rPr>
                <a:t> - המחלקה השלישית (unrelated) פוגעת בהם באופן לא-פרופורציונלי.</a:t>
              </a:r>
              <a:endParaRPr sz="12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81000" y="4429125"/>
            <a:ext cx="8382000" cy="476400"/>
            <a:chOff x="381000" y="4429125"/>
            <a:chExt cx="8382000" cy="476400"/>
          </a:xfrm>
        </p:grpSpPr>
        <p:sp>
          <p:nvSpPr>
            <p:cNvPr id="328" name="Google Shape;328;p31"/>
            <p:cNvSpPr/>
            <p:nvPr/>
          </p:nvSpPr>
          <p:spPr>
            <a:xfrm>
              <a:off x="381000" y="4429125"/>
              <a:ext cx="8382000" cy="4764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571500" y="4429125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100" b="0">
                  <a:solidFill>
                    <a:srgbClr val="1E40A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המחקר מאשש: Fine-Tuning עדיין הכרחי במשימות רגישות ותלויות-הקשר, והתאמת הדומיין של המודל משפיעה יותר מגודלו.</a:t>
              </a:r>
              <a:endParaRPr sz="1100" b="0">
                <a:solidFill>
                  <a:srgbClr val="1E40A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762000" y="23812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4800" b="0">
                <a:solidFill>
                  <a:srgbClr val="1E293B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תודה רבה!</a:t>
            </a:r>
            <a:endParaRPr sz="4800" b="0">
              <a:solidFill>
                <a:srgbClr val="1E293B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762000" y="31432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 b="0">
                <a:solidFill>
                  <a:srgbClr val="3B82F6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שאלות?</a:t>
            </a:r>
            <a:endParaRPr sz="2400" b="0">
              <a:solidFill>
                <a:srgbClr val="3B82F6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1950" y="3790950"/>
            <a:ext cx="8001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/>
        </p:nvSpPr>
        <p:spPr>
          <a:xfrm>
            <a:off x="762000" y="419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יהונתן שדה | שובל ברמלי</a:t>
            </a:r>
            <a:endParaRPr sz="1400" b="0" dirty="0">
              <a:solidFill>
                <a:srgbClr val="64748B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מנחה: </a:t>
            </a:r>
            <a:r>
              <a:rPr lang="he-IL" sz="14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פרופסור </a:t>
            </a:r>
            <a:r>
              <a:rPr lang="iw" sz="1400" b="0" dirty="0">
                <a:solidFill>
                  <a:srgbClr val="64748B"/>
                </a:solidFill>
                <a:latin typeface="Assistant"/>
                <a:ea typeface="Assistant"/>
                <a:cs typeface="Assistant"/>
                <a:sym typeface="Assistant"/>
              </a:rPr>
              <a:t>אבי יוסיפוף</a:t>
            </a:r>
            <a:endParaRPr sz="1400" b="0" dirty="0">
              <a:solidFill>
                <a:srgbClr val="64748B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381500" y="40005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6" name="Google Shape;366;p33"/>
          <p:cNvPicPr preferRelativeResize="0"/>
          <p:nvPr/>
        </p:nvPicPr>
        <p:blipFill rotWithShape="1">
          <a:blip r:embed="rId5">
            <a:alphaModFix/>
          </a:blip>
          <a:srcRect t="24110" r="39132"/>
          <a:stretch/>
        </p:blipFill>
        <p:spPr>
          <a:xfrm>
            <a:off x="7125275" y="0"/>
            <a:ext cx="2018725" cy="25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1891</Words>
  <Application>Microsoft Office PowerPoint</Application>
  <PresentationFormat>‫הצגה על המסך (16:9)</PresentationFormat>
  <Paragraphs>518</Paragraphs>
  <Slides>26</Slides>
  <Notes>22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3" baseType="lpstr">
      <vt:lpstr>Assistant ExtraBold</vt:lpstr>
      <vt:lpstr>Assistant Medium</vt:lpstr>
      <vt:lpstr>Arial</vt:lpstr>
      <vt:lpstr>Assistant</vt:lpstr>
      <vt:lpstr>Assistant SemiBold</vt:lpstr>
      <vt:lpstr>David</vt:lpstr>
      <vt:lpstr>Simple Light</vt:lpstr>
      <vt:lpstr>מצגת של PowerPoint‏</vt:lpstr>
      <vt:lpstr>תוכן עניינים</vt:lpstr>
      <vt:lpstr>רקע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שיטה |Fine-Tuning</vt:lpstr>
      <vt:lpstr>שיטה |Fine-Tuning</vt:lpstr>
      <vt:lpstr>מצגת של PowerPoint‏</vt:lpstr>
      <vt:lpstr>שיטה | השוואה</vt:lpstr>
      <vt:lpstr>תוצאות | המודל המנצח בכל מאגר</vt:lpstr>
      <vt:lpstr>תוצאות | מדדים כלליים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Jonathan Sade</dc:creator>
  <cp:lastModifiedBy>Jonathan Sade</cp:lastModifiedBy>
  <cp:revision>6</cp:revision>
  <dcterms:modified xsi:type="dcterms:W3CDTF">2026-08-09T18:41:59Z</dcterms:modified>
</cp:coreProperties>
</file>