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8803600" cy="36027360"/>
  <p:notesSz cx="36027360" cy="2880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803600" cy="6035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4231600" y="-4572000"/>
            <a:ext cx="9144000" cy="91440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A32530"/>
          </a:solidFill>
          <a:ln/>
        </p:spPr>
      </p:sp>
      <p:sp>
        <p:nvSpPr>
          <p:cNvPr id="4" name="Shape 2"/>
          <p:cNvSpPr/>
          <p:nvPr/>
        </p:nvSpPr>
        <p:spPr>
          <a:xfrm>
            <a:off x="24917400" y="-3886200"/>
            <a:ext cx="7772400" cy="77724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0" y="-3200400"/>
            <a:ext cx="6400800" cy="6400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A32530"/>
          </a:solidFill>
          <a:ln/>
        </p:spPr>
      </p:sp>
      <p:sp>
        <p:nvSpPr>
          <p:cNvPr id="6" name="Shape 4"/>
          <p:cNvSpPr/>
          <p:nvPr/>
        </p:nvSpPr>
        <p:spPr>
          <a:xfrm>
            <a:off x="26289000" y="-2514600"/>
            <a:ext cx="5029200" cy="50292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0" y="-1828800"/>
            <a:ext cx="3657600" cy="36576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A32530"/>
          </a:solidFill>
          <a:ln/>
        </p:spPr>
      </p:sp>
      <p:sp>
        <p:nvSpPr>
          <p:cNvPr id="8" name="Shape 6"/>
          <p:cNvSpPr/>
          <p:nvPr/>
        </p:nvSpPr>
        <p:spPr>
          <a:xfrm>
            <a:off x="27660600" y="-1143000"/>
            <a:ext cx="2286000" cy="22860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/>
        </p:spPr>
      </p:sp>
      <p:pic>
        <p:nvPicPr>
          <p:cNvPr id="9" name="Image 0" descr="C:/Users/yoni1/Desktop/ZEROSHO_CODE/presentation/cl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6035040" cy="2693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777240"/>
            <a:ext cx="1609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he-IL" altLang="en-US" sz="82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ציוצים באמצעות מודלי שפה גדולים</a:t>
            </a:r>
            <a:endParaRPr lang="he-IL" sz="8200" dirty="0"/>
          </a:p>
          <a:p>
            <a:pPr algn="ctr" indent="0" marL="0">
              <a:buNone/>
            </a:pPr>
            <a:r>
              <a:rPr lang="he-IL" altLang="en-US" sz="82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בגישת </a:t>
            </a:r>
            <a:pPr algn="ctr" indent="0" marL="0">
              <a:buNone/>
            </a:pPr>
            <a:r>
              <a:rPr lang="he-IL" altLang="en-US" sz="82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pPr algn="ctr" indent="0" marL="0">
              <a:buNone/>
            </a:pPr>
            <a:r>
              <a:rPr lang="he-IL" altLang="en-US" sz="82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למידע כוזב</a:t>
            </a:r>
            <a:endParaRPr lang="he-IL" sz="8200" dirty="0"/>
          </a:p>
        </p:txBody>
      </p:sp>
      <p:sp>
        <p:nvSpPr>
          <p:cNvPr id="11" name="Text 8"/>
          <p:cNvSpPr/>
          <p:nvPr/>
        </p:nvSpPr>
        <p:spPr>
          <a:xfrm>
            <a:off x="7223760" y="3794760"/>
            <a:ext cx="1609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he-IL" altLang="en-US" sz="37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יהונתן שדה  |  שובל ברמלי      מנחה: ד"ר אבי יוסיפוף</a:t>
            </a:r>
            <a:endParaRPr lang="he-IL" sz="37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he-IL" altLang="en-US" sz="3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המרכז האקדמי למשפט ולעסקים  |  סדנה לפרויקטים - פרויקט גמר  |  תשפ"ו 2026</a:t>
            </a:r>
            <a:endParaRPr lang="he-IL" sz="3700" dirty="0"/>
          </a:p>
        </p:txBody>
      </p:sp>
      <p:sp>
        <p:nvSpPr>
          <p:cNvPr id="12" name="Shape 9"/>
          <p:cNvSpPr/>
          <p:nvPr/>
        </p:nvSpPr>
        <p:spPr>
          <a:xfrm>
            <a:off x="0" y="6035040"/>
            <a:ext cx="28803600" cy="82296"/>
          </a:xfrm>
          <a:prstGeom prst="rect">
            <a:avLst/>
          </a:prstGeom>
          <a:solidFill>
            <a:srgbClr val="A3253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6720840"/>
            <a:ext cx="63322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6830568"/>
            <a:ext cx="63322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0" dirty="0"/>
          </a:p>
        </p:txBody>
      </p:sp>
      <p:sp>
        <p:nvSpPr>
          <p:cNvPr id="15" name="Text 12"/>
          <p:cNvSpPr/>
          <p:nvPr/>
        </p:nvSpPr>
        <p:spPr>
          <a:xfrm>
            <a:off x="914400" y="8257032"/>
            <a:ext cx="6332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מודלים בהשוואה</a:t>
            </a:r>
            <a:endParaRPr lang="he-IL" sz="3500" dirty="0"/>
          </a:p>
        </p:txBody>
      </p:sp>
      <p:sp>
        <p:nvSpPr>
          <p:cNvPr id="16" name="Shape 13"/>
          <p:cNvSpPr/>
          <p:nvPr/>
        </p:nvSpPr>
        <p:spPr>
          <a:xfrm>
            <a:off x="7795260" y="6720840"/>
            <a:ext cx="63322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95260" y="6830568"/>
            <a:ext cx="63322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600" dirty="0"/>
          </a:p>
        </p:txBody>
      </p:sp>
      <p:sp>
        <p:nvSpPr>
          <p:cNvPr id="18" name="Text 15"/>
          <p:cNvSpPr/>
          <p:nvPr/>
        </p:nvSpPr>
        <p:spPr>
          <a:xfrm>
            <a:off x="7795260" y="8257032"/>
            <a:ext cx="6332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מאגרי נתונים</a:t>
            </a:r>
            <a:endParaRPr lang="he-IL" sz="3500" dirty="0"/>
          </a:p>
        </p:txBody>
      </p:sp>
      <p:sp>
        <p:nvSpPr>
          <p:cNvPr id="19" name="Shape 16"/>
          <p:cNvSpPr/>
          <p:nvPr/>
        </p:nvSpPr>
        <p:spPr>
          <a:xfrm>
            <a:off x="14676120" y="6720840"/>
            <a:ext cx="63322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4676120" y="6830568"/>
            <a:ext cx="63322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600" dirty="0"/>
          </a:p>
        </p:txBody>
      </p:sp>
      <p:sp>
        <p:nvSpPr>
          <p:cNvPr id="21" name="Text 18"/>
          <p:cNvSpPr/>
          <p:nvPr/>
        </p:nvSpPr>
        <p:spPr>
          <a:xfrm>
            <a:off x="14676120" y="8257032"/>
            <a:ext cx="6332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מודלים מכווננים</a:t>
            </a:r>
            <a:endParaRPr lang="he-IL" sz="3500" dirty="0"/>
          </a:p>
        </p:txBody>
      </p:sp>
      <p:sp>
        <p:nvSpPr>
          <p:cNvPr id="22" name="Shape 19"/>
          <p:cNvSpPr/>
          <p:nvPr/>
        </p:nvSpPr>
        <p:spPr>
          <a:xfrm>
            <a:off x="21556980" y="6720840"/>
            <a:ext cx="633222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1556980" y="6830568"/>
            <a:ext cx="63322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7600" dirty="0"/>
          </a:p>
        </p:txBody>
      </p:sp>
      <p:sp>
        <p:nvSpPr>
          <p:cNvPr id="24" name="Text 21"/>
          <p:cNvSpPr/>
          <p:nvPr/>
        </p:nvSpPr>
        <p:spPr>
          <a:xfrm>
            <a:off x="21556980" y="8257032"/>
            <a:ext cx="6332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שילובי מודל-מאגר</a:t>
            </a:r>
            <a:endParaRPr lang="he-IL" sz="3500" dirty="0"/>
          </a:p>
        </p:txBody>
      </p:sp>
      <p:sp>
        <p:nvSpPr>
          <p:cNvPr id="25" name="Text 22"/>
          <p:cNvSpPr/>
          <p:nvPr/>
        </p:nvSpPr>
        <p:spPr>
          <a:xfrm>
            <a:off x="14813280" y="992124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והמטרה</a:t>
            </a:r>
            <a:endParaRPr lang="he-IL" sz="5500" dirty="0"/>
          </a:p>
        </p:txBody>
      </p:sp>
      <p:sp>
        <p:nvSpPr>
          <p:cNvPr id="26" name="Shape 23"/>
          <p:cNvSpPr/>
          <p:nvPr/>
        </p:nvSpPr>
        <p:spPr>
          <a:xfrm>
            <a:off x="14813280" y="11109960"/>
            <a:ext cx="130759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5316200" y="11384280"/>
            <a:ext cx="120700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600"/>
              </a:spcAft>
              <a:buSzPct val="100000"/>
              <a:buChar char="•"/>
            </a:pPr>
            <a:r>
              <a:rPr lang="he-IL" altLang="en-US" sz="3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ברשת X מופצים בזמן אמת גם שמועות ומידע כוזב; ציוצים קצרים ותלויי-הקשר קשים לסיווג אוטומטי.</a:t>
            </a:r>
            <a:endParaRPr lang="he-IL" sz="3800" dirty="0"/>
          </a:p>
          <a:p>
            <a:pPr algn="r" marL="342900" indent="-342900">
              <a:spcAft>
                <a:spcPts val="1600"/>
              </a:spcAft>
              <a:buSzPct val="100000"/>
              <a:buChar char="•"/>
            </a:pPr>
            <a:r>
              <a:rPr lang="he-IL" altLang="en-US" sz="3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המטרה: לבחון האם מודלי שפה גדולים בגישת Zero-Shot משתווים למודלי Transformer שעברו Fine-Tuning ייעודי.</a:t>
            </a:r>
            <a:endParaRPr lang="he-IL" sz="3800" dirty="0"/>
          </a:p>
        </p:txBody>
      </p:sp>
      <p:sp>
        <p:nvSpPr>
          <p:cNvPr id="28" name="Text 25"/>
          <p:cNvSpPr/>
          <p:nvPr/>
        </p:nvSpPr>
        <p:spPr>
          <a:xfrm>
            <a:off x="14813280" y="1540764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בקצרה</a:t>
            </a:r>
            <a:endParaRPr lang="he-IL" sz="5500" dirty="0"/>
          </a:p>
        </p:txBody>
      </p:sp>
      <p:sp>
        <p:nvSpPr>
          <p:cNvPr id="29" name="Shape 26"/>
          <p:cNvSpPr/>
          <p:nvPr/>
        </p:nvSpPr>
        <p:spPr>
          <a:xfrm>
            <a:off x="14813280" y="16596360"/>
            <a:ext cx="13075920" cy="48463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316200" y="16870680"/>
            <a:ext cx="12070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300"/>
              </a:spcAft>
              <a:buSzPct val="100000"/>
              <a:buChar char="•"/>
            </a:pPr>
            <a:r>
              <a:rPr lang="he-IL" altLang="en-US" sz="37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קידודים עברו Fine-Tuning על כל מאגר (5-Fold CV):</a:t>
            </a:r>
            <a:endParaRPr lang="he-IL" sz="3700" dirty="0"/>
          </a:p>
          <a:p>
            <a:pPr algn="r" indent="0" marL="0">
              <a:spcAft>
                <a:spcPts val="1300"/>
              </a:spcAft>
              <a:buNone/>
            </a:pPr>
            <a:r>
              <a:rPr lang="he-IL" altLang="en-US" sz="37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| BERTweet | MiniLM | ModernBERT</a:t>
            </a:r>
            <a:endParaRPr lang="he-IL" sz="3700" dirty="0"/>
          </a:p>
          <a:p>
            <a:pPr algn="r" marL="342900" indent="-342900">
              <a:spcAft>
                <a:spcPts val="1300"/>
              </a:spcAft>
              <a:buSzPct val="100000"/>
              <a:buChar char="•"/>
            </a:pPr>
            <a:r>
              <a:rPr lang="he-IL" altLang="en-US" sz="37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מודלי LLM בגישת Zero-Shot עם פרומפט אחיד:</a:t>
            </a:r>
            <a:endParaRPr lang="he-IL" sz="3700" dirty="0"/>
          </a:p>
          <a:p>
            <a:pPr algn="r" indent="0" marL="0">
              <a:spcAft>
                <a:spcPts val="1300"/>
              </a:spcAft>
              <a:buNone/>
            </a:pPr>
            <a:r>
              <a:rPr lang="he-IL" altLang="en-US" sz="37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| Gemini 2.5 | GPT-OSS | Llama 3.3 | Qwen3.6</a:t>
            </a:r>
            <a:endParaRPr lang="he-IL" sz="3700" dirty="0"/>
          </a:p>
          <a:p>
            <a:pPr algn="r" marL="342900" indent="-342900">
              <a:spcAft>
                <a:spcPts val="1300"/>
              </a:spcAft>
              <a:buSzPct val="100000"/>
              <a:buChar char="•"/>
            </a:pPr>
            <a:r>
              <a:rPr lang="he-IL" altLang="en-US" sz="37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מרכזי: F1-Macro - מאזן בין כל המחלקות.</a:t>
            </a:r>
            <a:endParaRPr lang="he-IL" sz="3700" dirty="0"/>
          </a:p>
        </p:txBody>
      </p:sp>
      <p:sp>
        <p:nvSpPr>
          <p:cNvPr id="31" name="Text 28"/>
          <p:cNvSpPr/>
          <p:nvPr/>
        </p:nvSpPr>
        <p:spPr>
          <a:xfrm>
            <a:off x="14813280" y="2194560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המודלים על המאגרים הראשיים</a:t>
            </a:r>
            <a:endParaRPr lang="he-IL" sz="5500" dirty="0"/>
          </a:p>
        </p:txBody>
      </p:sp>
      <p:sp>
        <p:nvSpPr>
          <p:cNvPr id="32" name="Shape 29"/>
          <p:cNvSpPr/>
          <p:nvPr/>
        </p:nvSpPr>
        <p:spPr>
          <a:xfrm>
            <a:off x="14813280" y="23134320"/>
            <a:ext cx="13075920" cy="8321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pic>
        <p:nvPicPr>
          <p:cNvPr id="33" name="Image 1" descr="C:/Users/yoni1/AppData/Local/Temp/claude/C--Users-yoni1-Desktop-ZEROSHO-CODE/65bf9d6c-a595-4208-8e5a-9d5a6e2cba68/scratchpad/core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6180" y="23408640"/>
            <a:ext cx="12390120" cy="77681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14400" y="992124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בשורה התחתונה</a:t>
            </a:r>
            <a:endParaRPr lang="he-IL" sz="5500" dirty="0"/>
          </a:p>
        </p:txBody>
      </p:sp>
      <p:sp>
        <p:nvSpPr>
          <p:cNvPr id="35" name="Shape 31"/>
          <p:cNvSpPr/>
          <p:nvPr/>
        </p:nvSpPr>
        <p:spPr>
          <a:xfrm>
            <a:off x="914400" y="11109960"/>
            <a:ext cx="40538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914400" y="11237976"/>
            <a:ext cx="405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</a:t>
            </a:r>
            <a:endParaRPr lang="en-US" sz="6800" dirty="0"/>
          </a:p>
        </p:txBody>
      </p:sp>
      <p:sp>
        <p:nvSpPr>
          <p:cNvPr id="37" name="Text 33"/>
          <p:cNvSpPr/>
          <p:nvPr/>
        </p:nvSpPr>
        <p:spPr>
          <a:xfrm>
            <a:off x="1024128" y="12609576"/>
            <a:ext cx="3834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השיא הכולל: RoBERTa מכוונן</a:t>
            </a:r>
            <a:endParaRPr lang="he-IL" sz="3400" dirty="0"/>
          </a:p>
        </p:txBody>
      </p:sp>
      <p:sp>
        <p:nvSpPr>
          <p:cNvPr id="38" name="Shape 34"/>
          <p:cNvSpPr/>
          <p:nvPr/>
        </p:nvSpPr>
        <p:spPr>
          <a:xfrm>
            <a:off x="5425440" y="11109960"/>
            <a:ext cx="40538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5425440" y="11237976"/>
            <a:ext cx="405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0.773</a:t>
            </a:r>
            <a:endParaRPr lang="en-US" sz="6800" dirty="0"/>
          </a:p>
        </p:txBody>
      </p:sp>
      <p:sp>
        <p:nvSpPr>
          <p:cNvPr id="40" name="Text 36"/>
          <p:cNvSpPr/>
          <p:nvPr/>
        </p:nvSpPr>
        <p:spPr>
          <a:xfrm>
            <a:off x="5535168" y="12609576"/>
            <a:ext cx="3834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הטוב מבין מודלי Zero-Shot</a:t>
            </a:r>
            <a:endParaRPr lang="he-IL" sz="3400" dirty="0"/>
          </a:p>
        </p:txBody>
      </p:sp>
      <p:sp>
        <p:nvSpPr>
          <p:cNvPr id="41" name="Shape 37"/>
          <p:cNvSpPr/>
          <p:nvPr/>
        </p:nvSpPr>
        <p:spPr>
          <a:xfrm>
            <a:off x="9936480" y="11109960"/>
            <a:ext cx="40538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9936480" y="11237976"/>
            <a:ext cx="405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A3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0.319</a:t>
            </a:r>
            <a:endParaRPr lang="en-US" sz="6800" dirty="0"/>
          </a:p>
        </p:txBody>
      </p:sp>
      <p:sp>
        <p:nvSpPr>
          <p:cNvPr id="43" name="Text 39"/>
          <p:cNvSpPr/>
          <p:nvPr/>
        </p:nvSpPr>
        <p:spPr>
          <a:xfrm>
            <a:off x="10046208" y="12609576"/>
            <a:ext cx="3834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קורס בזיהוי שמועות</a:t>
            </a:r>
            <a:endParaRPr lang="he-IL" sz="3400" dirty="0"/>
          </a:p>
        </p:txBody>
      </p:sp>
      <p:sp>
        <p:nvSpPr>
          <p:cNvPr id="44" name="Text 40"/>
          <p:cNvSpPr/>
          <p:nvPr/>
        </p:nvSpPr>
        <p:spPr>
          <a:xfrm>
            <a:off x="914400" y="1412748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המנצח בכל מאגר</a:t>
            </a:r>
            <a:endParaRPr lang="he-IL" sz="5500" dirty="0"/>
          </a:p>
        </p:txBody>
      </p:sp>
      <p:sp>
        <p:nvSpPr>
          <p:cNvPr id="45" name="Shape 41"/>
          <p:cNvSpPr/>
          <p:nvPr/>
        </p:nvSpPr>
        <p:spPr>
          <a:xfrm>
            <a:off x="914400" y="15316200"/>
            <a:ext cx="13075920" cy="786384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pic>
        <p:nvPicPr>
          <p:cNvPr id="46" name="Image 2" descr="C:/Users/yoni1/Desktop/ZEROSHO_CODE/results/figures/comparison/comparison_best_per_datas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599664"/>
            <a:ext cx="11887200" cy="7292761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14400" y="23682960"/>
            <a:ext cx="1307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55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</a:t>
            </a:r>
            <a:endParaRPr lang="he-IL" sz="5500" dirty="0"/>
          </a:p>
        </p:txBody>
      </p:sp>
      <p:sp>
        <p:nvSpPr>
          <p:cNvPr id="48" name="Shape 43"/>
          <p:cNvSpPr/>
          <p:nvPr/>
        </p:nvSpPr>
        <p:spPr>
          <a:xfrm>
            <a:off x="914400" y="24871680"/>
            <a:ext cx="13075920" cy="667512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5875">
            <a:solidFill>
              <a:srgbClr val="E3E5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9">
                <a:alpha val="25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1417320" y="25164288"/>
            <a:ext cx="12070080" cy="6080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800"/>
              </a:spcAft>
              <a:buSzPct val="100000"/>
              <a:buChar char="•"/>
            </a:pPr>
            <a:r>
              <a:rPr lang="he-IL" altLang="en-US" sz="3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מנצח בכל 12 המאגרים - אך מודלי ענן גדולים מצמצמים את הפער (0.71-0.77).</a:t>
            </a:r>
            <a:endParaRPr lang="he-IL" sz="3800" dirty="0"/>
          </a:p>
          <a:p>
            <a:pPr algn="r" marL="342900" indent="-342900">
              <a:spcAft>
                <a:spcPts val="1800"/>
              </a:spcAft>
              <a:buSzPct val="100000"/>
              <a:buChar char="•"/>
            </a:pPr>
            <a:r>
              <a:rPr lang="he-IL" altLang="en-US" sz="3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BERTweet, שאומן מראש על ציוצים, עוקף את RoBERTa בחלק מהאירועים - יתרון לדומיין.</a:t>
            </a:r>
            <a:endParaRPr lang="he-IL" sz="3800" dirty="0"/>
          </a:p>
          <a:p>
            <a:pPr algn="r" marL="342900" indent="-342900">
              <a:spcAft>
                <a:spcPts val="1800"/>
              </a:spcAft>
              <a:buSzPct val="100000"/>
              <a:buChar char="•"/>
            </a:pPr>
            <a:r>
              <a:rPr lang="he-IL" altLang="en-US" sz="3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שמועות שובר את Zero-Shot: במאגר PHEME גם Gemini קורס ל-0.32.</a:t>
            </a:r>
            <a:endParaRPr lang="he-IL" sz="3800" dirty="0"/>
          </a:p>
          <a:p>
            <a:pPr algn="r" marL="342900" indent="-342900">
              <a:spcAft>
                <a:spcPts val="1800"/>
              </a:spcAft>
              <a:buSzPct val="100000"/>
              <a:buChar char="•"/>
            </a:pPr>
            <a:r>
              <a:rPr lang="he-IL" altLang="en-US" sz="3800" b="1" dirty="0">
                <a:solidFill>
                  <a:srgbClr val="7E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במשימות רגישות ותלויות-הקשר - Fine-Tuning ייעודי עדיין הכרחי.</a:t>
            </a:r>
            <a:endParaRPr lang="he-IL" sz="3800" dirty="0"/>
          </a:p>
        </p:txBody>
      </p:sp>
      <p:sp>
        <p:nvSpPr>
          <p:cNvPr id="50" name="Shape 45"/>
          <p:cNvSpPr/>
          <p:nvPr/>
        </p:nvSpPr>
        <p:spPr>
          <a:xfrm>
            <a:off x="0" y="35524440"/>
            <a:ext cx="28803600" cy="50292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51" name="Text 46"/>
          <p:cNvSpPr/>
          <p:nvPr/>
        </p:nvSpPr>
        <p:spPr>
          <a:xfrm>
            <a:off x="914400" y="35524440"/>
            <a:ext cx="2697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github.com/Yoni140/zeroshot_project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2026-08-02T15:12:45Z</dcterms:created>
  <dcterms:modified xsi:type="dcterms:W3CDTF">2026-08-02T15:12:45Z</dcterms:modified>
</cp:coreProperties>
</file>