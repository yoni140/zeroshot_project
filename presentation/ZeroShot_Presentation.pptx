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077A8">
              <a:alpha val="25000"/>
            </a:srgbClr>
          </a:solidFill>
          <a:ln w="12700">
            <a:solidFill>
              <a:srgbClr val="0077A8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vs Fine-Tuned LLMs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Misinformation Detection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029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RoBERTa Fine-Tuned with Llama 3.1 8B Zero-Shot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Three Misinformation Datasets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0077A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🏟️  Manchester Arena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33832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0077A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  Monkeypox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33832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0077A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PHEME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Yoni  |  Final Project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this study?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34440"/>
            <a:ext cx="8412480" cy="1188720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109728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large language model, with zero training examples, detect misinformation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accurately as a fine-tuned RoBERTa model trained on thousands of labeled tweets?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06040"/>
            <a:ext cx="2651760" cy="32004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24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 3 Datasets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30175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Arena bombing,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 health claims,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 breaking news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260604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606040"/>
            <a:ext cx="265176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624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2 Approaches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30175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(supervised)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(no training)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0" y="260604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606040"/>
            <a:ext cx="2651760" cy="320040"/>
          </a:xfrm>
          <a:prstGeom prst="rect">
            <a:avLst/>
          </a:prstGeom>
          <a:solidFill>
            <a:srgbClr val="6A0572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2624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5 Metrics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44768" y="30175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Macro, F1 Weighted,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domains — real-world misinformation challenges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188720"/>
            <a:ext cx="283464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88720"/>
            <a:ext cx="2834640" cy="438912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" y="1216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Arena</a:t>
            </a:r>
            <a:endParaRPr lang="en-US" sz="1400" dirty="0"/>
          </a:p>
        </p:txBody>
      </p:sp>
      <p:pic>
        <p:nvPicPr>
          <p:cNvPr id="10" name="Image 0" descr="C:/Users/yoni1/Desktop/ZEROSHO_CODE/results/figures/manchester/01_label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673352"/>
            <a:ext cx="2743200" cy="1691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7472" y="3456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tweets: 89,147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" y="3657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Standard: ~2,500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" y="3858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reliable / misinformation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" y="40599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Twitter (event-specific)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27832" y="1188720"/>
            <a:ext cx="283464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27832" y="1188720"/>
            <a:ext cx="2834640" cy="43891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4"/>
          <p:cNvSpPr/>
          <p:nvPr/>
        </p:nvSpPr>
        <p:spPr>
          <a:xfrm>
            <a:off x="3300984" y="1216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</a:t>
            </a:r>
            <a:endParaRPr lang="en-US" sz="1400" dirty="0"/>
          </a:p>
        </p:txBody>
      </p:sp>
      <p:pic>
        <p:nvPicPr>
          <p:cNvPr id="18" name="Image 1" descr="C:/Users/yoni1/Desktop/ZEROSHO_CODE/results/figures/monkeypox/mpox_01_label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673352"/>
            <a:ext cx="2743200" cy="1691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19272" y="3456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tweets: ~6,287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19272" y="3657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Standard: ~2,500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19272" y="3858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reliable / misinformation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319272" y="40599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Twitter (health crisis)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199632" y="1188720"/>
            <a:ext cx="283464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99632" y="1188720"/>
            <a:ext cx="2834640" cy="438912"/>
          </a:xfrm>
          <a:prstGeom prst="rect">
            <a:avLst/>
          </a:prstGeom>
          <a:solidFill>
            <a:srgbClr val="6A0572"/>
          </a:solidFill>
          <a:ln/>
        </p:spPr>
      </p:sp>
      <p:sp>
        <p:nvSpPr>
          <p:cNvPr id="25" name="Text 21"/>
          <p:cNvSpPr/>
          <p:nvPr/>
        </p:nvSpPr>
        <p:spPr>
          <a:xfrm>
            <a:off x="6272784" y="1216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</a:t>
            </a:r>
            <a:endParaRPr lang="en-US" sz="1400" dirty="0"/>
          </a:p>
        </p:txBody>
      </p:sp>
      <p:pic>
        <p:nvPicPr>
          <p:cNvPr id="26" name="Image 2" descr="C:/Users/yoni1/Desktop/ZEROSHO_CODE/results/figures/pheme/pheme_01_label_distribu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673352"/>
            <a:ext cx="2743200" cy="16916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91072" y="3456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tweets: 62,445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291072" y="3657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Standard: ~2,500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91072" y="3858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not_rumour / rumour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91072" y="40599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Twitter (breaking news)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clean, balanced Gold Standard for fair evaluation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34440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" y="1673352"/>
            <a:ext cx="54864" cy="2743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234440"/>
            <a:ext cx="3840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12527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URLs, @mentions,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#tags (keep text), RT, emojis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947672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47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2386584"/>
            <a:ext cx="54864" cy="2743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1947672"/>
            <a:ext cx="3840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19659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tweets &lt; 5 words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(noise removal)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60904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60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2064" y="3099816"/>
            <a:ext cx="54864" cy="2743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2660904"/>
            <a:ext cx="3840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26791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(remove exact copies)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374136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741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" y="3813048"/>
            <a:ext cx="54864" cy="2743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374136"/>
            <a:ext cx="3840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0120" y="33924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Gold Standard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~2,500 stratified tweets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087368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087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68680" y="4087368"/>
            <a:ext cx="3840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0120" y="410565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 / 15% Test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 Cleaning</a:t>
            </a:r>
            <a:endParaRPr lang="en-US" sz="1200" dirty="0"/>
          </a:p>
        </p:txBody>
      </p:sp>
      <p:pic>
        <p:nvPicPr>
          <p:cNvPr id="32" name="Image 0" descr="C:/Users/yoni1/Desktop/ZEROSHO_CODE/results/figures/manchester/08_before_after_clea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463040"/>
            <a:ext cx="3977640" cy="210312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4937760" y="3657600"/>
            <a:ext cx="3977640" cy="1280160"/>
          </a:xfrm>
          <a:prstGeom prst="rect">
            <a:avLst/>
          </a:prstGeom>
          <a:solidFill>
            <a:srgbClr val="FFFBF0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074920" y="3703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Tweet (Manchester):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074920" y="39319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"@user RT: Manchester Arena BOMB — refugees did this! 💥 #Islamists http://t.co/xyz"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"Manchester Arena BOMB — refugees did this Islamists"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&amp; Class Imbalance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cannot use the raw data directly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07008"/>
            <a:ext cx="4023360" cy="1463040"/>
          </a:xfrm>
          <a:prstGeom prst="rect">
            <a:avLst/>
          </a:prstGeom>
          <a:solidFill>
            <a:srgbClr val="FFF3F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07008"/>
            <a:ext cx="91440" cy="14630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527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58191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raw: 89,147 tweets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Only 490 misinformation (0.55%)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model predicting "reliable" always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achieve 99.4% accuracy!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4023360" cy="2057400"/>
          </a:xfrm>
          <a:prstGeom prst="rect">
            <a:avLst/>
          </a:prstGeom>
          <a:solidFill>
            <a:srgbClr val="F0FFF4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834640"/>
            <a:ext cx="91440" cy="20574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80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 ALL minority class examples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sample from majority class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Result: ~2,500 balanced Gold Standard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Stratified 70/15/15 split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weights in training loss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170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Gold Standard Splits</a:t>
            </a:r>
            <a:endParaRPr lang="en-US" sz="1200" dirty="0"/>
          </a:p>
        </p:txBody>
      </p:sp>
      <p:pic>
        <p:nvPicPr>
          <p:cNvPr id="16" name="Image 0" descr="C:/Users/yoni1/Desktop/ZEROSHO_CODE/results/figures/manchester/09_gold_standard_spl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463040"/>
            <a:ext cx="4251960" cy="219456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617720" y="3611880"/>
            <a:ext cx="146304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54296" y="364845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80760" y="3611880"/>
            <a:ext cx="91440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17336" y="36484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Total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95160" y="3611880"/>
            <a:ext cx="77724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31736" y="3648456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772400" y="3611880"/>
            <a:ext cx="68580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08976" y="364845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458200" y="3611880"/>
            <a:ext cx="68580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94776" y="364845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617720" y="3941064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54296" y="39776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080760" y="3941064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17336" y="397764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2,427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995160" y="3941064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31736" y="3977640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1,698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772400" y="3941064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08976" y="3977640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458200" y="3941064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494776" y="3977640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617720" y="4270248"/>
            <a:ext cx="14630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54296" y="430682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080760" y="4270248"/>
            <a:ext cx="9144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17336" y="430682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~2,500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995160" y="4270248"/>
            <a:ext cx="7772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031736" y="4306824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~1,750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772400" y="4270248"/>
            <a:ext cx="6858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808976" y="4306824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~375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458200" y="4270248"/>
            <a:ext cx="6858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494776" y="4306824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~375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617720" y="4599432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54296" y="463600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080760" y="4599432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117336" y="463600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~2,500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995160" y="4599432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031736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~1,750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7772400" y="4599432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08976" y="4636008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8458200" y="4599432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494776" y="4636008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Fine-Tuning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approach — learning from labeled 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34440"/>
            <a:ext cx="3200400" cy="43891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344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Tweet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66420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746504"/>
            <a:ext cx="3200400" cy="43891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74650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(BPE)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217627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258568"/>
            <a:ext cx="32004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25856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Embeddings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t1 t2 ... [SEP]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268833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770632"/>
            <a:ext cx="320040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27706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Transformer Layers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(125M params)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320040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282696"/>
            <a:ext cx="3200400" cy="43891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32826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Representation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(768-dim)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371246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794760"/>
            <a:ext cx="3200400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37947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→ 2 (Linear)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54480" y="422452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306824"/>
            <a:ext cx="3200400" cy="43891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430682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/ misinformation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1207008"/>
            <a:ext cx="516636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8620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822192" y="1691640"/>
            <a:ext cx="146304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67912" y="17282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285232" y="1691640"/>
            <a:ext cx="137160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0952" y="17282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56832" y="1691640"/>
            <a:ext cx="214884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02552" y="172821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822192" y="2020824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67912" y="2057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285232" y="2020824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30952" y="2057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2e-5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56832" y="2020824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02552" y="20574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catastrophic forgetting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822192" y="2350008"/>
            <a:ext cx="14630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67912" y="2386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285232" y="2350008"/>
            <a:ext cx="13716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30952" y="23865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656832" y="2350008"/>
            <a:ext cx="21488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02552" y="238658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balance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822192" y="2679192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67912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(max)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285232" y="2679192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30952" y="2715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656832" y="2679192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02552" y="27157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early stopping (patience=2)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822192" y="3008376"/>
            <a:ext cx="14630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67912" y="3044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Ratio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285232" y="3008376"/>
            <a:ext cx="13716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30952" y="3044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656832" y="3008376"/>
            <a:ext cx="21488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02552" y="30449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LR increase at start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822192" y="3337560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67912" y="3374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285232" y="333756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30952" y="33741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Cross-Entropy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656832" y="3337560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02552" y="33741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class imbalance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822192" y="3666744"/>
            <a:ext cx="14630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67912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285232" y="3666744"/>
            <a:ext cx="13716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30952" y="3703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(mixed)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656832" y="3666744"/>
            <a:ext cx="21488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02552" y="37033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GPU training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3822192" y="3995928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67912" y="4032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285232" y="3995928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30952" y="40325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656832" y="3995928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02552" y="40325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3749040" y="4206240"/>
            <a:ext cx="5166360" cy="685800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3886200" y="4251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5-Fold Stratified Cross-Validation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3886200" y="4507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split into 5 equal parts → train on 4, validate on 1 → rotate → report mean ± std F1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+ Final Test Set Evaluation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— 5-Fold CV</a:t>
            </a:r>
            <a:endParaRPr lang="en-US" sz="1100" dirty="0"/>
          </a:p>
        </p:txBody>
      </p:sp>
      <p:pic>
        <p:nvPicPr>
          <p:cNvPr id="8" name="Image 0" descr="C:/Users/yoni1/Desktop/ZEROSHO_CODE/results/figures/manchester/manchester_roberta_cv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63040"/>
            <a:ext cx="4114800" cy="2103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63440" y="1170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— Test Set Confusion Matrix</a:t>
            </a:r>
            <a:endParaRPr lang="en-US" sz="1100" dirty="0"/>
          </a:p>
        </p:txBody>
      </p:sp>
      <p:pic>
        <p:nvPicPr>
          <p:cNvPr id="10" name="Image 1" descr="C:/Users/yoni1/Desktop/ZEROSHO_CODE/results/figures/manchester/manchester_roberta_test_c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63040"/>
            <a:ext cx="4206240" cy="21031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36393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Results — All Datasets (RoBERTa Fine-Tuned)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3922776"/>
            <a:ext cx="141732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56616" y="3950208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737360" y="3922776"/>
            <a:ext cx="173736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773936" y="395020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 Macro (mean ± std)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474720" y="3922776"/>
            <a:ext cx="109728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11296" y="395020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 Macro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0" y="3922776"/>
            <a:ext cx="105156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08576" y="3950208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623560" y="3922776"/>
            <a:ext cx="109728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60136" y="395020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Precision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720840" y="3922776"/>
            <a:ext cx="109728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757416" y="395020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Recall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20040" y="4206240"/>
            <a:ext cx="14173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56616" y="4233672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1737360" y="4206240"/>
            <a:ext cx="17373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773936" y="423367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0.961 ± 0.012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474720" y="4206240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511296" y="4233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572000" y="4206240"/>
            <a:ext cx="1051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08576" y="4233672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0.992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623560" y="4206240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660136" y="4233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720840" y="4206240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757416" y="4233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320040" y="4489704"/>
            <a:ext cx="141732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56616" y="4517136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1737360" y="4489704"/>
            <a:ext cx="173736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773936" y="4517136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0.893 ± 0.014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3474720" y="4489704"/>
            <a:ext cx="109728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511296" y="451713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572000" y="4489704"/>
            <a:ext cx="105156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608576" y="4517136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5623560" y="4489704"/>
            <a:ext cx="109728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660136" y="451713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6720840" y="4489704"/>
            <a:ext cx="109728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757416" y="451713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320040" y="4773168"/>
            <a:ext cx="14173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56616" y="4800600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1737360" y="4773168"/>
            <a:ext cx="17373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1773936" y="480060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0.599 ± 0.007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3474720" y="4773168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511296" y="480060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0.598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4572000" y="4773168"/>
            <a:ext cx="1051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608576" y="4800600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0.822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5623560" y="4773168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5660136" y="480060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0.627</a:t>
            </a:r>
            <a:endParaRPr lang="en-US" sz="1000" dirty="0"/>
          </a:p>
        </p:txBody>
      </p:sp>
      <p:sp>
        <p:nvSpPr>
          <p:cNvPr id="58" name="Shape 54"/>
          <p:cNvSpPr/>
          <p:nvPr/>
        </p:nvSpPr>
        <p:spPr>
          <a:xfrm>
            <a:off x="6720840" y="4773168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757416" y="480060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Classification — Ollama + Llama 3.1 8B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examples required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07008"/>
            <a:ext cx="41148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How Zero-Shot Works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7190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173736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runs Llama 3.1 8B locally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API key, no internet required)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185416"/>
            <a:ext cx="54864" cy="12801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3134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233172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Chain-of-Thought prompt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dataset-specific class definitions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54864" cy="12801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9077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" y="292608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reasons step-by-step,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outputs structured JSON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374136"/>
            <a:ext cx="54864" cy="12801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5021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352044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 → extract label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keyword scan in raw 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54864" cy="12801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40965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" y="411480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every 50 tweets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(resume if interrupted)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1207008"/>
            <a:ext cx="4251960" cy="3703320"/>
          </a:xfrm>
          <a:prstGeom prst="rect">
            <a:avLst/>
          </a:prstGeom>
          <a:solidFill>
            <a:srgbClr val="1A1A2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126187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Structure (Chain-of-Thought)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81728" y="1609344"/>
            <a:ext cx="411480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expert fact-checker...
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the 2017 Manchester Arena bombing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CLASSES:
</a:t>
            </a:r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"reliable": factually accurate...
</a:t>
            </a:r>
            <a:pPr indent="0" marL="0">
              <a:buNone/>
            </a:pPr>
            <a:r>
              <a:rPr lang="en-US" sz="950" dirty="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"misinformation": false claims...
</a:t>
            </a:r>
            <a:pPr indent="0" marL="0">
              <a:buNone/>
            </a:pPr>
            <a:r>
              <a:rPr lang="en-US" sz="9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TWEET: """[tweet text]"""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INSTRUCTIONS:
</a:t>
            </a:r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step-by-step:
</a:t>
            </a:r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What claim does the tweet make?
</a:t>
            </a:r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Verifiable facts or emotional?
</a:t>
            </a:r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Conspiracy signals?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JSON:
</a:t>
            </a:r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{"reasoning": "...",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"label": "reliable",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"confidence": 0.87}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81728" y="46177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temperature=0  (deterministic output)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Comparison — RoBERTa vs Llama 3.1 Zero-Shot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on all three datasets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100" dirty="0"/>
          </a:p>
        </p:txBody>
      </p:sp>
      <p:pic>
        <p:nvPicPr>
          <p:cNvPr id="8" name="Image 0" descr="C:/Users/yoni1/Desktop/ZEROSHO_CODE/results/figures/manchester/manchester_comparison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44752"/>
            <a:ext cx="2834640" cy="2057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0" y="11704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(Manchester)</a:t>
            </a:r>
            <a:endParaRPr lang="en-US" sz="1100" dirty="0"/>
          </a:p>
        </p:txBody>
      </p:sp>
      <p:pic>
        <p:nvPicPr>
          <p:cNvPr id="10" name="Image 1" descr="C:/Users/yoni1/Desktop/ZEROSHO_CODE/results/figures/manchester/manchester_comparison_c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444752"/>
            <a:ext cx="5577840" cy="2057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— Final Summary</a:t>
            </a:r>
            <a:endParaRPr lang="en-US" sz="1100" dirty="0"/>
          </a:p>
        </p:txBody>
      </p:sp>
      <p:pic>
        <p:nvPicPr>
          <p:cNvPr id="12" name="Image 2" descr="C:/Users/yoni1/Desktop/ZEROSHO_CODE/results/figures/manchester/manchester_final_sum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3632"/>
            <a:ext cx="2834640" cy="10972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246120" y="3611880"/>
            <a:ext cx="5577840" cy="1417320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3383280" y="36576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Finding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83280" y="39776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RoBERTa Fine-Tuned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higher F1 Macro overall (trained on domain-specific data)
</a:t>
            </a:r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 3.1 8B Zero-Shot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competitive performance — </a:t>
            </a:r>
            <a:pPr indent="0" marL="0">
              <a:buNone/>
            </a:pPr>
            <a:r>
              <a:rPr lang="en-US" sz="10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examples used
</a:t>
            </a:r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McNemar's Test: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performance differences are statistically significant (p &lt; 0.05)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54864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Completed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 datasets preprocessed &amp; Gold Standards created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7922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RoBERTa-base fine-tuned on each dataset (5-Fold CV)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Zero-Shot with Llama 3.1 8B via Ollama (local)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633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evaluation: F1 Macro, Confusion Matrices, McNemar test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Comparison figures &amp; Master Results CSV generated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06240" cy="3977640"/>
          </a:xfrm>
          <a:prstGeom prst="rect">
            <a:avLst/>
          </a:prstGeom>
          <a:solidFill>
            <a:srgbClr val="0A2540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4206240" cy="3840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9875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Phase 2 — Planned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481328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85232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 120B  (via Groq API)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85232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open-source, 120B params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322576"/>
            <a:ext cx="3977640" cy="91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487168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🦙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285232" y="2560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 (via Groq API)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85232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Meta, 70B dense model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328416"/>
            <a:ext cx="3977640" cy="91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493008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285232" y="3566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32B  (via Groq API)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85232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Alibaba, 32B with thinking mode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5537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determine whether bigger models = better zero-shot performance (scaling law)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model is the one that generalizes — with or without training."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Zero-Shot vs Fine-Tuned LLMs for Misinformation Detection</dc:title>
  <dc:subject>PptxGenJS Presentation</dc:subject>
  <dc:creator>PptxGenJS</dc:creator>
  <cp:lastModifiedBy>PptxGenJS</cp:lastModifiedBy>
  <cp:revision>1</cp:revision>
  <dcterms:created xsi:type="dcterms:W3CDTF">2026-06-11T15:55:11Z</dcterms:created>
  <dcterms:modified xsi:type="dcterms:W3CDTF">2026-06-11T15:55:11Z</dcterms:modified>
</cp:coreProperties>
</file>