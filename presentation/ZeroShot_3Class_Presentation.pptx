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822960"/>
            <a:ext cx="4206240" cy="4206240"/>
          </a:xfrm>
          <a:prstGeom prst="ellipse">
            <a:avLst/>
          </a:prstGeom>
          <a:solidFill>
            <a:srgbClr val="0077A8">
              <a:alpha val="22000"/>
            </a:srgbClr>
          </a:solidFill>
          <a:ln w="12700">
            <a:solidFill>
              <a:srgbClr val="0077A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70832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Misinformation on Twitter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RoBERTa vs Zero-Shot LLM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7548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3-Class Study:  reliable  ·  misinformation  ·  unrelated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Arena 2017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324612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 2022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324612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0077A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 2015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Yoni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Why Three Classes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binary task to a realistic three-way decision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large language model with NO training examples detect misinformation as well as a RoBERTa model fine-tuned on thousands of labeled tweets — now across three classes?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26517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68880"/>
            <a:ext cx="2651760" cy="4572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4688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" y="3063240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Factually accurate, verified, or plausible information about the event.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0" y="2468880"/>
            <a:ext cx="26517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468880"/>
            <a:ext cx="265176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24688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28416" y="3063240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False, unverified, or misleading claims — rumours, conspiracy theories, fabrications.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2468880"/>
            <a:ext cx="26517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468880"/>
            <a:ext cx="2651760" cy="457200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24688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63056" y="3063240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tweet matched the search keywords but is not actually about the event — noise.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18120" y="2542032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254203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A4AE"/>
                </a:solidFill>
              </a:rPr>
              <a:t>NEW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misinformation across three domains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234440"/>
            <a:ext cx="28346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34440"/>
            <a:ext cx="2834640" cy="45720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Arena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99032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89,147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3408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99032" y="23408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852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99032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/ misinfo / unrelated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364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99032" y="33649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Terror attack (2017)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7832" y="1234440"/>
            <a:ext cx="28346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234440"/>
            <a:ext cx="283464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319272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5584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70832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~6,287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23408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70832" y="23408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4,043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2852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70832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/ misinfo / unrelated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55848" y="3364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70832" y="33649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crisis (2022)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1234440"/>
            <a:ext cx="28346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1234440"/>
            <a:ext cx="2834640" cy="457200"/>
          </a:xfrm>
          <a:prstGeom prst="rect">
            <a:avLst/>
          </a:prstGeom>
          <a:solidFill>
            <a:srgbClr val="6A0572"/>
          </a:solidFill>
          <a:ln/>
        </p:spPr>
      </p:sp>
      <p:sp>
        <p:nvSpPr>
          <p:cNvPr id="31" name="Text 29"/>
          <p:cNvSpPr/>
          <p:nvPr/>
        </p:nvSpPr>
        <p:spPr>
          <a:xfrm>
            <a:off x="6291072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2764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42632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62,445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27648" y="23408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42632" y="23408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27648" y="2852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42632" y="28529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not_rumour / rumour / unrelated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27648" y="3364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42632" y="33649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news (2015)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4160520"/>
            <a:ext cx="8613648" cy="713232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420624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gold standard:  </a:t>
            </a:r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1,500 tweets per class, stratified 70 / 15 / 15 into train / validation / test. Test sets are near-balanced across the three classes.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'unrelated' Class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relevance filter, tailored to each dataset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234440"/>
            <a:ext cx="28346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34440"/>
            <a:ext cx="2834640" cy="475488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3444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Manchester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relevance filter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2304288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"reliable" tweet that mentions NONE of the event keywords (arena, bomb, Ariana, Abedi, …) is re-labelled unrelated — plus the 3 native "Not related" tweets.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4370832"/>
            <a:ext cx="2578608" cy="365760"/>
          </a:xfrm>
          <a:prstGeom prst="roundRect">
            <a:avLst>
              <a:gd name="adj" fmla="val 12500"/>
            </a:avLst>
          </a:prstGeom>
          <a:solidFill>
            <a:srgbClr val="EBF5FB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37083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2,539 unrelated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1234440"/>
            <a:ext cx="28346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234440"/>
            <a:ext cx="2834640" cy="4754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23444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Monkeypox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55848" y="182880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ternary label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55848" y="2304288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already ships a 3-way annotation (ternary_class). Class 9 — generic / off-topic tweets — is mapped directly to unrelated.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55848" y="4370832"/>
            <a:ext cx="2578608" cy="365760"/>
          </a:xfrm>
          <a:prstGeom prst="roundRect">
            <a:avLst>
              <a:gd name="adj" fmla="val 12500"/>
            </a:avLst>
          </a:prstGeom>
          <a:solidFill>
            <a:srgbClr val="EBF5FB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437083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2,647 unrelated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9632" y="1234440"/>
            <a:ext cx="28346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99632" y="1234440"/>
            <a:ext cx="2834640" cy="475488"/>
          </a:xfrm>
          <a:prstGeom prst="rect">
            <a:avLst/>
          </a:prstGeom>
          <a:solidFill>
            <a:srgbClr val="6A0572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23444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PHEME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7648" y="182880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Topic-based filter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27648" y="2304288"/>
            <a:ext cx="2578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whose topic is 'unknown' (not tied to any tracked event, Charlie Hebdo / Ferguson) become unrelated, regardless of rumour status.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27648" y="4370832"/>
            <a:ext cx="2578608" cy="365760"/>
          </a:xfrm>
          <a:prstGeom prst="roundRect">
            <a:avLst>
              <a:gd name="adj" fmla="val 12500"/>
            </a:avLst>
          </a:prstGeom>
          <a:solidFill>
            <a:srgbClr val="EBF5FB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437083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9,589 unrelated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vs zero-shot prompting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34440"/>
            <a:ext cx="41148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4114800" cy="502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 ·  Fine-Tuned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 (125M params)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3591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8437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cross-entropy loss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Hyper-params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3284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2e-5 · batch 16 · ≤4 epochs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13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8130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 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4297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GPU (RTX 4070 SUPER), fp16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234440"/>
            <a:ext cx="41148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234440"/>
            <a:ext cx="4114800" cy="5029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234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 ·  Zero-Shot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fully local, no API / internet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23591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zero labeled examples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8437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8437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Chain-of-Thought, 3 class definitions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3284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3284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JSON: label + reasoning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813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8130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 (deterministic)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4297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keyword-fallback parser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Test Confusion Matrices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diagonal: the fine-tuned model rarely confuses classes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 (F1 0.965)</a:t>
            </a:r>
            <a:endParaRPr lang="en-US" sz="1100" dirty="0"/>
          </a:p>
        </p:txBody>
      </p:sp>
      <p:pic>
        <p:nvPicPr>
          <p:cNvPr id="8" name="Image 0" descr="C:/Users/yoni1/Desktop/ZEROSHO_CODE/results/figures/manchester/manchester_roberta_test_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705305"/>
            <a:ext cx="2834640" cy="2441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46120" y="1234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  (F1 0.869)</a:t>
            </a:r>
            <a:endParaRPr lang="en-US" sz="1100" dirty="0"/>
          </a:p>
        </p:txBody>
      </p:sp>
      <p:pic>
        <p:nvPicPr>
          <p:cNvPr id="10" name="Image 1" descr="C:/Users/yoni1/Desktop/ZEROSHO_CODE/results/figures/monkeypox/monkeypox_roberta_test_c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705305"/>
            <a:ext cx="2834640" cy="24415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0" y="1234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  (F1 0.658)</a:t>
            </a:r>
            <a:endParaRPr lang="en-US" sz="1100" dirty="0"/>
          </a:p>
        </p:txBody>
      </p:sp>
      <p:pic>
        <p:nvPicPr>
          <p:cNvPr id="12" name="Image 2" descr="C:/Users/yoni1/Desktop/ZEROSHO_CODE/results/figures/pheme/pheme_roberta_test_c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05305"/>
            <a:ext cx="2834640" cy="24415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11480" y="44622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&amp; Monkeypox are cleanly separated; PHEME stays hardest — rumour vs not_rumour needs event context a single tweet lacks.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5-Fold Cross-Validation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confusion matrix + per-fold F1 (low variance = stable model)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618488"/>
            <a:ext cx="1143000" cy="41148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1848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100" dirty="0"/>
          </a:p>
        </p:txBody>
      </p:sp>
      <p:pic>
        <p:nvPicPr>
          <p:cNvPr id="9" name="Image 0" descr="C:/Users/yoni1/Desktop/ZEROSHO_CODE/results/figures/manchester/manchester_roberta_cv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6033" y="1207008"/>
            <a:ext cx="3492094" cy="12252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2880360"/>
            <a:ext cx="11430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28803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100" dirty="0"/>
          </a:p>
        </p:txBody>
      </p:sp>
      <p:pic>
        <p:nvPicPr>
          <p:cNvPr id="12" name="Image 1" descr="C:/Users/yoni1/Desktop/ZEROSHO_CODE/results/figures/monkeypox/monkeypox_roberta_cv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033" y="2468880"/>
            <a:ext cx="3492094" cy="12252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4142232"/>
            <a:ext cx="1143000" cy="411480"/>
          </a:xfrm>
          <a:prstGeom prst="rect">
            <a:avLst/>
          </a:prstGeom>
          <a:solidFill>
            <a:srgbClr val="6A0572"/>
          </a:solidFill>
          <a:ln/>
        </p:spPr>
      </p:sp>
      <p:sp>
        <p:nvSpPr>
          <p:cNvPr id="14" name="Text 10"/>
          <p:cNvSpPr/>
          <p:nvPr/>
        </p:nvSpPr>
        <p:spPr>
          <a:xfrm>
            <a:off x="274320" y="41422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100" dirty="0"/>
          </a:p>
        </p:txBody>
      </p:sp>
      <p:pic>
        <p:nvPicPr>
          <p:cNvPr id="15" name="Image 2" descr="C:/Users/yoni1/Desktop/ZEROSHO_CODE/results/figures/pheme/pheme_roberta_cv_resul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033" y="3730752"/>
            <a:ext cx="3492094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ROC / PR &amp; Per-Fold Metrics (Manchester)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curves for the 3-class 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070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ROC &amp; Precision–Recall  (macro ROC-AUC 0.996, PR-AUC 0.990)</a:t>
            </a:r>
            <a:endParaRPr lang="en-US" sz="1100" dirty="0"/>
          </a:p>
        </p:txBody>
      </p:sp>
      <p:pic>
        <p:nvPicPr>
          <p:cNvPr id="8" name="Image 0" descr="C:/Users/yoni1/Desktop/ZEROSHO_CODE/results/figures/manchester/manchester_roberta_roc_pr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046" y="1481328"/>
            <a:ext cx="5213909" cy="182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34015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 Metrics Heatmap (5-fold CV)</a:t>
            </a:r>
            <a:endParaRPr lang="en-US" sz="1100" dirty="0"/>
          </a:p>
        </p:txBody>
      </p:sp>
      <p:pic>
        <p:nvPicPr>
          <p:cNvPr id="10" name="Image 1" descr="C:/Users/yoni1/Desktop/ZEROSHO_CODE/results/figures/manchester/manchester_roberta_cv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640" y="3657600"/>
            <a:ext cx="3192719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Test Results (all datasets)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upper bound for the 3-class task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600200"/>
            <a:ext cx="14173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64592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37360" y="1600200"/>
            <a:ext cx="18745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73936" y="164592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(mean ± std)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11880" y="1600200"/>
            <a:ext cx="11887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16459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Macro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600200"/>
            <a:ext cx="10515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16459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1600200"/>
            <a:ext cx="10515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8736" y="16459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1600200"/>
            <a:ext cx="100584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0296" y="16459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09560" y="1600200"/>
            <a:ext cx="109728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6136" y="16459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Weighted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057400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210312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37360" y="2057400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73936" y="210312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 ± 0.007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11880" y="20574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1031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057400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21031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52160" y="2057400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88736" y="21031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03720" y="20574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0296" y="21031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09560" y="205740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46136" y="21031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2514600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256032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737360" y="2514600"/>
            <a:ext cx="18745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73936" y="256032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0.859 ± 0.005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11880" y="2514600"/>
            <a:ext cx="11887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48456" y="25603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00600" y="2514600"/>
            <a:ext cx="10515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37176" y="25603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852160" y="2514600"/>
            <a:ext cx="10515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88736" y="25603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0.868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03720" y="2514600"/>
            <a:ext cx="10058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0296" y="25603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909560" y="2514600"/>
            <a:ext cx="10972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46136" y="25603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20040" y="2971800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" y="301752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737360" y="2971800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73936" y="301752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0.633 ± 0.016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11880" y="297180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48456" y="30175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0.658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800600" y="2971800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37176" y="30175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0.656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852160" y="2971800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88736" y="30175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03720" y="2971800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0296" y="30175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0.656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909560" y="297180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46136" y="30175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0.658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20040" y="3566160"/>
            <a:ext cx="8503920" cy="1280160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57200" y="3630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57200" y="390448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CV mean ≈ Test score for every dataset → no overfitting (e.g. Manchester 0.965 CV vs 0.965 Test).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Weighted cross-entropy handles the smaller misinformation class (Manchester has only 64 test cases).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PHEME is intrinsically hard: rumour detection on isolated tweets caps accuracy near 0.66.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— Llama 3.1 8B via Ollama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examples — only a well-engineered prompt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07008"/>
            <a:ext cx="41148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550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runs Llama 3.1 8B locally (no key, no internet)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365760" cy="36576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1671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Chain-of-Thought prompt with the 3 class definitions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365760" cy="36576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67919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first checks: is the tweet on-topic at all?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365760" cy="36576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19125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step-by-step, then emits structured 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39896"/>
            <a:ext cx="365760" cy="36576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70332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→ label; keyword-fallback if malformed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2153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every 50 tweets (resume-safe)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1207008"/>
            <a:ext cx="4206240" cy="3703320"/>
          </a:xfrm>
          <a:prstGeom prst="rect">
            <a:avLst/>
          </a:prstGeom>
          <a:solidFill>
            <a:srgbClr val="1A1A2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36592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(Chain-of-Thought, 3-class)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18304" y="1591056"/>
            <a:ext cx="40233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fact-checker...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this tweet about &lt;topic&gt;.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CLASSES:
</a:t>
            </a:r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"reliable": accurate info...
</a:t>
            </a:r>
            <a:pPr indent="0" marL="0">
              <a:buNone/>
            </a:pPr>
            <a:r>
              <a:rPr lang="en-US" sz="9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"misinformation": false claims...
</a:t>
            </a:r>
            <a:pPr indent="0" marL="0">
              <a:buNone/>
            </a:pPr>
            <a:r>
              <a:rPr lang="en-US" sz="950" dirty="0">
                <a:solidFill>
                  <a:srgbClr val="C0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"unrelated": not about the event...
</a:t>
            </a:r>
            <a:pPr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TWEET: """&lt;text&gt;"""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step-by-step: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 Is it on-topic, or unrelated?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 What claim is made?
</a:t>
            </a:r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 Verifiable, or conspiracy signals?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JSON:
</a:t>
            </a:r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{"reasoning":"...",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"label":"unrelated",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"confidence":0.83}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— Confusion Matrices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uses all three labels, but confuses them far more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 (F1 0.651)</a:t>
            </a:r>
            <a:endParaRPr lang="en-US" sz="1100" dirty="0"/>
          </a:p>
        </p:txBody>
      </p:sp>
      <p:pic>
        <p:nvPicPr>
          <p:cNvPr id="8" name="Image 0" descr="C:/Users/yoni1/Desktop/ZEROSHO_CODE/results/figures/manchester/manchester_zeroshot_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2169" y="1188720"/>
            <a:ext cx="3331342" cy="12070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432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  (F1 0.644)</a:t>
            </a:r>
            <a:endParaRPr lang="en-US" sz="1100" dirty="0"/>
          </a:p>
        </p:txBody>
      </p:sp>
      <p:pic>
        <p:nvPicPr>
          <p:cNvPr id="10" name="Image 1" descr="C:/Users/yoni1/Desktop/ZEROSHO_CODE/results/figures/monkeypox/monkeypox_zeroshot_c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69" y="2432304"/>
            <a:ext cx="3331342" cy="12070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  (F1 0.320)</a:t>
            </a:r>
            <a:endParaRPr lang="en-US" sz="1100" dirty="0"/>
          </a:p>
        </p:txBody>
      </p:sp>
      <p:pic>
        <p:nvPicPr>
          <p:cNvPr id="12" name="Image 2" descr="C:/Users/yoni1/Desktop/ZEROSHO_CODE/results/figures/pheme/pheme_zeroshot_c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169" y="3675888"/>
            <a:ext cx="3331342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— Confidence &amp; Parse Quality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confidence vs correctness (Manchester)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C:/Users/yoni1/Desktop/ZEROSHO_CODE/results/figures/manchester/manchester_zeroshot_conf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86098"/>
            <a:ext cx="5669280" cy="19885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234440"/>
            <a:ext cx="27432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1325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reliability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63640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63640" y="2002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 / 515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63640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predictions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63640" y="2569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63640" y="2916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fallback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63640" y="3136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3640" y="3483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6364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&amp; overconfident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6364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confident even when wrong — confidence is not a reliable error signal.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— F1 Macro by Dataset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fine-tuned vs Llama 3.1 zero-shot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C:/Users/yoni1/Desktop/ZEROSHO_CODE/results/figures/comparison/comparison_grouped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703" y="1234440"/>
            <a:ext cx="8408594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160520"/>
            <a:ext cx="8595360" cy="713232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1480" y="41879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wins every dataset: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F1 = +0.314 (Manchester), +0.225 (Monkeypox), +0.338 (PHEME). Error bars = CV std.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Side by Side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RoBERTa  ·  Bottom: Zero-Shot  (all three datasets)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C:/Users/yoni1/Desktop/ZEROSHO_CODE/results/figures/comparison/comparison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134" y="1188720"/>
            <a:ext cx="6169731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Heatmap — All Metrics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metric, both models, all datasets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C:/Users/yoni1/Desktop/ZEROSHO_CODE/results/figures/comparison/comparis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59827"/>
            <a:ext cx="5852160" cy="310624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1207008"/>
            <a:ext cx="2606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1645920"/>
            <a:ext cx="2331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= higher score.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RoBERTa rows stay dark across every metric; the zero-shot rows fade — most sharply on PHEME.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consistent: it is not driven by a single metric.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 Curves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 per dataset (misinformation / rumour)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C:/Users/yoni1/Desktop/ZEROSHO_CODE/results/figures/comparison/comparison_pr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25" y="1234440"/>
            <a:ext cx="8419749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160520"/>
            <a:ext cx="8595360" cy="713232"/>
          </a:xfrm>
          <a:prstGeom prst="rect">
            <a:avLst/>
          </a:prstGeom>
          <a:solidFill>
            <a:srgbClr val="EBF5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1480" y="41879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keeps high precision deep into the recall range; the zero-shot curve collapses toward the baseline, confirming the F1 gap.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 &amp; Statistical Significance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3-class results — RoBERTa vs zero-shot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C:/Users/yoni1/Desktop/ZEROSHO_CODE/results/figures/comparison/comparison_final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153" y="1207008"/>
            <a:ext cx="6695694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611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 test (RoBERTa vs Zero-Shot)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3931920"/>
            <a:ext cx="2788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" y="3986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4261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 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significant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" y="4507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b=160, c=8  (RoBERTa-only-correct vs ZS-only-correct)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3931920"/>
            <a:ext cx="2788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10128" y="3986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Monkeypox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10128" y="4261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 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significant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10128" y="4507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b=164, c=27  (RoBERTa-only-correct vs ZS-only-correct)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26480" y="3931920"/>
            <a:ext cx="2788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236208" y="3986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36208" y="4261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 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significant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36208" y="4507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b=296, c=69  (RoBERTa-only-correct vs ZS-only-correct)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5029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0789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wins — decisively.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42646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beats zero-shot on all 3 datasets (Δ F1 +0.22 to +0.34), significant at p &lt; 0.0001.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9933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is still respectable.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34086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training, Llama 3.1 8B reaches F1 ≈ 0.65 on Manchester &amp; Monkeypox — usable as a cold-start baseline.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9077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class is learnable.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25526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use all three labels; RoBERTa separates "unrelated" almost perfectly, the LLM only partially.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8221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PHEME remains the hard case.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416966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Rumour detection on isolated tweets caps both models — context beyond a single tweet is needed.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· misinformation · unrelated   —   3-class misinformation classification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Zero-Shot vs Fine-Tuned LLMs for Misinformation Detection (3-Class)</dc:title>
  <dc:subject>PptxGenJS Presentation</dc:subject>
  <dc:creator>PptxGenJS</dc:creator>
  <cp:lastModifiedBy>PptxGenJS</cp:lastModifiedBy>
  <cp:revision>1</cp:revision>
  <dcterms:created xsi:type="dcterms:W3CDTF">2026-06-16T06:28:42Z</dcterms:created>
  <dcterms:modified xsi:type="dcterms:W3CDTF">2026-06-16T06:28:42Z</dcterms:modified>
</cp:coreProperties>
</file>