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21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6" r:id="rId34"/>
    <p:sldId id="273" r:id="rId24"/>
    <p:sldId id="274" r:id="rId25"/>
    <p:sldId id="275" r:id="rId26"/>
  </p:sldIdLst>
  <p:sldSz cy="5143500" cx="9144000"/>
  <p:notesSz cx="6858000" cy="9144000"/>
  <p:embeddedFontLst>
    <p:embeddedFont>
      <p:font typeface="Assistant Medium"/>
      <p:regular r:id="rId27"/>
      <p:bold r:id="rId28"/>
    </p:embeddedFont>
    <p:embeddedFont>
      <p:font typeface="Assistant SemiBold"/>
      <p:regular r:id="rId29"/>
      <p:bold r:id="rId30"/>
    </p:embeddedFont>
    <p:embeddedFont>
      <p:font typeface="Assistant"/>
      <p:regular r:id="rId31"/>
      <p:bold r:id="rId32"/>
    </p:embeddedFont>
    <p:embeddedFont>
      <p:font typeface="Assistant ExtraBold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6E7B18-D933-4BB6-8C4F-23904260E9A3}">
  <a:tblStyle styleId="{556E7B18-D933-4BB6-8C4F-23904260E9A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AssistantMedium-bold.fntdata"/><Relationship Id="rId27" Type="http://schemas.openxmlformats.org/officeDocument/2006/relationships/font" Target="fonts/AssistantMedium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AssistantSemiBold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Assistant-regular.fntdata"/><Relationship Id="rId30" Type="http://schemas.openxmlformats.org/officeDocument/2006/relationships/font" Target="fonts/AssistantSemiBold-bold.fntdata"/><Relationship Id="rId11" Type="http://schemas.openxmlformats.org/officeDocument/2006/relationships/slide" Target="slides/slide5.xml"/><Relationship Id="rId33" Type="http://schemas.openxmlformats.org/officeDocument/2006/relationships/font" Target="fonts/AssistantExtraBold-bold.fntdata"/><Relationship Id="rId10" Type="http://schemas.openxmlformats.org/officeDocument/2006/relationships/slide" Target="slides/slide4.xml"/><Relationship Id="rId32" Type="http://schemas.openxmlformats.org/officeDocument/2006/relationships/font" Target="fonts/Assistant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  <Relationship Id="rId34" Type="http://schemas.openxmlformats.org/officeDocument/2006/relationships/slide" Target="slides/slide21.xml"/>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e4223cb978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e4223cb978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4223cb978_0_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4223cb978_0_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רקע למחקר - נדבר על מודלי הLLM כתחליף למודלים מאומנים מבוססי transformerים. נדבר על הבעיה הספציפית שבה מתמקד המחקר שלנו.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4223cb978_0_5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e4223cb978_0_5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4223cb978_0_7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4223cb978_0_7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4223cb978_0_1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e4223cb978_0_1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4223cb978_0_1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e4223cb978_0_1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4223cb978_0_1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e4223cb978_0_1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4223cb978_0_1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e4223cb978_0_1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4223cb978_0_1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e4223cb978_0_1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e4223cb978_0_1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e4223cb978_0_1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e4223cb978_0_1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e4223cb978_0_1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d734dfba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ed734dfba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e4223cb978_0_1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e4223cb978_0_1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e4223cb978_0_14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e4223cb978_0_1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במחקר זה ניתן משקל מיוחד למדד F1-Macro,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משום שהוא בוחן את ביצועי המודל על כל מחלקה באופן מאוזן ואינו מאפשר למחלקת הרוב להסתיר ביצועים חלשים במחלקת המיעוט. 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הדבר חשוב במיוחד במשימות של מידע כוזב ושמועות, 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שבהן דווקא המחלקה הקריטית עשויה להיות קטנה יותר אך בעלת חשיבות מחקרית ויישומית גבוהה.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e4223cb978_0_1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e4223cb978_0_1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במחקר זה ניתן משקל מיוחד למדד F1-Macro,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משום שהוא בוחן את ביצועי המודל על כל מחלקה באופן מאוזן ואינו מאפשר למחלקת הרוב להסתיר ביצועים חלשים במחלקת המיעוט. 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הדבר חשוב במיוחד במשימות של מידע כוזב ושמועות, 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שבהן דווקא המחלקה הקריטית עשויה להיות קטנה יותר אך בעלת חשיבות מחקרית ויישומית גבוהה.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e4223cb978_0_1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e4223cb978_0_1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e4223cb978_0_1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e4223cb978_0_1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במחקר זה ניתן משקל מיוחד למדד F1-Macro,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משום שהוא בוחן את ביצועי המודל על כל מחלקה באופן מאוזן ואינו מאפשר למחלקת הרוב להסתיר ביצועים חלשים במחלקת המיעוט. 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הדבר חשוב במיוחד במשימות של מידע כוזב ושמועות, 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שבהן דווקא המחלקה הקריטית עשויה להיות קטנה יותר אך בעלת חשיבות מחקרית ויישומית גבוהה.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e4223cb978_0_1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e4223cb978_0_1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במחקר זה ניתן משקל מיוחד למדד F1-Macro,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משום שהוא בוחן את ביצועי המודל על כל מחלקה באופן מאוזן ואינו מאפשר למחלקת הרוב להסתיר ביצועים חלשים במחלקת המיעוט. 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הדבר חשוב במיוחד במשימות של מידע כוזב ושמועות, 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שבהן דווקא המחלקה הקריטית עשויה להיות קטנה יותר אך בעלת חשיבות מחקרית ויישומית גבוהה.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e4223cb978_0_1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e4223cb978_0_1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במחקר זה ניתן משקל מיוחד למדד F1-Macro,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משום שהוא בוחן את ביצועי המודל על כל מחלקה באופן מאוזן ואינו מאפשר למחלקת הרוב להסתיר ביצועים חלשים במחלקת המיעוט. 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הדבר חשוב במיוחד במשימות של מידע כוזב ושמועות, 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שבהן דווקא המחלקה הקריטית עשויה להיות קטנה יותר אך בעלת חשיבות מחקרית ויישומית גבוהה.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e4223cb978_0_3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e4223cb978_0_3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4223cb978_12_0)">
  <p:cSld name="Generated (g3e4223cb978_12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5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1.png"/><Relationship Id="rId4" Type="http://schemas.openxmlformats.org/officeDocument/2006/relationships/image" Target="../media/image_events_heatmap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/>
          <p:nvPr/>
        </p:nvSpPr>
        <p:spPr>
          <a:xfrm>
            <a:off x="0" y="0"/>
            <a:ext cx="31773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4"/>
          <p:cNvSpPr/>
          <p:nvPr/>
        </p:nvSpPr>
        <p:spPr>
          <a:xfrm>
            <a:off x="3333750" y="666750"/>
            <a:ext cx="38100" cy="3810000"/>
          </a:xfrm>
          <a:prstGeom prst="rect">
            <a:avLst/>
          </a:prstGeom>
          <a:solidFill>
            <a:srgbClr val="1A237E">
              <a:alpha val="3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" name="Google Shape;58;p14"/>
          <p:cNvGrpSpPr/>
          <p:nvPr/>
        </p:nvGrpSpPr>
        <p:grpSpPr>
          <a:xfrm>
            <a:off x="3831850" y="666750"/>
            <a:ext cx="5048400" cy="3429000"/>
            <a:chOff x="0" y="0"/>
            <a:chExt cx="5048400" cy="3429000"/>
          </a:xfrm>
        </p:grpSpPr>
        <p:sp>
          <p:nvSpPr>
            <p:cNvPr id="59" name="Google Shape;59;p14"/>
            <p:cNvSpPr txBox="1"/>
            <p:nvPr/>
          </p:nvSpPr>
          <p:spPr>
            <a:xfrm>
              <a:off x="0" y="0"/>
              <a:ext cx="5048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w" sz="2500">
                  <a:solidFill>
                    <a:srgbClr val="1A237E"/>
                  </a:solidFill>
                  <a:latin typeface="Assistant ExtraBold"/>
                  <a:ea typeface="Assistant ExtraBold"/>
                  <a:cs typeface="Assistant ExtraBold"/>
                  <a:sym typeface="Assistant ExtraBold"/>
                </a:rPr>
                <a:t>סיווג ציוצים (Tweets) באמצעות מודלי שפה גדולים (LLM) </a:t>
              </a:r>
              <a:r>
                <a:rPr b="1" lang="iw" sz="2500">
                  <a:solidFill>
                    <a:srgbClr val="1A237E"/>
                  </a:solidFill>
                  <a:latin typeface="Assistant"/>
                  <a:ea typeface="Assistant"/>
                  <a:cs typeface="Assistant"/>
                  <a:sym typeface="Assistant"/>
                </a:rPr>
                <a:t>בגישת Zero-Shot למידע כוזב</a:t>
              </a:r>
              <a:endParaRPr b="0" sz="2500">
                <a:solidFill>
                  <a:srgbClr val="1A237E"/>
                </a:solidFill>
                <a:latin typeface="Assistant ExtraBold"/>
                <a:ea typeface="Assistant ExtraBold"/>
                <a:cs typeface="Assistant ExtraBold"/>
                <a:sym typeface="Assistant ExtraBold"/>
              </a:endParaRPr>
            </a:p>
          </p:txBody>
        </p:sp>
        <p:sp>
          <p:nvSpPr>
            <p:cNvPr id="60" name="Google Shape;60;p14"/>
            <p:cNvSpPr txBox="1"/>
            <p:nvPr/>
          </p:nvSpPr>
          <p:spPr>
            <a:xfrm>
              <a:off x="0" y="1428750"/>
              <a:ext cx="5048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2000">
                  <a:solidFill>
                    <a:srgbClr val="3949AB"/>
                  </a:solidFill>
                  <a:latin typeface="Assistant"/>
                  <a:ea typeface="Assistant"/>
                  <a:cs typeface="Assistant"/>
                  <a:sym typeface="Assistant"/>
                </a:rPr>
                <a:t>תוצאות סופיות</a:t>
              </a:r>
              <a:endParaRPr b="0" sz="2000">
                <a:solidFill>
                  <a:srgbClr val="3949AB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61" name="Google Shape;61;p14"/>
            <p:cNvSpPr/>
            <p:nvPr/>
          </p:nvSpPr>
          <p:spPr>
            <a:xfrm>
              <a:off x="3333750" y="2095500"/>
              <a:ext cx="1714500" cy="19200"/>
            </a:xfrm>
            <a:prstGeom prst="rect">
              <a:avLst/>
            </a:prstGeom>
            <a:solidFill>
              <a:srgbClr val="1A237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4"/>
            <p:cNvSpPr txBox="1"/>
            <p:nvPr/>
          </p:nvSpPr>
          <p:spPr>
            <a:xfrm>
              <a:off x="0" y="2286000"/>
              <a:ext cx="5048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w" sz="1400">
                  <a:solidFill>
                    <a:srgbClr val="5C6BC0"/>
                  </a:solidFill>
                  <a:latin typeface="Assistant SemiBold"/>
                  <a:ea typeface="Assistant SemiBold"/>
                  <a:cs typeface="Assistant SemiBold"/>
                  <a:sym typeface="Assistant SemiBold"/>
                </a:rPr>
                <a:t>מגישים: יהונתן שדה ושובל ברמלי</a:t>
              </a:r>
              <a:endParaRPr b="0" sz="1400">
                <a:solidFill>
                  <a:srgbClr val="5C6BC0"/>
                </a:solidFill>
                <a:latin typeface="Assistant SemiBold"/>
                <a:ea typeface="Assistant SemiBold"/>
                <a:cs typeface="Assistant SemiBold"/>
                <a:sym typeface="Assistant SemiBold"/>
              </a:endParaRPr>
            </a:p>
            <a:p>
              <a:pPr indent="0" lvl="0" marL="0" rtl="1" algn="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iw" sz="1400">
                  <a:solidFill>
                    <a:srgbClr val="5C6BC0"/>
                  </a:solidFill>
                  <a:latin typeface="Assistant SemiBold"/>
                  <a:ea typeface="Assistant SemiBold"/>
                  <a:cs typeface="Assistant SemiBold"/>
                  <a:sym typeface="Assistant SemiBold"/>
                </a:rPr>
                <a:t>מנחה: ד"ר אבי יוסיפוף</a:t>
              </a:r>
              <a:endParaRPr b="0" sz="1400">
                <a:solidFill>
                  <a:srgbClr val="5C6BC0"/>
                </a:solidFill>
                <a:latin typeface="Assistant SemiBold"/>
                <a:ea typeface="Assistant SemiBold"/>
                <a:cs typeface="Assistant SemiBold"/>
                <a:sym typeface="Assistant SemiBold"/>
              </a:endParaRPr>
            </a:p>
            <a:p>
              <a:pPr indent="0" lvl="0" marL="0" rtl="1" algn="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iw" sz="1200">
                  <a:solidFill>
                    <a:srgbClr val="7986CB"/>
                  </a:solidFill>
                  <a:latin typeface="Assistant"/>
                  <a:ea typeface="Assistant"/>
                  <a:cs typeface="Assistant"/>
                  <a:sym typeface="Assistant"/>
                </a:rPr>
                <a:t>המרכז האקדמי למשפט ולעסקים | סדנה לפרוייקטים- פרויקט גמר</a:t>
              </a:r>
              <a:endParaRPr b="0" sz="1200">
                <a:solidFill>
                  <a:srgbClr val="7986CB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sp>
        <p:nvSpPr>
          <p:cNvPr id="63" name="Google Shape;63;p14"/>
          <p:cNvSpPr txBox="1"/>
          <p:nvPr/>
        </p:nvSpPr>
        <p:spPr>
          <a:xfrm>
            <a:off x="7239000" y="4572000"/>
            <a:ext cx="1428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w" sz="1200">
                <a:solidFill>
                  <a:srgbClr val="7986CB"/>
                </a:solidFill>
                <a:latin typeface="Assistant"/>
                <a:ea typeface="Assistant"/>
                <a:cs typeface="Assistant"/>
                <a:sym typeface="Assistant"/>
              </a:rPr>
              <a:t>מאי 2026 | תשפ"ו</a:t>
            </a:r>
            <a:endParaRPr b="0" sz="1200">
              <a:solidFill>
                <a:srgbClr val="7986CB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 rotWithShape="1">
          <a:blip r:embed="rId3">
            <a:alphaModFix/>
          </a:blip>
          <a:srcRect b="0" l="19144" r="19082" t="0"/>
          <a:stretch/>
        </p:blipFill>
        <p:spPr>
          <a:xfrm>
            <a:off x="0" y="0"/>
            <a:ext cx="3177302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831850" y="666750"/>
            <a:ext cx="50484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" sz="2800">
                <a:solidFill>
                  <a:srgbClr val="1A237E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תוכן עניינים</a:t>
            </a:r>
            <a:endParaRPr b="0" i="0" sz="2800">
              <a:solidFill>
                <a:srgbClr val="1A237E"/>
              </a:solidFill>
              <a:latin typeface="Assistant ExtraBold"/>
              <a:ea typeface="Assistant ExtraBold"/>
              <a:cs typeface="Assistant ExtraBold"/>
              <a:sym typeface="Assistant ExtraBold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831850" y="1333500"/>
            <a:ext cx="50484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1" algn="r">
              <a:spcBef>
                <a:spcPts val="0"/>
              </a:spcBef>
              <a:spcAft>
                <a:spcPts val="0"/>
              </a:spcAft>
              <a:buClr>
                <a:srgbClr val="3949AB"/>
              </a:buClr>
              <a:buSzPts val="1800"/>
              <a:buFont typeface="Assistant"/>
              <a:buAutoNum type="arabicPeriod"/>
            </a:pPr>
            <a:r>
              <a:rPr b="0" i="0" lang="iw" sz="1800">
                <a:solidFill>
                  <a:srgbClr val="3949AB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רקע למחקר</a:t>
            </a:r>
            <a:endParaRPr b="0" i="0" sz="1800">
              <a:solidFill>
                <a:srgbClr val="3949AB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  <a:p>
            <a:pPr indent="-342900" lvl="0" marL="457200" rtl="1" algn="r">
              <a:spcBef>
                <a:spcPts val="1200"/>
              </a:spcBef>
              <a:spcAft>
                <a:spcPts val="0"/>
              </a:spcAft>
              <a:buClr>
                <a:srgbClr val="3949AB"/>
              </a:buClr>
              <a:buSzPts val="1800"/>
              <a:buFont typeface="Assistant"/>
              <a:buAutoNum type="arabicPeriod"/>
            </a:pPr>
            <a:r>
              <a:rPr b="0" i="0" lang="iw" sz="1800">
                <a:solidFill>
                  <a:srgbClr val="3949AB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מטרת המחקר ורציונל</a:t>
            </a:r>
            <a:endParaRPr b="0" i="0" sz="1800">
              <a:solidFill>
                <a:srgbClr val="3949AB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  <a:p>
            <a:pPr indent="-342900" lvl="0" marL="457200" rtl="1" algn="r">
              <a:spcBef>
                <a:spcPts val="1200"/>
              </a:spcBef>
              <a:spcAft>
                <a:spcPts val="0"/>
              </a:spcAft>
              <a:buClr>
                <a:srgbClr val="3949AB"/>
              </a:buClr>
              <a:buSzPts val="1800"/>
              <a:buFont typeface="Assistant"/>
              <a:buAutoNum type="arabicPeriod"/>
            </a:pPr>
            <a:r>
              <a:rPr b="0" i="0" lang="iw" sz="1800">
                <a:solidFill>
                  <a:srgbClr val="3949AB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השערת המחקר</a:t>
            </a:r>
            <a:endParaRPr b="0" i="0" sz="1800">
              <a:solidFill>
                <a:srgbClr val="3949AB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  <a:p>
            <a:pPr indent="-342900" lvl="0" marL="457200" rtl="1" algn="r">
              <a:spcBef>
                <a:spcPts val="1200"/>
              </a:spcBef>
              <a:spcAft>
                <a:spcPts val="0"/>
              </a:spcAft>
              <a:buClr>
                <a:srgbClr val="3949AB"/>
              </a:buClr>
              <a:buSzPts val="1800"/>
              <a:buFont typeface="Assistant"/>
              <a:buAutoNum type="arabicPeriod"/>
            </a:pPr>
            <a:r>
              <a:rPr b="0" i="0" lang="iw" sz="1800">
                <a:solidFill>
                  <a:srgbClr val="3949AB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שיטה</a:t>
            </a:r>
            <a:endParaRPr b="0" i="0" sz="1800">
              <a:solidFill>
                <a:srgbClr val="3949AB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  <a:p>
            <a:pPr indent="-342900" lvl="0" marL="457200" rtl="1" algn="r">
              <a:spcBef>
                <a:spcPts val="1200"/>
              </a:spcBef>
              <a:spcAft>
                <a:spcPts val="0"/>
              </a:spcAft>
              <a:buClr>
                <a:srgbClr val="3949AB"/>
              </a:buClr>
              <a:buSzPts val="1800"/>
              <a:buFont typeface="Assistant"/>
              <a:buAutoNum type="arabicPeriod"/>
            </a:pPr>
            <a:r>
              <a:rPr b="0" i="0" lang="iw" sz="1800">
                <a:solidFill>
                  <a:srgbClr val="3949AB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תוצאות</a:t>
            </a:r>
            <a:endParaRPr b="0" i="0" sz="1800">
              <a:solidFill>
                <a:srgbClr val="3949AB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  <a:p>
            <a:pPr indent="-342900" lvl="0" marL="457200" rtl="1" algn="r">
              <a:spcBef>
                <a:spcPts val="1200"/>
              </a:spcBef>
              <a:spcAft>
                <a:spcPts val="0"/>
              </a:spcAft>
              <a:buClr>
                <a:srgbClr val="3949AB"/>
              </a:buClr>
              <a:buSzPts val="1800"/>
              <a:buFont typeface="Assistant"/>
              <a:buAutoNum type="arabicPeriod"/>
            </a:pPr>
            <a:r>
              <a:rPr b="0" i="0" lang="iw" sz="1800">
                <a:solidFill>
                  <a:srgbClr val="3949AB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תוכנית עבודה</a:t>
            </a:r>
            <a:endParaRPr b="0" i="0" sz="1800">
              <a:solidFill>
                <a:srgbClr val="3949AB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7239000" y="4572000"/>
            <a:ext cx="1428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w" sz="1000">
                <a:solidFill>
                  <a:srgbClr val="7986CB"/>
                </a:solidFill>
                <a:latin typeface="Assistant"/>
                <a:ea typeface="Assistant"/>
                <a:cs typeface="Assistant"/>
                <a:sym typeface="Assistant"/>
              </a:rPr>
              <a:t>מאי 2026 | תשפ"ו</a:t>
            </a:r>
            <a:endParaRPr b="0" sz="1000">
              <a:solidFill>
                <a:srgbClr val="7986CB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 b="46176" l="22264" r="0" t="0"/>
          <a:stretch/>
        </p:blipFill>
        <p:spPr>
          <a:xfrm>
            <a:off x="0" y="2656275"/>
            <a:ext cx="4366576" cy="248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/>
          <p:nvPr/>
        </p:nvSpPr>
        <p:spPr>
          <a:xfrm>
            <a:off x="6096000" y="0"/>
            <a:ext cx="3048000" cy="514350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" name="Google Shape;78;p16"/>
          <p:cNvGrpSpPr/>
          <p:nvPr/>
        </p:nvGrpSpPr>
        <p:grpSpPr>
          <a:xfrm>
            <a:off x="895386" y="2590904"/>
            <a:ext cx="4900746" cy="152552"/>
            <a:chOff x="895350" y="2590800"/>
            <a:chExt cx="4895850" cy="152400"/>
          </a:xfrm>
        </p:grpSpPr>
        <p:pic>
          <p:nvPicPr>
            <p:cNvPr id="79" name="Google Shape;79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52500" y="2657475"/>
              <a:ext cx="4762500" cy="1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16"/>
            <p:cNvSpPr/>
            <p:nvPr/>
          </p:nvSpPr>
          <p:spPr>
            <a:xfrm>
              <a:off x="895350" y="2609850"/>
              <a:ext cx="114300" cy="114300"/>
            </a:xfrm>
            <a:prstGeom prst="ellipse">
              <a:avLst/>
            </a:prstGeom>
            <a:solidFill>
              <a:srgbClr val="1A237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6"/>
            <p:cNvSpPr/>
            <p:nvPr/>
          </p:nvSpPr>
          <p:spPr>
            <a:xfrm>
              <a:off x="3276600" y="2609850"/>
              <a:ext cx="114300" cy="114300"/>
            </a:xfrm>
            <a:prstGeom prst="ellips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6"/>
            <p:cNvSpPr/>
            <p:nvPr/>
          </p:nvSpPr>
          <p:spPr>
            <a:xfrm>
              <a:off x="5638800" y="2590800"/>
              <a:ext cx="152400" cy="152400"/>
            </a:xfrm>
            <a:prstGeom prst="ellipse">
              <a:avLst/>
            </a:prstGeom>
            <a:solidFill>
              <a:srgbClr val="5C6BC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" name="Google Shape;83;p16"/>
          <p:cNvSpPr txBox="1"/>
          <p:nvPr>
            <p:ph type="title"/>
          </p:nvPr>
        </p:nvSpPr>
        <p:spPr>
          <a:xfrm>
            <a:off x="666750" y="476250"/>
            <a:ext cx="5048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iw" sz="2800">
                <a:solidFill>
                  <a:srgbClr val="1A237E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רקע </a:t>
            </a:r>
            <a:endParaRPr b="0" sz="2800">
              <a:solidFill>
                <a:srgbClr val="1A237E"/>
              </a:solidFill>
              <a:latin typeface="Assistant ExtraBold"/>
              <a:ea typeface="Assistant ExtraBold"/>
              <a:cs typeface="Assistant ExtraBold"/>
              <a:sym typeface="Assistant ExtraBold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476250" y="1428750"/>
            <a:ext cx="14289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w" sz="1800">
                <a:solidFill>
                  <a:srgbClr val="1A237E"/>
                </a:solidFill>
                <a:latin typeface="Assistant"/>
                <a:ea typeface="Assistant"/>
                <a:cs typeface="Assistant"/>
                <a:sym typeface="Assistant"/>
              </a:rPr>
              <a:t>2017</a:t>
            </a:r>
            <a:endParaRPr b="1" sz="1800">
              <a:solidFill>
                <a:srgbClr val="1A237E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w" sz="1400">
                <a:solidFill>
                  <a:srgbClr val="1A237E"/>
                </a:solidFill>
                <a:latin typeface="Assistant"/>
                <a:ea typeface="Assistant"/>
                <a:cs typeface="Assistant"/>
                <a:sym typeface="Assistant"/>
              </a:rPr>
              <a:t>Transformer</a:t>
            </a:r>
            <a:endParaRPr b="1" sz="1400">
              <a:solidFill>
                <a:srgbClr val="1A237E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iw" sz="1100">
                <a:solidFill>
                  <a:srgbClr val="595959"/>
                </a:solidFill>
                <a:latin typeface="Assistant"/>
                <a:ea typeface="Assistant"/>
                <a:cs typeface="Assistant"/>
                <a:sym typeface="Assistant"/>
              </a:rPr>
              <a:t>הבסיס המודרני ל-‎NLP</a:t>
            </a:r>
            <a:endParaRPr b="0" sz="1100">
              <a:solidFill>
                <a:srgbClr val="595959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2619375" y="1428750"/>
            <a:ext cx="14289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w" sz="1800">
                <a:solidFill>
                  <a:srgbClr val="3949AB"/>
                </a:solidFill>
                <a:latin typeface="Assistant"/>
                <a:ea typeface="Assistant"/>
                <a:cs typeface="Assistant"/>
                <a:sym typeface="Assistant"/>
              </a:rPr>
              <a:t>2020</a:t>
            </a:r>
            <a:endParaRPr b="1" sz="1800">
              <a:solidFill>
                <a:srgbClr val="3949AB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w" sz="1400">
                <a:solidFill>
                  <a:srgbClr val="3949AB"/>
                </a:solidFill>
                <a:latin typeface="Assistant"/>
                <a:ea typeface="Assistant"/>
                <a:cs typeface="Assistant"/>
                <a:sym typeface="Assistant"/>
              </a:rPr>
              <a:t>GPT-3 / LLMs</a:t>
            </a:r>
            <a:endParaRPr b="1" sz="1400">
              <a:solidFill>
                <a:srgbClr val="3949AB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iw" sz="1100">
                <a:solidFill>
                  <a:srgbClr val="595959"/>
                </a:solidFill>
                <a:latin typeface="Assistant"/>
                <a:ea typeface="Assistant"/>
                <a:cs typeface="Assistant"/>
                <a:sym typeface="Assistant"/>
              </a:rPr>
              <a:t>מודל יחיד למשימות רבות</a:t>
            </a:r>
            <a:endParaRPr b="0" sz="1100">
              <a:solidFill>
                <a:srgbClr val="595959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4762500" y="1428750"/>
            <a:ext cx="14289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w" sz="1800">
                <a:solidFill>
                  <a:srgbClr val="5C6BC0"/>
                </a:solidFill>
                <a:latin typeface="Assistant"/>
                <a:ea typeface="Assistant"/>
                <a:cs typeface="Assistant"/>
                <a:sym typeface="Assistant"/>
              </a:rPr>
              <a:t>היום</a:t>
            </a:r>
            <a:endParaRPr b="1" sz="1800">
              <a:solidFill>
                <a:srgbClr val="5C6BC0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w" sz="1400">
                <a:solidFill>
                  <a:srgbClr val="5C6BC0"/>
                </a:solidFill>
                <a:latin typeface="Assistant"/>
                <a:ea typeface="Assistant"/>
                <a:cs typeface="Assistant"/>
                <a:sym typeface="Assistant"/>
              </a:rPr>
              <a:t>Zero-Shot</a:t>
            </a:r>
            <a:endParaRPr b="1" sz="1400">
              <a:solidFill>
                <a:srgbClr val="5C6BC0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iw" sz="1100">
                <a:solidFill>
                  <a:srgbClr val="595959"/>
                </a:solidFill>
                <a:latin typeface="Assistant"/>
                <a:ea typeface="Assistant"/>
                <a:cs typeface="Assistant"/>
                <a:sym typeface="Assistant"/>
              </a:rPr>
              <a:t>שימוש מיידי ללא אימון</a:t>
            </a:r>
            <a:endParaRPr b="0" sz="1100">
              <a:solidFill>
                <a:srgbClr val="595959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grpSp>
        <p:nvGrpSpPr>
          <p:cNvPr id="87" name="Google Shape;87;p16"/>
          <p:cNvGrpSpPr/>
          <p:nvPr/>
        </p:nvGrpSpPr>
        <p:grpSpPr>
          <a:xfrm>
            <a:off x="585788" y="2986088"/>
            <a:ext cx="5210100" cy="1305000"/>
            <a:chOff x="585788" y="2986088"/>
            <a:chExt cx="5210100" cy="1305000"/>
          </a:xfrm>
        </p:grpSpPr>
        <p:pic>
          <p:nvPicPr>
            <p:cNvPr id="88" name="Google Shape;88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85788" y="2986088"/>
              <a:ext cx="5210100" cy="130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" name="Google Shape;89;p16"/>
            <p:cNvSpPr txBox="1"/>
            <p:nvPr/>
          </p:nvSpPr>
          <p:spPr>
            <a:xfrm>
              <a:off x="857250" y="3190875"/>
              <a:ext cx="4667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1200">
                  <a:solidFill>
                    <a:srgbClr val="1A237E"/>
                  </a:solidFill>
                  <a:latin typeface="Assistant"/>
                  <a:ea typeface="Assistant"/>
                  <a:cs typeface="Assistant"/>
                  <a:sym typeface="Assistant"/>
                </a:rPr>
                <a:t>Fine-Tuning: הגישה המסורתית</a:t>
              </a:r>
              <a:endParaRPr b="1" sz="1200">
                <a:solidFill>
                  <a:srgbClr val="1A237E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rtl="1" algn="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iw" sz="1200">
                  <a:solidFill>
                    <a:srgbClr val="595959"/>
                  </a:solidFill>
                  <a:latin typeface="Assistant"/>
                  <a:ea typeface="Assistant"/>
                  <a:cs typeface="Assistant"/>
                  <a:sym typeface="Assistant"/>
                </a:rPr>
                <a:t>מודלים כמו </a:t>
              </a:r>
              <a:r>
                <a:rPr b="0" lang="iw" sz="1200">
                  <a:solidFill>
                    <a:srgbClr val="595959"/>
                  </a:solidFill>
                  <a:latin typeface="Assistant SemiBold"/>
                  <a:ea typeface="Assistant SemiBold"/>
                  <a:cs typeface="Assistant SemiBold"/>
                  <a:sym typeface="Assistant SemiBold"/>
                </a:rPr>
                <a:t>BERT, RoBERTa, MiniLM</a:t>
              </a:r>
              <a:r>
                <a:rPr lang="iw" sz="1200">
                  <a:solidFill>
                    <a:srgbClr val="595959"/>
                  </a:solidFill>
                  <a:latin typeface="Assistant"/>
                  <a:ea typeface="Assistant"/>
                  <a:cs typeface="Assistant"/>
                  <a:sym typeface="Assistant"/>
                </a:rPr>
                <a:t> דורשים אימון ייעודי לכל משימה ספציפית כדי להגיע לביצועים אופטימליים.</a:t>
              </a:r>
              <a:endParaRPr sz="1200">
                <a:solidFill>
                  <a:srgbClr val="595959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sp>
        <p:nvSpPr>
          <p:cNvPr id="90" name="Google Shape;90;p16"/>
          <p:cNvSpPr txBox="1"/>
          <p:nvPr/>
        </p:nvSpPr>
        <p:spPr>
          <a:xfrm>
            <a:off x="6286500" y="666750"/>
            <a:ext cx="26670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iw" sz="2000">
                <a:solidFill>
                  <a:srgbClr val="1A237E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מושגי יסוד</a:t>
            </a:r>
            <a:endParaRPr b="0" sz="2000">
              <a:solidFill>
                <a:srgbClr val="1A237E"/>
              </a:solidFill>
              <a:latin typeface="Assistant ExtraBold"/>
              <a:ea typeface="Assistant ExtraBold"/>
              <a:cs typeface="Assistant ExtraBold"/>
              <a:sym typeface="Assistant ExtraBold"/>
            </a:endParaRPr>
          </a:p>
          <a:p>
            <a:pPr indent="0" lvl="0" marL="0" rtl="1" algn="r">
              <a:spcBef>
                <a:spcPts val="1500"/>
              </a:spcBef>
              <a:spcAft>
                <a:spcPts val="0"/>
              </a:spcAft>
              <a:buNone/>
            </a:pPr>
            <a:r>
              <a:rPr b="1" lang="iw" sz="1400">
                <a:solidFill>
                  <a:srgbClr val="1A237E"/>
                </a:solidFill>
                <a:latin typeface="Assistant"/>
                <a:ea typeface="Assistant"/>
                <a:cs typeface="Assistant"/>
                <a:sym typeface="Assistant"/>
              </a:rPr>
              <a:t>Fine Tuning</a:t>
            </a:r>
            <a:endParaRPr b="1" sz="1400">
              <a:solidFill>
                <a:srgbClr val="1A237E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spcBef>
                <a:spcPts val="375"/>
              </a:spcBef>
              <a:spcAft>
                <a:spcPts val="0"/>
              </a:spcAft>
              <a:buNone/>
            </a:pPr>
            <a:r>
              <a:rPr lang="iw" sz="1100">
                <a:solidFill>
                  <a:srgbClr val="3949AB"/>
                </a:solidFill>
                <a:latin typeface="Assistant"/>
                <a:ea typeface="Assistant"/>
                <a:cs typeface="Assistant"/>
                <a:sym typeface="Assistant"/>
              </a:rPr>
              <a:t>כוונון עדין של מודל קיים על דאטה ספציפי ומתויג לשיפור הדיוק במשימה מוגדרת.</a:t>
            </a:r>
            <a:endParaRPr sz="1100">
              <a:solidFill>
                <a:srgbClr val="3949AB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spcBef>
                <a:spcPts val="1875"/>
              </a:spcBef>
              <a:spcAft>
                <a:spcPts val="0"/>
              </a:spcAft>
              <a:buNone/>
            </a:pPr>
            <a:r>
              <a:rPr b="1" lang="iw" sz="1400">
                <a:solidFill>
                  <a:srgbClr val="1A237E"/>
                </a:solidFill>
                <a:latin typeface="Assistant"/>
                <a:ea typeface="Assistant"/>
                <a:cs typeface="Assistant"/>
                <a:sym typeface="Assistant"/>
              </a:rPr>
              <a:t>Zero Shot</a:t>
            </a:r>
            <a:endParaRPr b="1" sz="1400">
              <a:solidFill>
                <a:srgbClr val="1A237E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spcBef>
                <a:spcPts val="375"/>
              </a:spcBef>
              <a:spcAft>
                <a:spcPts val="0"/>
              </a:spcAft>
              <a:buNone/>
            </a:pPr>
            <a:r>
              <a:rPr lang="iw" sz="1100">
                <a:solidFill>
                  <a:srgbClr val="3949AB"/>
                </a:solidFill>
                <a:latin typeface="Assistant"/>
                <a:ea typeface="Assistant"/>
                <a:cs typeface="Assistant"/>
                <a:sym typeface="Assistant"/>
              </a:rPr>
              <a:t>יכולת המודל לבצע משימה מבלי שנחשף לדוגמאות ממנה במהלך האימון, בהתבסס על הבנה כללית בלבד.</a:t>
            </a:r>
            <a:endParaRPr sz="1100">
              <a:solidFill>
                <a:srgbClr val="3949AB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ctr">
              <a:spcBef>
                <a:spcPts val="1875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7986CB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/>
        </p:nvSpPr>
        <p:spPr>
          <a:xfrm>
            <a:off x="4019800" y="476250"/>
            <a:ext cx="1757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iw" sz="3200">
                <a:solidFill>
                  <a:srgbClr val="1A237E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מה עדיף?</a:t>
            </a:r>
            <a:endParaRPr b="0" sz="3200">
              <a:solidFill>
                <a:srgbClr val="1A237E"/>
              </a:solidFill>
              <a:latin typeface="Assistant ExtraBold"/>
              <a:ea typeface="Assistant ExtraBold"/>
              <a:cs typeface="Assistant ExtraBold"/>
              <a:sym typeface="Assistant ExtraBold"/>
            </a:endParaRPr>
          </a:p>
        </p:txBody>
      </p:sp>
      <p:grpSp>
        <p:nvGrpSpPr>
          <p:cNvPr id="96" name="Google Shape;96;p17"/>
          <p:cNvGrpSpPr/>
          <p:nvPr/>
        </p:nvGrpSpPr>
        <p:grpSpPr>
          <a:xfrm>
            <a:off x="2231575" y="1428750"/>
            <a:ext cx="5334150" cy="1905000"/>
            <a:chOff x="666750" y="1428750"/>
            <a:chExt cx="5334150" cy="1905000"/>
          </a:xfrm>
        </p:grpSpPr>
        <p:sp>
          <p:nvSpPr>
            <p:cNvPr id="97" name="Google Shape;97;p17"/>
            <p:cNvSpPr/>
            <p:nvPr/>
          </p:nvSpPr>
          <p:spPr>
            <a:xfrm>
              <a:off x="666750" y="1428750"/>
              <a:ext cx="2381400" cy="1905000"/>
            </a:xfrm>
            <a:prstGeom prst="roundRect">
              <a:avLst>
                <a:gd fmla="val 7500" name="adj"/>
              </a:avLst>
            </a:prstGeom>
            <a:solidFill>
              <a:srgbClr val="F5F5F5"/>
            </a:solidFill>
            <a:ln cap="flat" cmpd="sng" w="19050">
              <a:solidFill>
                <a:srgbClr val="3949A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7"/>
            <p:cNvSpPr txBox="1"/>
            <p:nvPr/>
          </p:nvSpPr>
          <p:spPr>
            <a:xfrm>
              <a:off x="666750" y="1428750"/>
              <a:ext cx="23814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2400">
                  <a:solidFill>
                    <a:srgbClr val="1A237E"/>
                  </a:solidFill>
                  <a:latin typeface="Assistant"/>
                  <a:ea typeface="Assistant"/>
                  <a:cs typeface="Assistant"/>
                  <a:sym typeface="Assistant"/>
                </a:rPr>
                <a:t>Zero Shot</a:t>
              </a:r>
              <a:endParaRPr b="1" sz="2400">
                <a:solidFill>
                  <a:srgbClr val="1A237E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rtl="1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iw" sz="1400">
                  <a:solidFill>
                    <a:srgbClr val="595959"/>
                  </a:solidFill>
                  <a:latin typeface="Assistant"/>
                  <a:ea typeface="Assistant"/>
                  <a:cs typeface="Assistant"/>
                  <a:sym typeface="Assistant"/>
                </a:rPr>
                <a:t>באמצעות מודל LLM</a:t>
              </a:r>
              <a:endParaRPr b="0" sz="1400">
                <a:solidFill>
                  <a:srgbClr val="595959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rtl="1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iw" sz="3200">
                  <a:solidFill>
                    <a:srgbClr val="3949A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speed</a:t>
              </a:r>
              <a:endParaRPr sz="3200">
                <a:solidFill>
                  <a:srgbClr val="3949A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99" name="Google Shape;99;p17"/>
            <p:cNvSpPr txBox="1"/>
            <p:nvPr/>
          </p:nvSpPr>
          <p:spPr>
            <a:xfrm>
              <a:off x="3048000" y="2143125"/>
              <a:ext cx="571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w" sz="2000">
                  <a:solidFill>
                    <a:srgbClr val="7986CB"/>
                  </a:solidFill>
                  <a:latin typeface="Assistant ExtraBold"/>
                  <a:ea typeface="Assistant ExtraBold"/>
                  <a:cs typeface="Assistant ExtraBold"/>
                  <a:sym typeface="Assistant ExtraBold"/>
                </a:rPr>
                <a:t>או</a:t>
              </a:r>
              <a:endParaRPr b="0" sz="2000">
                <a:solidFill>
                  <a:srgbClr val="7986CB"/>
                </a:solidFill>
                <a:latin typeface="Assistant ExtraBold"/>
                <a:ea typeface="Assistant ExtraBold"/>
                <a:cs typeface="Assistant ExtraBold"/>
                <a:sym typeface="Assistant ExtraBold"/>
              </a:endParaRPr>
            </a:p>
          </p:txBody>
        </p:sp>
        <p:sp>
          <p:nvSpPr>
            <p:cNvPr id="100" name="Google Shape;100;p17"/>
            <p:cNvSpPr/>
            <p:nvPr/>
          </p:nvSpPr>
          <p:spPr>
            <a:xfrm>
              <a:off x="3619500" y="1428750"/>
              <a:ext cx="2381400" cy="1905000"/>
            </a:xfrm>
            <a:prstGeom prst="roundRect">
              <a:avLst>
                <a:gd fmla="val 7500" name="adj"/>
              </a:avLst>
            </a:prstGeom>
            <a:solidFill>
              <a:srgbClr val="F5F5F5"/>
            </a:solidFill>
            <a:ln cap="flat" cmpd="sng" w="19050">
              <a:solidFill>
                <a:srgbClr val="1A23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7"/>
            <p:cNvSpPr txBox="1"/>
            <p:nvPr/>
          </p:nvSpPr>
          <p:spPr>
            <a:xfrm>
              <a:off x="3619500" y="1428750"/>
              <a:ext cx="23814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2400">
                  <a:solidFill>
                    <a:srgbClr val="1A237E"/>
                  </a:solidFill>
                  <a:latin typeface="Assistant"/>
                  <a:ea typeface="Assistant"/>
                  <a:cs typeface="Assistant"/>
                  <a:sym typeface="Assistant"/>
                </a:rPr>
                <a:t>Fine Tuning</a:t>
              </a:r>
              <a:endParaRPr b="1" sz="2400">
                <a:solidFill>
                  <a:srgbClr val="1A237E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rtl="1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iw" sz="1400">
                  <a:solidFill>
                    <a:srgbClr val="595959"/>
                  </a:solidFill>
                  <a:latin typeface="Assistant"/>
                  <a:ea typeface="Assistant"/>
                  <a:cs typeface="Assistant"/>
                  <a:sym typeface="Assistant"/>
                </a:rPr>
                <a:t>מודל NLP מבוסס Transformers</a:t>
              </a:r>
              <a:endParaRPr b="0" sz="1400">
                <a:solidFill>
                  <a:srgbClr val="595959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rtl="1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iw" sz="3200">
                  <a:solidFill>
                    <a:srgbClr val="1A237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3200">
                <a:solidFill>
                  <a:srgbClr val="1A237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sp>
        <p:nvSpPr>
          <p:cNvPr id="102" name="Google Shape;102;p17"/>
          <p:cNvSpPr txBox="1"/>
          <p:nvPr/>
        </p:nvSpPr>
        <p:spPr>
          <a:xfrm>
            <a:off x="5046225" y="3612700"/>
            <a:ext cx="2412600" cy="12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 sz="2000">
                <a:solidFill>
                  <a:srgbClr val="1A237E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קריטריונים:</a:t>
            </a:r>
            <a:endParaRPr b="0" sz="2000">
              <a:solidFill>
                <a:srgbClr val="1A237E"/>
              </a:solidFill>
              <a:latin typeface="Assistant ExtraBold"/>
              <a:ea typeface="Assistant ExtraBold"/>
              <a:cs typeface="Assistant ExtraBold"/>
              <a:sym typeface="Assistant ExtraBold"/>
            </a:endParaRPr>
          </a:p>
          <a:p>
            <a:pPr indent="-336550" lvl="0" marL="457200" rtl="1" algn="r">
              <a:spcBef>
                <a:spcPts val="1500"/>
              </a:spcBef>
              <a:spcAft>
                <a:spcPts val="0"/>
              </a:spcAft>
              <a:buClr>
                <a:srgbClr val="1A237E"/>
              </a:buClr>
              <a:buSzPts val="1700"/>
              <a:buFont typeface="Assistant"/>
              <a:buAutoNum type="arabicPeriod"/>
            </a:pPr>
            <a:r>
              <a:rPr b="1" lang="iw" sz="1700">
                <a:solidFill>
                  <a:srgbClr val="1A237E"/>
                </a:solidFill>
                <a:latin typeface="Assistant"/>
                <a:ea typeface="Assistant"/>
                <a:cs typeface="Assistant"/>
                <a:sym typeface="Assistant"/>
              </a:rPr>
              <a:t>דיוק</a:t>
            </a:r>
            <a:endParaRPr b="1" sz="1700">
              <a:solidFill>
                <a:srgbClr val="1A237E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36550" lvl="0" marL="457200" rtl="1" algn="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700"/>
              <a:buFont typeface="Assistant"/>
              <a:buAutoNum type="arabicPeriod"/>
            </a:pPr>
            <a:r>
              <a:rPr b="1" lang="iw" sz="1700">
                <a:solidFill>
                  <a:srgbClr val="1A237E"/>
                </a:solidFill>
                <a:latin typeface="Assistant"/>
                <a:ea typeface="Assistant"/>
                <a:cs typeface="Assistant"/>
                <a:sym typeface="Assistant"/>
              </a:rPr>
              <a:t>מהירות ביצועים</a:t>
            </a:r>
            <a:endParaRPr b="1" sz="1700">
              <a:solidFill>
                <a:srgbClr val="1A237E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/>
          <p:nvPr/>
        </p:nvSpPr>
        <p:spPr>
          <a:xfrm>
            <a:off x="0" y="0"/>
            <a:ext cx="3048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8" name="Google Shape;108;p18"/>
          <p:cNvGrpSpPr/>
          <p:nvPr/>
        </p:nvGrpSpPr>
        <p:grpSpPr>
          <a:xfrm>
            <a:off x="3619350" y="449025"/>
            <a:ext cx="5334000" cy="609600"/>
            <a:chOff x="381000" y="381000"/>
            <a:chExt cx="5334000" cy="609600"/>
          </a:xfrm>
        </p:grpSpPr>
        <p:sp>
          <p:nvSpPr>
            <p:cNvPr id="109" name="Google Shape;109;p18"/>
            <p:cNvSpPr txBox="1"/>
            <p:nvPr/>
          </p:nvSpPr>
          <p:spPr>
            <a:xfrm>
              <a:off x="381000" y="381000"/>
              <a:ext cx="5334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w" sz="2800">
                  <a:solidFill>
                    <a:srgbClr val="1E293B"/>
                  </a:solidFill>
                  <a:latin typeface="Assistant ExtraBold"/>
                  <a:ea typeface="Assistant ExtraBold"/>
                  <a:cs typeface="Assistant ExtraBold"/>
                  <a:sym typeface="Assistant ExtraBold"/>
                </a:rPr>
                <a:t>רקע: בעיית הציוצים הכוזבים</a:t>
              </a:r>
              <a:endParaRPr b="0" sz="2800">
                <a:solidFill>
                  <a:srgbClr val="1E293B"/>
                </a:solidFill>
                <a:latin typeface="Assistant ExtraBold"/>
                <a:ea typeface="Assistant ExtraBold"/>
                <a:cs typeface="Assistant ExtraBold"/>
                <a:sym typeface="Assistant ExtraBold"/>
              </a:endParaRPr>
            </a:p>
          </p:txBody>
        </p:sp>
        <p:sp>
          <p:nvSpPr>
            <p:cNvPr id="110" name="Google Shape;110;p18"/>
            <p:cNvSpPr/>
            <p:nvPr/>
          </p:nvSpPr>
          <p:spPr>
            <a:xfrm>
              <a:off x="5334000" y="952500"/>
              <a:ext cx="381000" cy="381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" name="Google Shape;111;p18"/>
          <p:cNvSpPr txBox="1"/>
          <p:nvPr/>
        </p:nvSpPr>
        <p:spPr>
          <a:xfrm>
            <a:off x="4340375" y="1190650"/>
            <a:ext cx="4476900" cy="207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302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Assistant"/>
              <a:buChar char="●"/>
            </a:pPr>
            <a:r>
              <a:rPr lang="iw" sz="1600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rPr>
              <a:t>Twitter/X - פלטפורמה שמאפשרת הפצת מידע מהירה בזמן</a:t>
            </a:r>
            <a:r>
              <a:rPr lang="iw" sz="1600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iw" sz="1600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rPr>
              <a:t>אמת.</a:t>
            </a:r>
            <a:endParaRPr sz="1600">
              <a:solidFill>
                <a:srgbClr val="475569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30200" lvl="0" marL="45720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Assistant"/>
              <a:buChar char="●"/>
            </a:pPr>
            <a:r>
              <a:rPr lang="iw" sz="1600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rPr>
              <a:t>לצד מידע אמין, מופצים גם שמועות ומידע כוזב</a:t>
            </a:r>
            <a:endParaRPr sz="1600">
              <a:solidFill>
                <a:srgbClr val="475569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30200" lvl="0" marL="45720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Assistant"/>
              <a:buChar char="●"/>
            </a:pPr>
            <a:r>
              <a:rPr lang="iw" sz="1600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rPr>
              <a:t>ציוצים קצרים ותלויי־הקשר מקשים על סיווג אוטומטי.</a:t>
            </a:r>
            <a:endParaRPr sz="1600">
              <a:solidFill>
                <a:srgbClr val="475569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30200" lvl="0" marL="45720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Assistant"/>
              <a:buChar char="●"/>
            </a:pPr>
            <a:r>
              <a:rPr lang="iw" sz="1600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rPr>
              <a:t>במצבי חירום, מידע כוזב משפיע על קבלת החלטות.</a:t>
            </a:r>
            <a:endParaRPr sz="1600">
              <a:solidFill>
                <a:srgbClr val="475569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grpSp>
        <p:nvGrpSpPr>
          <p:cNvPr id="112" name="Google Shape;112;p18"/>
          <p:cNvGrpSpPr/>
          <p:nvPr/>
        </p:nvGrpSpPr>
        <p:grpSpPr>
          <a:xfrm>
            <a:off x="190500" y="571500"/>
            <a:ext cx="2667000" cy="4000500"/>
            <a:chOff x="6286500" y="571500"/>
            <a:chExt cx="2667000" cy="4000500"/>
          </a:xfrm>
        </p:grpSpPr>
        <p:sp>
          <p:nvSpPr>
            <p:cNvPr id="113" name="Google Shape;113;p18"/>
            <p:cNvSpPr/>
            <p:nvPr/>
          </p:nvSpPr>
          <p:spPr>
            <a:xfrm>
              <a:off x="6286500" y="571500"/>
              <a:ext cx="2667000" cy="40005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8"/>
            <p:cNvSpPr txBox="1"/>
            <p:nvPr/>
          </p:nvSpPr>
          <p:spPr>
            <a:xfrm>
              <a:off x="6477000" y="762000"/>
              <a:ext cx="2286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1800">
                  <a:solidFill>
                    <a:srgbClr val="1E40AF"/>
                  </a:solidFill>
                  <a:latin typeface="Assistant"/>
                  <a:ea typeface="Assistant"/>
                  <a:cs typeface="Assistant"/>
                  <a:sym typeface="Assistant"/>
                </a:rPr>
                <a:t>שאלת המפתח:</a:t>
              </a:r>
              <a:endParaRPr b="1" sz="1800">
                <a:solidFill>
                  <a:srgbClr val="1E40AF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15" name="Google Shape;115;p18"/>
            <p:cNvSpPr txBox="1"/>
            <p:nvPr/>
          </p:nvSpPr>
          <p:spPr>
            <a:xfrm>
              <a:off x="6477000" y="1428750"/>
              <a:ext cx="2286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600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האם </a:t>
              </a:r>
              <a:r>
                <a:rPr b="1" lang="iw" sz="1600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Zero-Shot</a:t>
              </a:r>
              <a:r>
                <a:rPr lang="iw" sz="1600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 מספיק טוב למשימה רגישה כזו?</a:t>
              </a:r>
              <a:endParaRPr sz="1600">
                <a:solidFill>
                  <a:srgbClr val="334155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rtl="1" algn="r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iw" sz="1600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או שעדיין נדרש </a:t>
              </a:r>
              <a:r>
                <a:rPr b="1" lang="iw" sz="1600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Fine-Tuning</a:t>
              </a:r>
              <a:r>
                <a:rPr lang="iw" sz="1600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 ייעודי?</a:t>
              </a:r>
              <a:endParaRPr sz="1600">
                <a:solidFill>
                  <a:srgbClr val="334155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rtl="1" algn="r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iw" sz="1200">
                  <a:solidFill>
                    <a:srgbClr val="1D4ED8"/>
                  </a:solidFill>
                  <a:highlight>
                    <a:srgbClr val="EFF6FF"/>
                  </a:highlight>
                  <a:latin typeface="Assistant SemiBold"/>
                  <a:ea typeface="Assistant SemiBold"/>
                  <a:cs typeface="Assistant SemiBold"/>
                  <a:sym typeface="Assistant SemiBold"/>
                </a:rPr>
                <a:t>נדרש מודל מדויק לזיהוי שמועות בזמן אמת.</a:t>
              </a:r>
              <a:endParaRPr b="0" sz="1200">
                <a:solidFill>
                  <a:srgbClr val="1D4ED8"/>
                </a:solidFill>
                <a:highlight>
                  <a:srgbClr val="EFF6FF"/>
                </a:highlight>
                <a:latin typeface="Assistant SemiBold"/>
                <a:ea typeface="Assistant SemiBold"/>
                <a:cs typeface="Assistant SemiBold"/>
                <a:sym typeface="Assistant SemiBold"/>
              </a:endParaRPr>
            </a:p>
          </p:txBody>
        </p:sp>
      </p:grpSp>
      <p:pic>
        <p:nvPicPr>
          <p:cNvPr id="116" name="Google Shape;11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4950" y="3186375"/>
            <a:ext cx="2848401" cy="189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8"/>
          <p:cNvPicPr preferRelativeResize="0"/>
          <p:nvPr/>
        </p:nvPicPr>
        <p:blipFill rotWithShape="1">
          <a:blip r:embed="rId4">
            <a:alphaModFix/>
          </a:blip>
          <a:srcRect b="0" l="0" r="25334" t="0"/>
          <a:stretch/>
        </p:blipFill>
        <p:spPr>
          <a:xfrm>
            <a:off x="3082525" y="3186376"/>
            <a:ext cx="2797404" cy="18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/>
          <p:nvPr/>
        </p:nvSpPr>
        <p:spPr>
          <a:xfrm>
            <a:off x="6096000" y="0"/>
            <a:ext cx="3048000" cy="514350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3" name="Google Shape;123;p19"/>
          <p:cNvGrpSpPr/>
          <p:nvPr/>
        </p:nvGrpSpPr>
        <p:grpSpPr>
          <a:xfrm>
            <a:off x="476250" y="381000"/>
            <a:ext cx="5334000" cy="609600"/>
            <a:chOff x="476250" y="381000"/>
            <a:chExt cx="5334000" cy="609600"/>
          </a:xfrm>
        </p:grpSpPr>
        <p:sp>
          <p:nvSpPr>
            <p:cNvPr id="124" name="Google Shape;124;p19"/>
            <p:cNvSpPr/>
            <p:nvPr/>
          </p:nvSpPr>
          <p:spPr>
            <a:xfrm>
              <a:off x="476250" y="381000"/>
              <a:ext cx="5334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9"/>
            <p:cNvSpPr txBox="1"/>
            <p:nvPr/>
          </p:nvSpPr>
          <p:spPr>
            <a:xfrm>
              <a:off x="476250" y="381000"/>
              <a:ext cx="5334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w" sz="2800">
                  <a:solidFill>
                    <a:srgbClr val="1A237E"/>
                  </a:solidFill>
                  <a:latin typeface="Assistant ExtraBold"/>
                  <a:ea typeface="Assistant ExtraBold"/>
                  <a:cs typeface="Assistant ExtraBold"/>
                  <a:sym typeface="Assistant ExtraBold"/>
                </a:rPr>
                <a:t>מטרת המחקר</a:t>
              </a:r>
              <a:endParaRPr b="0" sz="2800">
                <a:solidFill>
                  <a:srgbClr val="1A237E"/>
                </a:solidFill>
                <a:latin typeface="Assistant ExtraBold"/>
                <a:ea typeface="Assistant ExtraBold"/>
                <a:cs typeface="Assistant ExtraBold"/>
                <a:sym typeface="Assistant ExtraBold"/>
              </a:endParaRPr>
            </a:p>
          </p:txBody>
        </p:sp>
        <p:sp>
          <p:nvSpPr>
            <p:cNvPr id="126" name="Google Shape;126;p19"/>
            <p:cNvSpPr/>
            <p:nvPr/>
          </p:nvSpPr>
          <p:spPr>
            <a:xfrm>
              <a:off x="5429250" y="952500"/>
              <a:ext cx="381000" cy="38100"/>
            </a:xfrm>
            <a:prstGeom prst="roundRect">
              <a:avLst>
                <a:gd fmla="val 50000" name="adj"/>
              </a:avLst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" name="Google Shape;127;p19"/>
          <p:cNvGrpSpPr/>
          <p:nvPr/>
        </p:nvGrpSpPr>
        <p:grpSpPr>
          <a:xfrm>
            <a:off x="476250" y="1238250"/>
            <a:ext cx="5334000" cy="1333500"/>
            <a:chOff x="476250" y="1238250"/>
            <a:chExt cx="5334000" cy="1333500"/>
          </a:xfrm>
        </p:grpSpPr>
        <p:sp>
          <p:nvSpPr>
            <p:cNvPr id="128" name="Google Shape;128;p19"/>
            <p:cNvSpPr/>
            <p:nvPr/>
          </p:nvSpPr>
          <p:spPr>
            <a:xfrm>
              <a:off x="476250" y="1238250"/>
              <a:ext cx="5334000" cy="1333500"/>
            </a:xfrm>
            <a:prstGeom prst="roundRect">
              <a:avLst>
                <a:gd fmla="val 10714" name="adj"/>
              </a:avLst>
            </a:prstGeom>
            <a:solidFill>
              <a:srgbClr val="FFFFFF"/>
            </a:solidFill>
            <a:ln cap="flat" cmpd="sng" w="9525">
              <a:solidFill>
                <a:srgbClr val="C5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9"/>
            <p:cNvSpPr txBox="1"/>
            <p:nvPr/>
          </p:nvSpPr>
          <p:spPr>
            <a:xfrm>
              <a:off x="714375" y="1381125"/>
              <a:ext cx="4857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1480">
                  <a:solidFill>
                    <a:srgbClr val="1A237E"/>
                  </a:solidFill>
                  <a:latin typeface="Assistant"/>
                  <a:ea typeface="Assistant"/>
                  <a:cs typeface="Assistant"/>
                  <a:sym typeface="Assistant"/>
                </a:rPr>
                <a:t>מטרה מרכזית:</a:t>
              </a:r>
              <a:endParaRPr b="1" sz="1480">
                <a:solidFill>
                  <a:srgbClr val="1A237E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rtl="1" algn="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iw" sz="1480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לבחון האם מודלי </a:t>
              </a:r>
              <a:r>
                <a:rPr b="1" lang="iw" sz="1480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LLM</a:t>
              </a:r>
              <a:r>
                <a:rPr b="0" lang="iw" sz="1480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 בגישת </a:t>
              </a:r>
              <a:r>
                <a:rPr b="1" lang="iw" sz="1480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Zero-Shot</a:t>
              </a:r>
              <a:br>
                <a:rPr lang="iw" sz="1480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</a:br>
              <a:r>
                <a:rPr b="0" lang="iw" sz="1480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יכולים להתחרות </a:t>
              </a:r>
              <a:r>
                <a:rPr b="1" lang="iw" sz="1480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ברמת דיוק </a:t>
              </a:r>
              <a:br>
                <a:rPr b="0" lang="iw" sz="1480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</a:br>
              <a:r>
                <a:rPr lang="iw" sz="1480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של </a:t>
              </a:r>
              <a:r>
                <a:rPr b="0" lang="iw" sz="1480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מודלי </a:t>
              </a:r>
              <a:r>
                <a:rPr b="1" lang="iw" sz="1480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Transformer</a:t>
              </a:r>
              <a:r>
                <a:rPr b="0" lang="iw" sz="1480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 שעברו </a:t>
              </a:r>
              <a:r>
                <a:rPr b="1" lang="iw" sz="1480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Fine-Tuning</a:t>
              </a:r>
              <a:r>
                <a:rPr b="0" lang="iw" sz="1480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 </a:t>
              </a:r>
              <a:br>
                <a:rPr b="0" lang="iw" sz="1480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</a:br>
              <a:r>
                <a:rPr b="0" lang="iw" sz="1480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במשימת </a:t>
              </a:r>
              <a:r>
                <a:rPr b="1" lang="iw" sz="1480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סיווג מידע כוזב בציוצים.</a:t>
              </a:r>
              <a:endParaRPr b="1" sz="1480">
                <a:solidFill>
                  <a:srgbClr val="334155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130" name="Google Shape;130;p19"/>
          <p:cNvGrpSpPr/>
          <p:nvPr/>
        </p:nvGrpSpPr>
        <p:grpSpPr>
          <a:xfrm>
            <a:off x="476250" y="2762250"/>
            <a:ext cx="5334000" cy="2000250"/>
            <a:chOff x="476250" y="2762250"/>
            <a:chExt cx="5334000" cy="2000250"/>
          </a:xfrm>
        </p:grpSpPr>
        <p:sp>
          <p:nvSpPr>
            <p:cNvPr id="131" name="Google Shape;131;p19"/>
            <p:cNvSpPr txBox="1"/>
            <p:nvPr/>
          </p:nvSpPr>
          <p:spPr>
            <a:xfrm>
              <a:off x="476250" y="2762250"/>
              <a:ext cx="5334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1800">
                  <a:solidFill>
                    <a:srgbClr val="1A237E"/>
                  </a:solidFill>
                  <a:latin typeface="Assistant"/>
                  <a:ea typeface="Assistant"/>
                  <a:cs typeface="Assistant"/>
                  <a:sym typeface="Assistant"/>
                </a:rPr>
                <a:t>הרציונל המחקרי</a:t>
              </a:r>
              <a:endParaRPr b="1" sz="1800">
                <a:solidFill>
                  <a:srgbClr val="1A237E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grpSp>
          <p:nvGrpSpPr>
            <p:cNvPr id="132" name="Google Shape;132;p19"/>
            <p:cNvGrpSpPr/>
            <p:nvPr/>
          </p:nvGrpSpPr>
          <p:grpSpPr>
            <a:xfrm>
              <a:off x="476250" y="3238500"/>
              <a:ext cx="5334000" cy="1524000"/>
              <a:chOff x="0" y="0"/>
              <a:chExt cx="5334000" cy="1524000"/>
            </a:xfrm>
          </p:grpSpPr>
          <p:sp>
            <p:nvSpPr>
              <p:cNvPr id="133" name="Google Shape;133;p19"/>
              <p:cNvSpPr/>
              <p:nvPr/>
            </p:nvSpPr>
            <p:spPr>
              <a:xfrm>
                <a:off x="0" y="0"/>
                <a:ext cx="5334000" cy="1524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19"/>
              <p:cNvSpPr txBox="1"/>
              <p:nvPr/>
            </p:nvSpPr>
            <p:spPr>
              <a:xfrm>
                <a:off x="0" y="0"/>
                <a:ext cx="5334000" cy="15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1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w" sz="1395">
                    <a:solidFill>
                      <a:srgbClr val="475569"/>
                    </a:solidFill>
                    <a:latin typeface="Assistant"/>
                    <a:ea typeface="Assistant"/>
                    <a:cs typeface="Assistant"/>
                    <a:sym typeface="Assistant"/>
                  </a:rPr>
                  <a:t>ציוצים הם קצרים, מהירים ותלויי־הקשר, ולכן קשה לזהות בהם מידע כוזב באופן אוטומטי.</a:t>
                </a:r>
                <a:endParaRPr sz="1395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endParaRPr>
              </a:p>
              <a:p>
                <a:pPr indent="0" lvl="0" marL="0" rtl="1" algn="r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1" lang="iw" sz="1395">
                    <a:solidFill>
                      <a:srgbClr val="475569"/>
                    </a:solidFill>
                    <a:latin typeface="Assistant"/>
                    <a:ea typeface="Assistant"/>
                    <a:cs typeface="Assistant"/>
                    <a:sym typeface="Assistant"/>
                  </a:rPr>
                  <a:t>Z</a:t>
                </a:r>
                <a:r>
                  <a:rPr b="1" lang="iw" sz="1395">
                    <a:solidFill>
                      <a:srgbClr val="475569"/>
                    </a:solidFill>
                    <a:latin typeface="Assistant"/>
                    <a:ea typeface="Assistant"/>
                    <a:cs typeface="Assistant"/>
                    <a:sym typeface="Assistant"/>
                  </a:rPr>
                  <a:t>ero-Shot:</a:t>
                </a:r>
                <a:r>
                  <a:rPr lang="iw" sz="1395">
                    <a:solidFill>
                      <a:srgbClr val="475569"/>
                    </a:solidFill>
                    <a:latin typeface="Assistant"/>
                    <a:ea typeface="Assistant"/>
                    <a:cs typeface="Assistant"/>
                    <a:sym typeface="Assistant"/>
                  </a:rPr>
                  <a:t> מאפשר סיווג מהיר ללא אימון, אך ייתכן שאינו מדויק מספיק.</a:t>
                </a:r>
                <a:endParaRPr sz="1395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endParaRPr>
              </a:p>
              <a:p>
                <a:pPr indent="0" lvl="0" marL="0" rtl="1" algn="r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1" lang="iw" sz="1395">
                    <a:solidFill>
                      <a:srgbClr val="475569"/>
                    </a:solidFill>
                    <a:latin typeface="Assistant"/>
                    <a:ea typeface="Assistant"/>
                    <a:cs typeface="Assistant"/>
                    <a:sym typeface="Assistant"/>
                  </a:rPr>
                  <a:t>F</a:t>
                </a:r>
                <a:r>
                  <a:rPr b="1" lang="iw" sz="1395">
                    <a:solidFill>
                      <a:srgbClr val="475569"/>
                    </a:solidFill>
                    <a:latin typeface="Assistant"/>
                    <a:ea typeface="Assistant"/>
                    <a:cs typeface="Assistant"/>
                    <a:sym typeface="Assistant"/>
                  </a:rPr>
                  <a:t>ine-Tuning:</a:t>
                </a:r>
                <a:r>
                  <a:rPr lang="iw" sz="1395">
                    <a:solidFill>
                      <a:srgbClr val="475569"/>
                    </a:solidFill>
                    <a:latin typeface="Assistant"/>
                    <a:ea typeface="Assistant"/>
                    <a:cs typeface="Assistant"/>
                    <a:sym typeface="Assistant"/>
                  </a:rPr>
                  <a:t> דורש דאטה מתויג ומשאבים, אך עשוי לספק ביצועים גבוהים יותר.</a:t>
                </a:r>
                <a:endParaRPr sz="1395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  <p:pic>
        <p:nvPicPr>
          <p:cNvPr id="135" name="Google Shape;13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4325" y="1791625"/>
            <a:ext cx="2751350" cy="244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/>
          <p:nvPr/>
        </p:nvSpPr>
        <p:spPr>
          <a:xfrm>
            <a:off x="0" y="0"/>
            <a:ext cx="3048000" cy="51435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1" name="Google Shape;141;p20"/>
          <p:cNvGrpSpPr/>
          <p:nvPr/>
        </p:nvGrpSpPr>
        <p:grpSpPr>
          <a:xfrm>
            <a:off x="3333750" y="381000"/>
            <a:ext cx="5524500" cy="762000"/>
            <a:chOff x="3333750" y="381000"/>
            <a:chExt cx="5524500" cy="762000"/>
          </a:xfrm>
        </p:grpSpPr>
        <p:sp>
          <p:nvSpPr>
            <p:cNvPr id="142" name="Google Shape;142;p20"/>
            <p:cNvSpPr/>
            <p:nvPr/>
          </p:nvSpPr>
          <p:spPr>
            <a:xfrm>
              <a:off x="3333750" y="381000"/>
              <a:ext cx="5524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20"/>
            <p:cNvSpPr txBox="1"/>
            <p:nvPr/>
          </p:nvSpPr>
          <p:spPr>
            <a:xfrm>
              <a:off x="3333750" y="381000"/>
              <a:ext cx="5524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w" sz="3200">
                  <a:solidFill>
                    <a:srgbClr val="1E293B"/>
                  </a:solidFill>
                  <a:latin typeface="Assistant ExtraBold"/>
                  <a:ea typeface="Assistant ExtraBold"/>
                  <a:cs typeface="Assistant ExtraBold"/>
                  <a:sym typeface="Assistant ExtraBold"/>
                </a:rPr>
                <a:t>השערות המחקר</a:t>
              </a:r>
              <a:endParaRPr b="0" sz="3200">
                <a:solidFill>
                  <a:srgbClr val="1E293B"/>
                </a:solidFill>
                <a:latin typeface="Assistant ExtraBold"/>
                <a:ea typeface="Assistant ExtraBold"/>
                <a:cs typeface="Assistant ExtraBold"/>
                <a:sym typeface="Assistant ExtraBold"/>
              </a:endParaRPr>
            </a:p>
          </p:txBody>
        </p:sp>
        <p:sp>
          <p:nvSpPr>
            <p:cNvPr id="144" name="Google Shape;144;p20"/>
            <p:cNvSpPr/>
            <p:nvPr/>
          </p:nvSpPr>
          <p:spPr>
            <a:xfrm>
              <a:off x="8286750" y="1047750"/>
              <a:ext cx="571500" cy="573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5" name="Google Shape;145;p20"/>
          <p:cNvGrpSpPr/>
          <p:nvPr/>
        </p:nvGrpSpPr>
        <p:grpSpPr>
          <a:xfrm>
            <a:off x="3333750" y="1333500"/>
            <a:ext cx="5524500" cy="1143000"/>
            <a:chOff x="3333750" y="1333500"/>
            <a:chExt cx="5524500" cy="1143000"/>
          </a:xfrm>
        </p:grpSpPr>
        <p:sp>
          <p:nvSpPr>
            <p:cNvPr id="146" name="Google Shape;146;p20"/>
            <p:cNvSpPr/>
            <p:nvPr/>
          </p:nvSpPr>
          <p:spPr>
            <a:xfrm>
              <a:off x="3333750" y="1333500"/>
              <a:ext cx="5524500" cy="11430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20"/>
            <p:cNvSpPr txBox="1"/>
            <p:nvPr/>
          </p:nvSpPr>
          <p:spPr>
            <a:xfrm>
              <a:off x="3524250" y="1333500"/>
              <a:ext cx="5143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1600">
                  <a:solidFill>
                    <a:srgbClr val="1E40AF"/>
                  </a:solidFill>
                  <a:latin typeface="Assistant"/>
                  <a:ea typeface="Assistant"/>
                  <a:cs typeface="Assistant"/>
                  <a:sym typeface="Assistant"/>
                </a:rPr>
                <a:t>השערה ראשית:</a:t>
              </a:r>
              <a:endParaRPr b="1" sz="1600">
                <a:solidFill>
                  <a:srgbClr val="1E40AF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rtl="1" algn="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iw" sz="1600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rPr>
                <a:t>מודלי </a:t>
              </a:r>
              <a:r>
                <a:rPr b="1" lang="iw" sz="1600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rPr>
                <a:t>Transformer</a:t>
              </a:r>
              <a:r>
                <a:rPr lang="iw" sz="1600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rPr>
                <a:t> שעברו </a:t>
              </a:r>
              <a:r>
                <a:rPr b="1" lang="iw" sz="1600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rPr>
                <a:t>Fine-Tuning</a:t>
              </a:r>
              <a:r>
                <a:rPr lang="iw" sz="1600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rPr>
                <a:t> ייעודי ישיגו ביצועים גבוהים יותר ממודלי LLM בגישת </a:t>
              </a:r>
              <a:r>
                <a:rPr b="1" lang="iw" sz="1600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rPr>
                <a:t>Zero-Shot</a:t>
              </a:r>
              <a:r>
                <a:rPr lang="iw" sz="1600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rPr>
                <a:t> במשימת סיווג ציוצים.</a:t>
              </a:r>
              <a:endParaRPr sz="1600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148" name="Google Shape;148;p20"/>
          <p:cNvGrpSpPr/>
          <p:nvPr/>
        </p:nvGrpSpPr>
        <p:grpSpPr>
          <a:xfrm>
            <a:off x="3333750" y="2667000"/>
            <a:ext cx="5524500" cy="2286000"/>
            <a:chOff x="3333750" y="2667000"/>
            <a:chExt cx="5524500" cy="2286000"/>
          </a:xfrm>
        </p:grpSpPr>
        <p:sp>
          <p:nvSpPr>
            <p:cNvPr id="149" name="Google Shape;149;p20"/>
            <p:cNvSpPr/>
            <p:nvPr/>
          </p:nvSpPr>
          <p:spPr>
            <a:xfrm>
              <a:off x="3333750" y="2667000"/>
              <a:ext cx="55245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20"/>
            <p:cNvSpPr txBox="1"/>
            <p:nvPr/>
          </p:nvSpPr>
          <p:spPr>
            <a:xfrm>
              <a:off x="3333750" y="2667000"/>
              <a:ext cx="55245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1800">
                  <a:solidFill>
                    <a:srgbClr val="1E293B"/>
                  </a:solidFill>
                  <a:latin typeface="Assistant"/>
                  <a:ea typeface="Assistant"/>
                  <a:cs typeface="Assistant"/>
                  <a:sym typeface="Assistant"/>
                </a:rPr>
                <a:t>השערות משנה:</a:t>
              </a:r>
              <a:endParaRPr b="1" sz="1800">
                <a:solidFill>
                  <a:srgbClr val="1E293B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rtl="1" algn="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iw" sz="1400">
                  <a:solidFill>
                    <a:srgbClr val="3B82F6"/>
                  </a:solidFill>
                  <a:latin typeface="Assistant"/>
                  <a:ea typeface="Assistant"/>
                  <a:cs typeface="Assistant"/>
                  <a:sym typeface="Assistant"/>
                </a:rPr>
                <a:t>•</a:t>
              </a:r>
              <a:r>
                <a:rPr lang="iw" sz="1400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rPr>
                <a:t>במאגרים תלויי-הקשר ספציפי, צפוי יתרון מובהק למודל שעבר </a:t>
              </a:r>
              <a:r>
                <a:rPr b="1" lang="iw" sz="1400">
                  <a:solidFill>
                    <a:srgbClr val="1E40AF"/>
                  </a:solidFill>
                  <a:latin typeface="Assistant"/>
                  <a:ea typeface="Assistant"/>
                  <a:cs typeface="Assistant"/>
                  <a:sym typeface="Assistant"/>
                </a:rPr>
                <a:t>Fine-Tuning</a:t>
              </a:r>
              <a:r>
                <a:rPr lang="iw" sz="1400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rPr>
                <a:t>.</a:t>
              </a:r>
              <a:endParaRPr sz="1400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rtl="1" algn="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iw" sz="1400">
                  <a:solidFill>
                    <a:srgbClr val="3B82F6"/>
                  </a:solidFill>
                  <a:latin typeface="Assistant"/>
                  <a:ea typeface="Assistant"/>
                  <a:cs typeface="Assistant"/>
                  <a:sym typeface="Assistant"/>
                </a:rPr>
                <a:t>•</a:t>
              </a:r>
              <a:r>
                <a:rPr lang="iw" sz="1400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rPr>
                <a:t>מודלי LLM מתקדמים ישפרו את ביצועי ה־</a:t>
              </a:r>
              <a:r>
                <a:rPr b="1" lang="iw" sz="1400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rPr>
                <a:t>Zero-Shot</a:t>
              </a:r>
              <a:r>
                <a:rPr lang="iw" sz="1400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rPr>
                <a:t>, אך לא יסגרו את הפער מול מודלים מאומנים.</a:t>
              </a:r>
              <a:endParaRPr sz="1400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rtl="1" algn="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iw" sz="1400">
                  <a:solidFill>
                    <a:srgbClr val="3B82F6"/>
                  </a:solidFill>
                  <a:latin typeface="Assistant"/>
                  <a:ea typeface="Assistant"/>
                  <a:cs typeface="Assistant"/>
                  <a:sym typeface="Assistant"/>
                </a:rPr>
                <a:t>•</a:t>
              </a:r>
              <a:r>
                <a:rPr lang="iw" sz="1400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rPr>
                <a:t>שימוש במדדי </a:t>
              </a:r>
              <a:r>
                <a:rPr b="1" lang="iw" sz="1400">
                  <a:solidFill>
                    <a:srgbClr val="1E40AF"/>
                  </a:solidFill>
                  <a:latin typeface="Assistant"/>
                  <a:ea typeface="Assistant"/>
                  <a:cs typeface="Assistant"/>
                  <a:sym typeface="Assistant"/>
                </a:rPr>
                <a:t>F1-Macro</a:t>
              </a:r>
              <a:r>
                <a:rPr lang="iw" sz="1400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rPr>
                <a:t> ובחינת המחלקה הקריטית הכרחיים מעבר ל-‎Accuracy בלבד.</a:t>
              </a:r>
              <a:endParaRPr sz="1400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151" name="Google Shape;151;p20"/>
          <p:cNvGrpSpPr/>
          <p:nvPr/>
        </p:nvGrpSpPr>
        <p:grpSpPr>
          <a:xfrm>
            <a:off x="190500" y="381000"/>
            <a:ext cx="2667000" cy="4381500"/>
            <a:chOff x="190500" y="381000"/>
            <a:chExt cx="2667000" cy="4381500"/>
          </a:xfrm>
        </p:grpSpPr>
        <p:sp>
          <p:nvSpPr>
            <p:cNvPr id="152" name="Google Shape;152;p20"/>
            <p:cNvSpPr/>
            <p:nvPr/>
          </p:nvSpPr>
          <p:spPr>
            <a:xfrm>
              <a:off x="190500" y="381000"/>
              <a:ext cx="2667000" cy="4381500"/>
            </a:xfrm>
            <a:prstGeom prst="roundRect">
              <a:avLst>
                <a:gd fmla="val 714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0"/>
            <p:cNvSpPr txBox="1"/>
            <p:nvPr/>
          </p:nvSpPr>
          <p:spPr>
            <a:xfrm>
              <a:off x="381000" y="666750"/>
              <a:ext cx="2286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1800">
                  <a:solidFill>
                    <a:srgbClr val="1E40AF"/>
                  </a:solidFill>
                  <a:latin typeface="Assistant"/>
                  <a:ea typeface="Assistant"/>
                  <a:cs typeface="Assistant"/>
                  <a:sym typeface="Assistant"/>
                </a:rPr>
                <a:t>הנחות יסוד:</a:t>
              </a:r>
              <a:endParaRPr b="1" sz="1800">
                <a:solidFill>
                  <a:srgbClr val="1E40AF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54" name="Google Shape;154;p20"/>
            <p:cNvSpPr txBox="1"/>
            <p:nvPr/>
          </p:nvSpPr>
          <p:spPr>
            <a:xfrm>
              <a:off x="381000" y="1238250"/>
              <a:ext cx="2286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400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המחקר בוחן את היכולת לזהות </a:t>
              </a:r>
              <a:r>
                <a:rPr b="1" lang="iw" sz="1400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מידע כוזב ושמועות</a:t>
              </a:r>
              <a:r>
                <a:rPr lang="iw" sz="1400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 בזמן אמת.</a:t>
              </a:r>
              <a:endParaRPr sz="1400">
                <a:solidFill>
                  <a:srgbClr val="334155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rtl="1" algn="r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iw" sz="1400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ההשוואה מתמקדת </a:t>
              </a:r>
              <a:r>
                <a:rPr lang="iw">
                  <a:solidFill>
                    <a:srgbClr val="1D4ED8"/>
                  </a:solidFill>
                  <a:highlight>
                    <a:srgbClr val="EFF6FF"/>
                  </a:highlight>
                  <a:latin typeface="Assistant SemiBold"/>
                  <a:ea typeface="Assistant SemiBold"/>
                  <a:cs typeface="Assistant SemiBold"/>
                  <a:sym typeface="Assistant SemiBold"/>
                </a:rPr>
                <a:t>ב</a:t>
              </a:r>
              <a:r>
                <a:rPr b="0" lang="iw" sz="1400">
                  <a:solidFill>
                    <a:srgbClr val="1D4ED8"/>
                  </a:solidFill>
                  <a:highlight>
                    <a:srgbClr val="EFF6FF"/>
                  </a:highlight>
                  <a:latin typeface="Assistant SemiBold"/>
                  <a:ea typeface="Assistant SemiBold"/>
                  <a:cs typeface="Assistant SemiBold"/>
                  <a:sym typeface="Assistant SemiBold"/>
                </a:rPr>
                <a:t>ד</a:t>
              </a:r>
              <a:r>
                <a:rPr b="0" lang="iw" sz="1400">
                  <a:solidFill>
                    <a:srgbClr val="1D4ED8"/>
                  </a:solidFill>
                  <a:highlight>
                    <a:srgbClr val="EFF6FF"/>
                  </a:highlight>
                  <a:latin typeface="Assistant SemiBold"/>
                  <a:ea typeface="Assistant SemiBold"/>
                  <a:cs typeface="Assistant SemiBold"/>
                  <a:sym typeface="Assistant SemiBold"/>
                </a:rPr>
                <a:t>יוק מרבי</a:t>
              </a:r>
              <a:r>
                <a:rPr lang="iw" sz="1400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 </a:t>
              </a:r>
              <a:r>
                <a:rPr lang="iw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ולא </a:t>
              </a:r>
              <a:r>
                <a:rPr lang="iw">
                  <a:solidFill>
                    <a:srgbClr val="15803D"/>
                  </a:solidFill>
                  <a:highlight>
                    <a:srgbClr val="F0FDF4"/>
                  </a:highlight>
                  <a:latin typeface="Assistant SemiBold"/>
                  <a:ea typeface="Assistant SemiBold"/>
                  <a:cs typeface="Assistant SemiBold"/>
                  <a:sym typeface="Assistant SemiBold"/>
                </a:rPr>
                <a:t>במהירות מירבית</a:t>
              </a:r>
              <a:r>
                <a:rPr lang="iw" sz="1400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.</a:t>
              </a:r>
              <a:endParaRPr sz="1400">
                <a:solidFill>
                  <a:srgbClr val="334155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rtl="1" algn="r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t/>
              </a:r>
              <a:endParaRPr i="1" sz="1200">
                <a:solidFill>
                  <a:srgbClr val="64748B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1"/>
          <p:cNvSpPr/>
          <p:nvPr/>
        </p:nvSpPr>
        <p:spPr>
          <a:xfrm>
            <a:off x="8382000" y="571500"/>
            <a:ext cx="381000" cy="38100"/>
          </a:xfrm>
          <a:prstGeom prst="roundRect">
            <a:avLst>
              <a:gd fmla="val 50000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1"/>
          <p:cNvSpPr txBox="1"/>
          <p:nvPr/>
        </p:nvSpPr>
        <p:spPr>
          <a:xfrm>
            <a:off x="381000" y="19050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iw" sz="2400">
                <a:solidFill>
                  <a:srgbClr val="1E293B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שיטה</a:t>
            </a:r>
            <a:endParaRPr b="0" sz="2400">
              <a:solidFill>
                <a:srgbClr val="1E293B"/>
              </a:solidFill>
              <a:latin typeface="Assistant ExtraBold"/>
              <a:ea typeface="Assistant ExtraBold"/>
              <a:cs typeface="Assistant ExtraBold"/>
              <a:sym typeface="Assistant ExtraBold"/>
            </a:endParaRPr>
          </a:p>
        </p:txBody>
      </p:sp>
      <p:sp>
        <p:nvSpPr>
          <p:cNvPr id="162" name="Google Shape;162;p21"/>
          <p:cNvSpPr txBox="1"/>
          <p:nvPr/>
        </p:nvSpPr>
        <p:spPr>
          <a:xfrm>
            <a:off x="571500" y="9525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iw" sz="1600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rPr>
              <a:t>המחקר הוא מחקר </a:t>
            </a:r>
            <a:r>
              <a:rPr b="1" lang="iw" sz="1600">
                <a:solidFill>
                  <a:srgbClr val="1E40AF"/>
                </a:solidFill>
                <a:latin typeface="Assistant"/>
                <a:ea typeface="Assistant"/>
                <a:cs typeface="Assistant"/>
                <a:sym typeface="Assistant"/>
              </a:rPr>
              <a:t>אמפירי־השוואתי</a:t>
            </a:r>
            <a:r>
              <a:rPr b="0" lang="iw" sz="1600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rPr>
              <a:t> בתחום עיבוד השפה הטבעית, הבוחן שתי גישות לסיווג ציוצים:</a:t>
            </a:r>
            <a:endParaRPr b="0" sz="1600">
              <a:solidFill>
                <a:srgbClr val="475569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grpSp>
        <p:nvGrpSpPr>
          <p:cNvPr id="163" name="Google Shape;163;p21"/>
          <p:cNvGrpSpPr/>
          <p:nvPr/>
        </p:nvGrpSpPr>
        <p:grpSpPr>
          <a:xfrm>
            <a:off x="571500" y="1619250"/>
            <a:ext cx="8001000" cy="1333500"/>
            <a:chOff x="571500" y="1619250"/>
            <a:chExt cx="8001000" cy="1333500"/>
          </a:xfrm>
        </p:grpSpPr>
        <p:sp>
          <p:nvSpPr>
            <p:cNvPr id="164" name="Google Shape;164;p21"/>
            <p:cNvSpPr/>
            <p:nvPr/>
          </p:nvSpPr>
          <p:spPr>
            <a:xfrm>
              <a:off x="4762500" y="1619250"/>
              <a:ext cx="3810000" cy="1333500"/>
            </a:xfrm>
            <a:prstGeom prst="roundRect">
              <a:avLst>
                <a:gd fmla="val 857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21"/>
            <p:cNvSpPr txBox="1"/>
            <p:nvPr/>
          </p:nvSpPr>
          <p:spPr>
            <a:xfrm>
              <a:off x="4953000" y="1762125"/>
              <a:ext cx="3429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1800" u="sng">
                  <a:solidFill>
                    <a:srgbClr val="1E40AF"/>
                  </a:solidFill>
                  <a:latin typeface="Assistant"/>
                  <a:ea typeface="Assistant"/>
                  <a:cs typeface="Assistant"/>
                  <a:sym typeface="Assistant"/>
                </a:rPr>
                <a:t>Fine-Tuning:</a:t>
              </a:r>
              <a:endParaRPr b="1" sz="1800" u="sng">
                <a:solidFill>
                  <a:srgbClr val="1E40AF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rtl="1" algn="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iw" sz="1300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rPr>
                <a:t>אימון ייעודי של מודל Transformer על נתונים מתויגים.</a:t>
              </a:r>
              <a:endParaRPr sz="1300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66" name="Google Shape;166;p21"/>
            <p:cNvSpPr/>
            <p:nvPr/>
          </p:nvSpPr>
          <p:spPr>
            <a:xfrm>
              <a:off x="571500" y="1619250"/>
              <a:ext cx="3810000" cy="1333500"/>
            </a:xfrm>
            <a:prstGeom prst="roundRect">
              <a:avLst>
                <a:gd fmla="val 857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1"/>
            <p:cNvSpPr txBox="1"/>
            <p:nvPr/>
          </p:nvSpPr>
          <p:spPr>
            <a:xfrm>
              <a:off x="762000" y="1762125"/>
              <a:ext cx="3429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1800" u="sng">
                  <a:solidFill>
                    <a:srgbClr val="1E40AF"/>
                  </a:solidFill>
                  <a:latin typeface="Assistant"/>
                  <a:ea typeface="Assistant"/>
                  <a:cs typeface="Assistant"/>
                  <a:sym typeface="Assistant"/>
                </a:rPr>
                <a:t>Zero-Shot:</a:t>
              </a:r>
              <a:endParaRPr b="1" sz="1800" u="sng">
                <a:solidFill>
                  <a:srgbClr val="1E40AF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rtl="1" algn="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iw" sz="1300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rPr>
                <a:t>שימוש במודל שפה גדול ללא אימון על נתוני המשימה, אלא באמצעות פרומפט בלבד.</a:t>
              </a:r>
              <a:endParaRPr sz="1300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168" name="Google Shape;168;p21"/>
          <p:cNvGrpSpPr/>
          <p:nvPr/>
        </p:nvGrpSpPr>
        <p:grpSpPr>
          <a:xfrm>
            <a:off x="571500" y="3143250"/>
            <a:ext cx="8001000" cy="1524000"/>
            <a:chOff x="571500" y="3143250"/>
            <a:chExt cx="8001000" cy="1524000"/>
          </a:xfrm>
        </p:grpSpPr>
        <p:sp>
          <p:nvSpPr>
            <p:cNvPr id="169" name="Google Shape;169;p21"/>
            <p:cNvSpPr/>
            <p:nvPr/>
          </p:nvSpPr>
          <p:spPr>
            <a:xfrm>
              <a:off x="571500" y="3143250"/>
              <a:ext cx="8001000" cy="1524000"/>
            </a:xfrm>
            <a:prstGeom prst="roundRect">
              <a:avLst>
                <a:gd fmla="val 75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21"/>
            <p:cNvSpPr txBox="1"/>
            <p:nvPr/>
          </p:nvSpPr>
          <p:spPr>
            <a:xfrm>
              <a:off x="762000" y="3286125"/>
              <a:ext cx="76200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1400">
                  <a:solidFill>
                    <a:srgbClr val="1E3A8A"/>
                  </a:solidFill>
                  <a:latin typeface="Assistant"/>
                  <a:ea typeface="Assistant"/>
                  <a:cs typeface="Assistant"/>
                  <a:sym typeface="Assistant"/>
                </a:rPr>
                <a:t>במחקר המלא הושוו תשעה מודלים על פני 12 מאגרי נתונים:</a:t>
              </a:r>
              <a:endParaRPr b="1" sz="1400">
                <a:solidFill>
                  <a:srgbClr val="1E3A8A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rtl="1" algn="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iw" sz="1600">
                  <a:solidFill>
                    <a:srgbClr val="2563EB"/>
                  </a:solidFill>
                  <a:latin typeface="Assistant ExtraBold"/>
                  <a:ea typeface="Assistant ExtraBold"/>
                  <a:cs typeface="Assistant ExtraBold"/>
                  <a:sym typeface="Assistant ExtraBold"/>
                </a:rPr>
                <a:t>RoBERTa</a:t>
              </a:r>
              <a:r>
                <a:rPr lang="iw" sz="1600">
                  <a:solidFill>
                    <a:srgbClr val="1E293B"/>
                  </a:solidFill>
                  <a:latin typeface="Assistant"/>
                  <a:ea typeface="Assistant"/>
                  <a:cs typeface="Assistant"/>
                  <a:sym typeface="Assistant"/>
                </a:rPr>
                <a:t>, ⁦BERTweet, MiniLM ו-‎ModernBERT⁩ (Fine-Tuned) מול </a:t>
              </a:r>
              <a:r>
                <a:rPr b="0" lang="iw" sz="1600">
                  <a:solidFill>
                    <a:srgbClr val="2563EB"/>
                  </a:solidFill>
                  <a:latin typeface="Assistant ExtraBold"/>
                  <a:ea typeface="Assistant ExtraBold"/>
                  <a:cs typeface="Assistant ExtraBold"/>
                  <a:sym typeface="Assistant ExtraBold"/>
                </a:rPr>
                <a:t>⁦Llama 3.1, Gemini 2.5 Flash, GPT-OSS 120B, Llama 3.3 70B ו-‎Qwen3.6 27B⁩</a:t>
              </a:r>
              <a:r>
                <a:rPr lang="iw" sz="1600">
                  <a:solidFill>
                    <a:srgbClr val="1E293B"/>
                  </a:solidFill>
                  <a:latin typeface="Assistant"/>
                  <a:ea typeface="Assistant"/>
                  <a:cs typeface="Assistant"/>
                  <a:sym typeface="Assistant"/>
                </a:rPr>
                <a:t> Zero-Shot</a:t>
              </a:r>
              <a:endParaRPr sz="1600">
                <a:solidFill>
                  <a:srgbClr val="1E293B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rtl="1" algn="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iw" sz="1300">
                  <a:solidFill>
                    <a:srgbClr val="1E40AF"/>
                  </a:solidFill>
                  <a:latin typeface="Assistant SemiBold"/>
                  <a:ea typeface="Assistant SemiBold"/>
                  <a:cs typeface="Assistant SemiBold"/>
                  <a:sym typeface="Assistant SemiBold"/>
                </a:rPr>
                <a:t>מטרת ההשוואה</a:t>
              </a:r>
              <a:r>
                <a:rPr b="0" lang="iw" sz="1300">
                  <a:solidFill>
                    <a:srgbClr val="334155"/>
                  </a:solidFill>
                  <a:latin typeface="Assistant SemiBold"/>
                  <a:ea typeface="Assistant SemiBold"/>
                  <a:cs typeface="Assistant SemiBold"/>
                  <a:sym typeface="Assistant SemiBold"/>
                </a:rPr>
                <a:t> היא לבדוק האם מודלי LLM כלליים - קטנים כגדולים - יכולים להתחרות במודלי Transformer שאומנו במיוחד על הדאטה, ואיך הפער משתנה בין דומיינים שונים (כולל תשעה תת-אירועי PHEME).</a:t>
              </a:r>
              <a:endParaRPr b="0" sz="1300">
                <a:solidFill>
                  <a:srgbClr val="334155"/>
                </a:solidFill>
                <a:latin typeface="Assistant SemiBold"/>
                <a:ea typeface="Assistant SemiBold"/>
                <a:cs typeface="Assistant SemiBold"/>
                <a:sym typeface="Assistant SemiBold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iw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rPr>
              <a:t>המחקר מתבסס על </a:t>
            </a:r>
            <a:r>
              <a:rPr b="1" lang="iw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rPr>
              <a:t>שלושה מאגרי ציוצים</a:t>
            </a:r>
            <a:r>
              <a:rPr lang="iw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rPr>
              <a:t>, שכל אחד מהם מייצג </a:t>
            </a:r>
            <a:r>
              <a:rPr b="1" lang="iw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rPr>
              <a:t>דומיין שונה</a:t>
            </a:r>
            <a:r>
              <a:rPr lang="iw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rPr>
              <a:t> של מידע כוזב או שיח לא ודאי:</a:t>
            </a:r>
            <a:endParaRPr b="1"/>
          </a:p>
          <a:p>
            <a:pPr indent="0" lvl="0" marL="0" rtl="1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/>
          </a:p>
          <a:p>
            <a:pPr indent="0" lvl="0" marL="0" rtl="1" algn="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/>
          </a:p>
          <a:p>
            <a:pPr indent="0" lvl="0" marL="0" rtl="1" algn="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/>
          </a:p>
          <a:p>
            <a:pPr indent="0" lvl="0" marL="0" rtl="1" algn="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/>
          </a:p>
          <a:p>
            <a:pPr indent="0" lvl="0" marL="0" rtl="1" algn="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/>
          </a:p>
          <a:p>
            <a:pPr indent="0" lvl="0" marL="0" rtl="1" algn="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>
              <a:solidFill>
                <a:srgbClr val="475569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>
              <a:solidFill>
                <a:srgbClr val="475569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iw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rPr>
              <a:t>כל המאגרים מבוססים על ציוצים מ־Twitter/X. לשלושת המאגרים הראשיים נוסף תיוג שלישי (⁦unrelated⁩), ו-⁦PHEME⁩ פוצל גם ל-9 תת-מאגרי אירועים ייעודיים (דו-מחלקתי).</a:t>
            </a:r>
            <a:endParaRPr>
              <a:solidFill>
                <a:srgbClr val="475569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t/>
            </a:r>
            <a:endParaRPr b="1"/>
          </a:p>
          <a:p>
            <a:pPr indent="0" lvl="0" marL="0" rtl="1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/>
          </a:p>
          <a:p>
            <a:pPr indent="0" lvl="0" marL="0" rtl="1" algn="r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3"/>
              <a:buNone/>
            </a:pPr>
            <a:r>
              <a:t/>
            </a:r>
            <a:endParaRPr sz="1395"/>
          </a:p>
        </p:txBody>
      </p:sp>
      <p:graphicFrame>
        <p:nvGraphicFramePr>
          <p:cNvPr id="176" name="Google Shape;176;p22"/>
          <p:cNvGraphicFramePr/>
          <p:nvPr/>
        </p:nvGraphicFramePr>
        <p:xfrm>
          <a:off x="952500" y="2068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{556E7B18-D933-4BB6-8C4F-23904260E9A3}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">
                          <a:solidFill>
                            <a:srgbClr val="1A237E"/>
                          </a:solidFill>
                        </a:rPr>
                        <a:t>משימת סיווג </a:t>
                      </a:r>
                      <a:endParaRPr b="1">
                        <a:solidFill>
                          <a:srgbClr val="1A237E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">
                          <a:solidFill>
                            <a:srgbClr val="1A237E"/>
                          </a:solidFill>
                        </a:rPr>
                        <a:t>דומיין </a:t>
                      </a:r>
                      <a:endParaRPr b="1">
                        <a:solidFill>
                          <a:srgbClr val="1A237E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">
                          <a:solidFill>
                            <a:srgbClr val="1A237E"/>
                          </a:solidFill>
                        </a:rPr>
                        <a:t>מאגר</a:t>
                      </a:r>
                      <a:endParaRPr b="1">
                        <a:solidFill>
                          <a:srgbClr val="1A237E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>
                          <a:solidFill>
                            <a:schemeClr val="dk2"/>
                          </a:solidFill>
                        </a:rPr>
                        <a:t>מידע אמין מול מידע כוזב 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>
                          <a:solidFill>
                            <a:schemeClr val="dk2"/>
                          </a:solidFill>
                        </a:rPr>
                        <a:t>אירוע טרור 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chemeClr val="dk2"/>
                          </a:solidFill>
                          <a:latin typeface="David"/>
                          <a:ea typeface="David"/>
                          <a:cs typeface="David"/>
                          <a:sym typeface="David"/>
                        </a:rPr>
                        <a:t>Manchester</a:t>
                      </a:r>
                      <a:r>
                        <a:rPr lang="iw" sz="1100">
                          <a:solidFill>
                            <a:schemeClr val="dk2"/>
                          </a:solidFill>
                        </a:rPr>
                        <a:t> 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>
                          <a:solidFill>
                            <a:schemeClr val="dk2"/>
                          </a:solidFill>
                        </a:rPr>
                        <a:t>מידע אמין מול מידע כוזב 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>
                          <a:solidFill>
                            <a:schemeClr val="dk2"/>
                          </a:solidFill>
                        </a:rPr>
                        <a:t>משבר בריאותי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chemeClr val="dk2"/>
                          </a:solidFill>
                          <a:latin typeface="David"/>
                          <a:ea typeface="David"/>
                          <a:cs typeface="David"/>
                          <a:sym typeface="David"/>
                        </a:rPr>
                        <a:t>Monkeypox</a:t>
                      </a:r>
                      <a:r>
                        <a:rPr lang="iw" sz="1100">
                          <a:solidFill>
                            <a:schemeClr val="dk2"/>
                          </a:solidFill>
                        </a:rPr>
                        <a:t> 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>
                          <a:solidFill>
                            <a:schemeClr val="dk2"/>
                          </a:solidFill>
                        </a:rPr>
                        <a:t>שמועה מול לא־שמועה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>
                          <a:solidFill>
                            <a:schemeClr val="dk2"/>
                          </a:solidFill>
                        </a:rPr>
                        <a:t>זיהוי שמועות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chemeClr val="dk2"/>
                          </a:solidFill>
                          <a:latin typeface="David"/>
                          <a:ea typeface="David"/>
                          <a:cs typeface="David"/>
                          <a:sym typeface="David"/>
                        </a:rPr>
                        <a:t>PHEME</a:t>
                      </a:r>
                      <a:r>
                        <a:rPr lang="iw" sz="1100">
                          <a:solidFill>
                            <a:schemeClr val="dk2"/>
                          </a:solidFill>
                        </a:rPr>
                        <a:t> 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77" name="Google Shape;177;p22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2"/>
          <p:cNvSpPr txBox="1"/>
          <p:nvPr/>
        </p:nvSpPr>
        <p:spPr>
          <a:xfrm>
            <a:off x="381000" y="19050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 sz="2400">
                <a:solidFill>
                  <a:srgbClr val="1E293B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שיטה | מאגרי הנתונים</a:t>
            </a:r>
            <a:endParaRPr b="0" sz="2400">
              <a:solidFill>
                <a:srgbClr val="1E293B"/>
              </a:solidFill>
              <a:latin typeface="Assistant ExtraBold"/>
              <a:ea typeface="Assistant ExtraBold"/>
              <a:cs typeface="Assistant ExtraBold"/>
              <a:sym typeface="Assistant ExtraBold"/>
            </a:endParaRPr>
          </a:p>
        </p:txBody>
      </p:sp>
      <p:sp>
        <p:nvSpPr>
          <p:cNvPr id="179" name="Google Shape;179;p22"/>
          <p:cNvSpPr/>
          <p:nvPr/>
        </p:nvSpPr>
        <p:spPr>
          <a:xfrm>
            <a:off x="8325304" y="559746"/>
            <a:ext cx="381000" cy="38100"/>
          </a:xfrm>
          <a:prstGeom prst="roundRect">
            <a:avLst>
              <a:gd fmla="val 50000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rPr>
              <a:t> העיבוד המקדים כלל את הפעולות הבאות:</a:t>
            </a:r>
            <a:endParaRPr>
              <a:solidFill>
                <a:srgbClr val="475569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spcBef>
                <a:spcPts val="1200"/>
              </a:spcBef>
              <a:spcAft>
                <a:spcPts val="1200"/>
              </a:spcAft>
              <a:buNone/>
            </a:pPr>
            <a:r>
              <a:rPr lang="iw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endParaRPr/>
          </a:p>
        </p:txBody>
      </p:sp>
      <p:sp>
        <p:nvSpPr>
          <p:cNvPr id="185" name="Google Shape;185;p23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iw"/>
              <a:t> </a:t>
            </a:r>
            <a:endParaRPr/>
          </a:p>
        </p:txBody>
      </p:sp>
      <p:graphicFrame>
        <p:nvGraphicFramePr>
          <p:cNvPr id="186" name="Google Shape;186;p23"/>
          <p:cNvGraphicFramePr/>
          <p:nvPr/>
        </p:nvGraphicFramePr>
        <p:xfrm>
          <a:off x="952500" y="1605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{556E7B18-D933-4BB6-8C4F-23904260E9A3}</a:tableStyleId>
              </a:tblPr>
              <a:tblGrid>
                <a:gridCol w="3619500"/>
                <a:gridCol w="3619500"/>
              </a:tblGrid>
              <a:tr h="747125">
                <a:tc>
                  <a:txBody>
                    <a:bodyPr/>
                    <a:lstStyle/>
                    <a:p>
                      <a:pPr indent="-342900" lvl="0" marL="45720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800"/>
                        <a:buFont typeface="Assistant Medium"/>
                        <a:buChar char="●"/>
                      </a:pPr>
                      <a:r>
                        <a:rPr lang="iw" sz="1800">
                          <a:solidFill>
                            <a:schemeClr val="dk2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הסרת כפילויות או ציוצים דומים מדי.</a:t>
                      </a:r>
                      <a:endParaRPr sz="1800">
                        <a:solidFill>
                          <a:schemeClr val="dk2"/>
                        </a:solidFill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45720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800"/>
                        <a:buFont typeface="Assistant Medium"/>
                        <a:buChar char="●"/>
                      </a:pPr>
                      <a:r>
                        <a:rPr lang="iw" sz="1800">
                          <a:solidFill>
                            <a:schemeClr val="dk2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הסרת קישורים חיצוניים (URL), תיוגי משתמשים (@), תגיות hashtags, והסרת סמלוני emojis.</a:t>
                      </a:r>
                      <a:endParaRPr sz="1800">
                        <a:solidFill>
                          <a:schemeClr val="dk2"/>
                        </a:solidFill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3375">
                <a:tc>
                  <a:txBody>
                    <a:bodyPr/>
                    <a:lstStyle/>
                    <a:p>
                      <a:pPr indent="-342900" lvl="0" marL="45720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800"/>
                        <a:buFont typeface="Assistant Medium"/>
                        <a:buChar char="●"/>
                      </a:pPr>
                      <a:r>
                        <a:rPr lang="iw" sz="1800">
                          <a:solidFill>
                            <a:schemeClr val="dk2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נרמול עמודת הטקסט לעמודה אחידה בשם cleaned</a:t>
                      </a:r>
                      <a:endParaRPr sz="1800">
                        <a:solidFill>
                          <a:schemeClr val="dk2"/>
                        </a:solidFill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45720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800"/>
                        <a:buFont typeface="Assistant Medium"/>
                        <a:buChar char="●"/>
                      </a:pPr>
                      <a:r>
                        <a:rPr lang="iw" sz="1800">
                          <a:solidFill>
                            <a:schemeClr val="dk2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מסנן "רעשים": ציוצים בעלי 4 מילים ומטה.</a:t>
                      </a:r>
                      <a:endParaRPr sz="1800">
                        <a:solidFill>
                          <a:schemeClr val="dk2"/>
                        </a:solidFill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7125">
                <a:tc>
                  <a:txBody>
                    <a:bodyPr/>
                    <a:lstStyle/>
                    <a:p>
                      <a:pPr indent="-342900" lvl="0" marL="45720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800"/>
                        <a:buFont typeface="Assistant Medium"/>
                        <a:buChar char="●"/>
                      </a:pPr>
                      <a:r>
                        <a:rPr lang="iw" sz="1800">
                          <a:solidFill>
                            <a:schemeClr val="dk2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יצירת קובצי Train, Validation ו־Test לכל אחד מהמאגרים (70,15,15).</a:t>
                      </a:r>
                      <a:endParaRPr sz="1800">
                        <a:solidFill>
                          <a:schemeClr val="dk2"/>
                        </a:solidFill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45720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800"/>
                        <a:buFont typeface="Assistant Medium"/>
                        <a:buChar char="●"/>
                      </a:pPr>
                      <a:r>
                        <a:rPr lang="iw" sz="1800">
                          <a:solidFill>
                            <a:schemeClr val="dk2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המרת טקסט לאותיות קטנות.</a:t>
                      </a:r>
                      <a:endParaRPr sz="1800">
                        <a:solidFill>
                          <a:schemeClr val="dk2"/>
                        </a:solidFill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6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2"/>
                        </a:solidFill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2"/>
                        </a:solidFill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7" name="Google Shape;187;p23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3"/>
          <p:cNvSpPr txBox="1"/>
          <p:nvPr/>
        </p:nvSpPr>
        <p:spPr>
          <a:xfrm>
            <a:off x="381000" y="19050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 sz="2400">
                <a:solidFill>
                  <a:srgbClr val="1E293B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שיטה | Preprocessing</a:t>
            </a:r>
            <a:endParaRPr b="0" sz="2400">
              <a:solidFill>
                <a:srgbClr val="1E293B"/>
              </a:solidFill>
              <a:latin typeface="Assistant ExtraBold"/>
              <a:ea typeface="Assistant ExtraBold"/>
              <a:cs typeface="Assistant ExtraBold"/>
              <a:sym typeface="Assistant ExtraBold"/>
            </a:endParaRPr>
          </a:p>
        </p:txBody>
      </p:sp>
      <p:sp>
        <p:nvSpPr>
          <p:cNvPr id="189" name="Google Shape;189;p23"/>
          <p:cNvSpPr/>
          <p:nvPr/>
        </p:nvSpPr>
        <p:spPr>
          <a:xfrm>
            <a:off x="8325304" y="559746"/>
            <a:ext cx="381000" cy="38100"/>
          </a:xfrm>
          <a:prstGeom prst="roundRect">
            <a:avLst>
              <a:gd fmla="val 50000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4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4"/>
          <p:cNvSpPr/>
          <p:nvPr/>
        </p:nvSpPr>
        <p:spPr>
          <a:xfrm>
            <a:off x="8324850" y="552450"/>
            <a:ext cx="381000" cy="38100"/>
          </a:xfrm>
          <a:prstGeom prst="roundRect">
            <a:avLst>
              <a:gd fmla="val 50000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4"/>
          <p:cNvSpPr txBox="1"/>
          <p:nvPr>
            <p:ph type="title"/>
          </p:nvPr>
        </p:nvSpPr>
        <p:spPr>
          <a:xfrm>
            <a:off x="381000" y="190500"/>
            <a:ext cx="8382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iw" sz="2400">
                <a:solidFill>
                  <a:srgbClr val="1E293B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שיטה |</a:t>
            </a:r>
            <a:r>
              <a:rPr lang="iw" sz="2400">
                <a:solidFill>
                  <a:srgbClr val="1E293B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Fine-Tuning</a:t>
            </a:r>
            <a:endParaRPr b="0" sz="2400">
              <a:solidFill>
                <a:srgbClr val="1E293B"/>
              </a:solidFill>
              <a:latin typeface="Assistant ExtraBold"/>
              <a:ea typeface="Assistant ExtraBold"/>
              <a:cs typeface="Assistant ExtraBold"/>
              <a:sym typeface="Assistant ExtraBold"/>
            </a:endParaRPr>
          </a:p>
        </p:txBody>
      </p:sp>
      <p:grpSp>
        <p:nvGrpSpPr>
          <p:cNvPr id="197" name="Google Shape;197;p24"/>
          <p:cNvGrpSpPr/>
          <p:nvPr/>
        </p:nvGrpSpPr>
        <p:grpSpPr>
          <a:xfrm>
            <a:off x="4667250" y="1143000"/>
            <a:ext cx="4000500" cy="1333500"/>
            <a:chOff x="4667250" y="1143000"/>
            <a:chExt cx="4000500" cy="1333500"/>
          </a:xfrm>
        </p:grpSpPr>
        <p:sp>
          <p:nvSpPr>
            <p:cNvPr id="198" name="Google Shape;198;p24"/>
            <p:cNvSpPr/>
            <p:nvPr/>
          </p:nvSpPr>
          <p:spPr>
            <a:xfrm>
              <a:off x="4667250" y="1143000"/>
              <a:ext cx="4000500" cy="1333500"/>
            </a:xfrm>
            <a:prstGeom prst="roundRect">
              <a:avLst>
                <a:gd fmla="val 857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24"/>
            <p:cNvSpPr txBox="1"/>
            <p:nvPr/>
          </p:nvSpPr>
          <p:spPr>
            <a:xfrm>
              <a:off x="4857750" y="132092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model_training</a:t>
              </a:r>
              <a:endParaRPr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00" name="Google Shape;200;p24"/>
            <p:cNvSpPr txBox="1"/>
            <p:nvPr/>
          </p:nvSpPr>
          <p:spPr>
            <a:xfrm>
              <a:off x="4857750" y="1666875"/>
              <a:ext cx="3619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1400">
                  <a:solidFill>
                    <a:srgbClr val="1E293B"/>
                  </a:solidFill>
                  <a:latin typeface="Assistant"/>
                  <a:ea typeface="Assistant"/>
                  <a:cs typeface="Assistant"/>
                  <a:sym typeface="Assistant"/>
                </a:rPr>
                <a:t>מודל הבסיס</a:t>
              </a:r>
              <a:endParaRPr b="1" sz="1400">
                <a:solidFill>
                  <a:srgbClr val="1E293B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rtl="1" algn="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iw" sz="1200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rPr>
                <a:t>שימוש בארבעה קידודי טרנספורמר: ⁦RoBERTa, BERTweet, MiniLM ו-‎ModernBERT⁩, לצורך התאמה ייעודית למשימות הסיווג.</a:t>
              </a:r>
              <a:endParaRPr sz="1200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201" name="Google Shape;201;p24"/>
          <p:cNvGrpSpPr/>
          <p:nvPr/>
        </p:nvGrpSpPr>
        <p:grpSpPr>
          <a:xfrm>
            <a:off x="476250" y="1143000"/>
            <a:ext cx="4000500" cy="1333500"/>
            <a:chOff x="476250" y="1143000"/>
            <a:chExt cx="4000500" cy="1333500"/>
          </a:xfrm>
        </p:grpSpPr>
        <p:sp>
          <p:nvSpPr>
            <p:cNvPr id="202" name="Google Shape;202;p24"/>
            <p:cNvSpPr/>
            <p:nvPr/>
          </p:nvSpPr>
          <p:spPr>
            <a:xfrm>
              <a:off x="476250" y="1143000"/>
              <a:ext cx="4000500" cy="1333500"/>
            </a:xfrm>
            <a:prstGeom prst="roundRect">
              <a:avLst>
                <a:gd fmla="val 857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4"/>
            <p:cNvSpPr txBox="1"/>
            <p:nvPr/>
          </p:nvSpPr>
          <p:spPr>
            <a:xfrm>
              <a:off x="666750" y="132092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pie_chart</a:t>
              </a:r>
              <a:endParaRPr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04" name="Google Shape;204;p24"/>
            <p:cNvSpPr txBox="1"/>
            <p:nvPr/>
          </p:nvSpPr>
          <p:spPr>
            <a:xfrm>
              <a:off x="666750" y="1666875"/>
              <a:ext cx="3619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1400">
                  <a:solidFill>
                    <a:srgbClr val="1E293B"/>
                  </a:solidFill>
                  <a:latin typeface="Assistant"/>
                  <a:ea typeface="Assistant"/>
                  <a:cs typeface="Assistant"/>
                  <a:sym typeface="Assistant"/>
                </a:rPr>
                <a:t>חלוקת הנתונים</a:t>
              </a:r>
              <a:endParaRPr b="1" sz="1400">
                <a:solidFill>
                  <a:srgbClr val="1E293B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rtl="1" algn="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iw" sz="1200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rPr>
                <a:t>אימון (70%), ולידציה (15%) ובדיקה (15%) לשמירה על מהימנות ההערכה.</a:t>
              </a:r>
              <a:endParaRPr sz="1200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205" name="Google Shape;205;p24"/>
          <p:cNvGrpSpPr/>
          <p:nvPr/>
        </p:nvGrpSpPr>
        <p:grpSpPr>
          <a:xfrm>
            <a:off x="4667250" y="2667000"/>
            <a:ext cx="4000500" cy="1333500"/>
            <a:chOff x="4667250" y="2667000"/>
            <a:chExt cx="4000500" cy="1333500"/>
          </a:xfrm>
        </p:grpSpPr>
        <p:sp>
          <p:nvSpPr>
            <p:cNvPr id="206" name="Google Shape;206;p24"/>
            <p:cNvSpPr/>
            <p:nvPr/>
          </p:nvSpPr>
          <p:spPr>
            <a:xfrm>
              <a:off x="4667250" y="2667000"/>
              <a:ext cx="4000500" cy="1333500"/>
            </a:xfrm>
            <a:prstGeom prst="roundRect">
              <a:avLst>
                <a:gd fmla="val 857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4"/>
            <p:cNvSpPr txBox="1"/>
            <p:nvPr/>
          </p:nvSpPr>
          <p:spPr>
            <a:xfrm>
              <a:off x="4857750" y="284492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settings_suggest</a:t>
              </a:r>
              <a:endParaRPr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08" name="Google Shape;208;p24"/>
            <p:cNvSpPr txBox="1"/>
            <p:nvPr/>
          </p:nvSpPr>
          <p:spPr>
            <a:xfrm>
              <a:off x="4857750" y="3190875"/>
              <a:ext cx="3619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1400">
                  <a:solidFill>
                    <a:srgbClr val="1E293B"/>
                  </a:solidFill>
                  <a:latin typeface="Assistant"/>
                  <a:ea typeface="Assistant"/>
                  <a:cs typeface="Assistant"/>
                  <a:sym typeface="Assistant"/>
                </a:rPr>
                <a:t>Fine-Tuning ייעודי</a:t>
              </a:r>
              <a:endParaRPr b="1" sz="1400">
                <a:solidFill>
                  <a:srgbClr val="1E293B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rtl="1" algn="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iw" sz="1200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rPr>
                <a:t>ביצוע תהליך כוונון עדין בנפרד עבור כל אחד מ-‎12 מאגרי הנתונים (3 ראשיים + 9 תת-אירועי PHEME).</a:t>
              </a:r>
              <a:endParaRPr sz="1200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209" name="Google Shape;209;p24"/>
          <p:cNvGrpSpPr/>
          <p:nvPr/>
        </p:nvGrpSpPr>
        <p:grpSpPr>
          <a:xfrm>
            <a:off x="476250" y="2667000"/>
            <a:ext cx="4000500" cy="1333500"/>
            <a:chOff x="476250" y="2667000"/>
            <a:chExt cx="4000500" cy="1333500"/>
          </a:xfrm>
        </p:grpSpPr>
        <p:sp>
          <p:nvSpPr>
            <p:cNvPr id="210" name="Google Shape;210;p24"/>
            <p:cNvSpPr/>
            <p:nvPr/>
          </p:nvSpPr>
          <p:spPr>
            <a:xfrm>
              <a:off x="476250" y="2667000"/>
              <a:ext cx="4000500" cy="1333500"/>
            </a:xfrm>
            <a:prstGeom prst="roundRect">
              <a:avLst>
                <a:gd fmla="val 857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4"/>
            <p:cNvSpPr txBox="1"/>
            <p:nvPr/>
          </p:nvSpPr>
          <p:spPr>
            <a:xfrm>
              <a:off x="666750" y="284492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verified</a:t>
              </a:r>
              <a:endParaRPr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12" name="Google Shape;212;p24"/>
            <p:cNvSpPr txBox="1"/>
            <p:nvPr/>
          </p:nvSpPr>
          <p:spPr>
            <a:xfrm>
              <a:off x="666750" y="3190875"/>
              <a:ext cx="3619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1400">
                  <a:solidFill>
                    <a:srgbClr val="1E293B"/>
                  </a:solidFill>
                  <a:latin typeface="Assistant"/>
                  <a:ea typeface="Assistant"/>
                  <a:cs typeface="Assistant"/>
                  <a:sym typeface="Assistant"/>
                </a:rPr>
                <a:t>בקרת אימות (Validation)</a:t>
              </a:r>
              <a:endParaRPr b="1" sz="1400">
                <a:solidFill>
                  <a:srgbClr val="1E293B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rtl="1" algn="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iw" sz="1200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rPr>
                <a:t>שימוש בשיטת Stratified 5-Fold Cross Validation .</a:t>
              </a:r>
              <a:endParaRPr sz="1200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213" name="Google Shape;213;p24"/>
          <p:cNvGrpSpPr/>
          <p:nvPr/>
        </p:nvGrpSpPr>
        <p:grpSpPr>
          <a:xfrm>
            <a:off x="476250" y="4191000"/>
            <a:ext cx="8191500" cy="571500"/>
            <a:chOff x="476250" y="4191000"/>
            <a:chExt cx="8191500" cy="571500"/>
          </a:xfrm>
        </p:grpSpPr>
        <p:sp>
          <p:nvSpPr>
            <p:cNvPr id="214" name="Google Shape;214;p24"/>
            <p:cNvSpPr/>
            <p:nvPr/>
          </p:nvSpPr>
          <p:spPr>
            <a:xfrm>
              <a:off x="476250" y="4191000"/>
              <a:ext cx="8191500" cy="571500"/>
            </a:xfrm>
            <a:prstGeom prst="roundRect">
              <a:avLst>
                <a:gd fmla="val 50000" name="adj"/>
              </a:avLst>
            </a:prstGeom>
            <a:solidFill>
              <a:srgbClr val="EEF2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4"/>
            <p:cNvSpPr txBox="1"/>
            <p:nvPr/>
          </p:nvSpPr>
          <p:spPr>
            <a:xfrm>
              <a:off x="666750" y="4191000"/>
              <a:ext cx="7810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w" sz="1300">
                  <a:solidFill>
                    <a:srgbClr val="3730A3"/>
                  </a:solidFill>
                  <a:latin typeface="Assistant SemiBold"/>
                  <a:ea typeface="Assistant SemiBold"/>
                  <a:cs typeface="Assistant SemiBold"/>
                  <a:sym typeface="Assistant SemiBold"/>
                </a:rPr>
                <a:t>תוצר סופי: 48 מודלים ייעודיים (4 קידודים × 12 מאגרי נתונים), מותאמים אישית לכל Data Set במחקר.</a:t>
              </a:r>
              <a:endParaRPr b="0" sz="1300">
                <a:solidFill>
                  <a:srgbClr val="3730A3"/>
                </a:solidFill>
                <a:latin typeface="Assistant SemiBold"/>
                <a:ea typeface="Assistant SemiBold"/>
                <a:cs typeface="Assistant SemiBold"/>
                <a:sym typeface="Assistant SemiBold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5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5"/>
          <p:cNvSpPr/>
          <p:nvPr/>
        </p:nvSpPr>
        <p:spPr>
          <a:xfrm>
            <a:off x="8324850" y="552450"/>
            <a:ext cx="381000" cy="38100"/>
          </a:xfrm>
          <a:prstGeom prst="roundRect">
            <a:avLst>
              <a:gd fmla="val 50000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5"/>
          <p:cNvSpPr txBox="1"/>
          <p:nvPr>
            <p:ph type="title"/>
          </p:nvPr>
        </p:nvSpPr>
        <p:spPr>
          <a:xfrm>
            <a:off x="381000" y="190500"/>
            <a:ext cx="8382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iw" sz="2400">
                <a:solidFill>
                  <a:srgbClr val="1E293B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שיטה |</a:t>
            </a:r>
            <a:r>
              <a:rPr lang="iw" sz="2400">
                <a:solidFill>
                  <a:srgbClr val="1E293B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Fine-Tuning</a:t>
            </a:r>
            <a:endParaRPr b="0" sz="2400">
              <a:solidFill>
                <a:srgbClr val="1E293B"/>
              </a:solidFill>
              <a:latin typeface="Assistant ExtraBold"/>
              <a:ea typeface="Assistant ExtraBold"/>
              <a:cs typeface="Assistant ExtraBold"/>
              <a:sym typeface="Assistant ExtraBold"/>
            </a:endParaRPr>
          </a:p>
        </p:txBody>
      </p:sp>
      <p:grpSp>
        <p:nvGrpSpPr>
          <p:cNvPr id="223" name="Google Shape;223;p25"/>
          <p:cNvGrpSpPr/>
          <p:nvPr/>
        </p:nvGrpSpPr>
        <p:grpSpPr>
          <a:xfrm>
            <a:off x="476250" y="4191000"/>
            <a:ext cx="8191500" cy="571500"/>
            <a:chOff x="476250" y="4191000"/>
            <a:chExt cx="8191500" cy="571500"/>
          </a:xfrm>
        </p:grpSpPr>
        <p:sp>
          <p:nvSpPr>
            <p:cNvPr id="224" name="Google Shape;224;p25"/>
            <p:cNvSpPr/>
            <p:nvPr/>
          </p:nvSpPr>
          <p:spPr>
            <a:xfrm>
              <a:off x="476250" y="4191000"/>
              <a:ext cx="8191500" cy="571500"/>
            </a:xfrm>
            <a:prstGeom prst="roundRect">
              <a:avLst>
                <a:gd fmla="val 50000" name="adj"/>
              </a:avLst>
            </a:prstGeom>
            <a:solidFill>
              <a:srgbClr val="EEF2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25"/>
            <p:cNvSpPr txBox="1"/>
            <p:nvPr/>
          </p:nvSpPr>
          <p:spPr>
            <a:xfrm>
              <a:off x="666750" y="4191000"/>
              <a:ext cx="7810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w" sz="1300">
                  <a:solidFill>
                    <a:srgbClr val="3730A3"/>
                  </a:solidFill>
                  <a:latin typeface="Assistant SemiBold"/>
                  <a:ea typeface="Assistant SemiBold"/>
                  <a:cs typeface="Assistant SemiBold"/>
                  <a:sym typeface="Assistant SemiBold"/>
                </a:rPr>
                <a:t>ההיפרפרמטרים זהים לכל ארבעת הקידודים, לצורך השוואה הוגנת.</a:t>
              </a:r>
              <a:endParaRPr b="0" sz="1300">
                <a:solidFill>
                  <a:srgbClr val="3730A3"/>
                </a:solidFill>
                <a:latin typeface="Assistant SemiBold"/>
                <a:ea typeface="Assistant SemiBold"/>
                <a:cs typeface="Assistant SemiBold"/>
                <a:sym typeface="Assistant SemiBold"/>
              </a:endParaRPr>
            </a:p>
          </p:txBody>
        </p:sp>
      </p:grpSp>
      <p:graphicFrame>
        <p:nvGraphicFramePr>
          <p:cNvPr id="226" name="Google Shape;226;p25"/>
          <p:cNvGraphicFramePr/>
          <p:nvPr/>
        </p:nvGraphicFramePr>
        <p:xfrm>
          <a:off x="952500" y="1623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{556E7B18-D933-4BB6-8C4F-23904260E9A3}</a:tableStyleId>
              </a:tblPr>
              <a:tblGrid>
                <a:gridCol w="2615575"/>
                <a:gridCol w="2615575"/>
                <a:gridCol w="2615575"/>
              </a:tblGrid>
              <a:tr h="507375">
                <a:tc>
                  <a:txBody>
                    <a:bodyPr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">
                          <a:solidFill>
                            <a:srgbClr val="1A237E"/>
                          </a:solidFill>
                        </a:rPr>
                        <a:t>רציונל</a:t>
                      </a:r>
                      <a:endParaRPr b="1">
                        <a:solidFill>
                          <a:srgbClr val="1A237E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">
                          <a:solidFill>
                            <a:srgbClr val="1A237E"/>
                          </a:solidFill>
                        </a:rPr>
                        <a:t>ערך</a:t>
                      </a:r>
                      <a:endParaRPr b="1">
                        <a:solidFill>
                          <a:srgbClr val="1A237E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">
                          <a:solidFill>
                            <a:srgbClr val="1A237E"/>
                          </a:solidFill>
                        </a:rPr>
                        <a:t>משתנה</a:t>
                      </a:r>
                      <a:endParaRPr b="1">
                        <a:solidFill>
                          <a:srgbClr val="1A237E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507375">
                <a:tc>
                  <a:txBody>
                    <a:bodyPr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>
                          <a:solidFill>
                            <a:schemeClr val="dk2"/>
                          </a:solidFill>
                        </a:rPr>
                        <a:t>סטנדרטי לכוונון עדין של טרנספורמרים בגודל בינוני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>
                          <a:solidFill>
                            <a:schemeClr val="dk2"/>
                          </a:solidFill>
                        </a:rPr>
                        <a:t>2e-05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chemeClr val="dk2"/>
                          </a:solidFill>
                          <a:latin typeface="David"/>
                          <a:ea typeface="David"/>
                          <a:cs typeface="David"/>
                          <a:sym typeface="David"/>
                        </a:rPr>
                        <a:t>Learning Rate</a:t>
                      </a:r>
                      <a:endParaRPr sz="1200">
                        <a:solidFill>
                          <a:schemeClr val="dk2"/>
                        </a:solidFill>
                        <a:latin typeface="David"/>
                        <a:ea typeface="David"/>
                        <a:cs typeface="David"/>
                        <a:sym typeface="Davi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2"/>
                        </a:solidFill>
                        <a:latin typeface="David"/>
                        <a:ea typeface="David"/>
                        <a:cs typeface="David"/>
                        <a:sym typeface="David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507375">
                <a:tc>
                  <a:txBody>
                    <a:bodyPr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>
                          <a:solidFill>
                            <a:schemeClr val="dk2"/>
                          </a:solidFill>
                        </a:rPr>
                        <a:t>איזון בין יציבות האימון לזמן ריצה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>
                          <a:solidFill>
                            <a:schemeClr val="dk2"/>
                          </a:solidFill>
                        </a:rPr>
                        <a:t>16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chemeClr val="dk2"/>
                          </a:solidFill>
                          <a:latin typeface="David"/>
                          <a:ea typeface="David"/>
                          <a:cs typeface="David"/>
                          <a:sym typeface="David"/>
                        </a:rPr>
                        <a:t>Batch Size</a:t>
                      </a:r>
                      <a:endParaRPr sz="1200">
                        <a:solidFill>
                          <a:schemeClr val="dk2"/>
                        </a:solidFill>
                        <a:latin typeface="David"/>
                        <a:ea typeface="David"/>
                        <a:cs typeface="David"/>
                        <a:sym typeface="David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507375">
                <a:tc>
                  <a:txBody>
                    <a:bodyPr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>
                          <a:solidFill>
                            <a:schemeClr val="dk2"/>
                          </a:solidFill>
                        </a:rPr>
                        <a:t>עם ⁦Early Stopping (patience=2) ו-‎Stratified 5-Fold CV⁩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>
                          <a:solidFill>
                            <a:schemeClr val="dk2"/>
                          </a:solidFill>
                        </a:rPr>
                        <a:t>4 (מקסימום)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chemeClr val="dk2"/>
                          </a:solidFill>
                          <a:latin typeface="David"/>
                          <a:ea typeface="David"/>
                          <a:cs typeface="David"/>
                          <a:sym typeface="David"/>
                        </a:rPr>
                        <a:t>Epochs (max)</a:t>
                      </a:r>
                      <a:endParaRPr sz="1200">
                        <a:solidFill>
                          <a:schemeClr val="dk2"/>
                        </a:solidFill>
                        <a:latin typeface="David"/>
                        <a:ea typeface="David"/>
                        <a:cs typeface="David"/>
                        <a:sym typeface="David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6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6"/>
          <p:cNvSpPr/>
          <p:nvPr/>
        </p:nvSpPr>
        <p:spPr>
          <a:xfrm>
            <a:off x="8324850" y="552450"/>
            <a:ext cx="381000" cy="38100"/>
          </a:xfrm>
          <a:prstGeom prst="roundRect">
            <a:avLst>
              <a:gd fmla="val 50000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6"/>
          <p:cNvSpPr txBox="1"/>
          <p:nvPr/>
        </p:nvSpPr>
        <p:spPr>
          <a:xfrm>
            <a:off x="381000" y="190500"/>
            <a:ext cx="8382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iw" sz="2400">
                <a:solidFill>
                  <a:srgbClr val="1E293B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שיטה | Zero-Shot</a:t>
            </a:r>
            <a:endParaRPr b="0" sz="2400">
              <a:solidFill>
                <a:srgbClr val="1E293B"/>
              </a:solidFill>
              <a:latin typeface="Assistant ExtraBold"/>
              <a:ea typeface="Assistant ExtraBold"/>
              <a:cs typeface="Assistant ExtraBold"/>
              <a:sym typeface="Assistant ExtraBold"/>
            </a:endParaRPr>
          </a:p>
        </p:txBody>
      </p:sp>
      <p:grpSp>
        <p:nvGrpSpPr>
          <p:cNvPr id="234" name="Google Shape;234;p26"/>
          <p:cNvGrpSpPr/>
          <p:nvPr/>
        </p:nvGrpSpPr>
        <p:grpSpPr>
          <a:xfrm>
            <a:off x="4667250" y="1143000"/>
            <a:ext cx="4000500" cy="1428900"/>
            <a:chOff x="4667250" y="1143000"/>
            <a:chExt cx="4000500" cy="1428900"/>
          </a:xfrm>
        </p:grpSpPr>
        <p:sp>
          <p:nvSpPr>
            <p:cNvPr id="235" name="Google Shape;235;p26"/>
            <p:cNvSpPr/>
            <p:nvPr/>
          </p:nvSpPr>
          <p:spPr>
            <a:xfrm>
              <a:off x="4667250" y="1143000"/>
              <a:ext cx="40005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6"/>
            <p:cNvSpPr txBox="1"/>
            <p:nvPr/>
          </p:nvSpPr>
          <p:spPr>
            <a:xfrm>
              <a:off x="5014250" y="1243827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37" name="Google Shape;237;p26"/>
            <p:cNvSpPr txBox="1"/>
            <p:nvPr/>
          </p:nvSpPr>
          <p:spPr>
            <a:xfrm>
              <a:off x="5066375" y="1295325"/>
              <a:ext cx="34290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1400">
                  <a:solidFill>
                    <a:srgbClr val="1E293B"/>
                  </a:solidFill>
                  <a:latin typeface="Assistant"/>
                  <a:ea typeface="Assistant"/>
                  <a:cs typeface="Assistant"/>
                  <a:sym typeface="Assistant"/>
                </a:rPr>
                <a:t>המודל הנבחר</a:t>
              </a:r>
              <a:endParaRPr b="1" sz="1400">
                <a:solidFill>
                  <a:srgbClr val="1E293B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rtl="1" algn="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iw" sz="1200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rPr>
                <a:t>שימוש בחמישה מודלי ⁦LLM⁩ בגישת ⁦Zero-Shot⁩: ⁦Llama 3.1 8B⁩ מקומי (⁦Ollama⁩), ולצידו ארבעה מודלי ענן — ⁦Gemini 2.5 Flash, GPT-OSS 120B, Llama 3.3 70B ו-‎Qwen3.6 27B⁩.</a:t>
              </a:r>
              <a:endParaRPr b="0" sz="1200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238" name="Google Shape;238;p26"/>
          <p:cNvGrpSpPr/>
          <p:nvPr/>
        </p:nvGrpSpPr>
        <p:grpSpPr>
          <a:xfrm>
            <a:off x="476250" y="1143000"/>
            <a:ext cx="4000500" cy="1428900"/>
            <a:chOff x="476250" y="1143000"/>
            <a:chExt cx="4000500" cy="1428900"/>
          </a:xfrm>
        </p:grpSpPr>
        <p:sp>
          <p:nvSpPr>
            <p:cNvPr id="239" name="Google Shape;239;p26"/>
            <p:cNvSpPr/>
            <p:nvPr/>
          </p:nvSpPr>
          <p:spPr>
            <a:xfrm>
              <a:off x="476250" y="1143000"/>
              <a:ext cx="40005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6"/>
            <p:cNvSpPr txBox="1"/>
            <p:nvPr/>
          </p:nvSpPr>
          <p:spPr>
            <a:xfrm>
              <a:off x="823225" y="1243827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terminal</a:t>
              </a:r>
              <a:endParaRPr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41" name="Google Shape;241;p26"/>
            <p:cNvSpPr txBox="1"/>
            <p:nvPr/>
          </p:nvSpPr>
          <p:spPr>
            <a:xfrm>
              <a:off x="916200" y="1285800"/>
              <a:ext cx="34290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1400">
                  <a:solidFill>
                    <a:srgbClr val="1E293B"/>
                  </a:solidFill>
                  <a:latin typeface="Assistant"/>
                  <a:ea typeface="Assistant"/>
                  <a:cs typeface="Assistant"/>
                  <a:sym typeface="Assistant"/>
                </a:rPr>
                <a:t>מנגנון עיבוד פלט</a:t>
              </a:r>
              <a:endParaRPr b="1" sz="1400">
                <a:solidFill>
                  <a:srgbClr val="1E293B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rtl="1" algn="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iw" sz="1200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rPr>
                <a:t>חילוץ התווית הסופית מתשובת המודל והמרתה לפורמט אחיד לצורך חישוב מדדי ההערכה.</a:t>
              </a:r>
              <a:endParaRPr b="0" sz="1200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242" name="Google Shape;242;p26"/>
          <p:cNvGrpSpPr/>
          <p:nvPr/>
        </p:nvGrpSpPr>
        <p:grpSpPr>
          <a:xfrm>
            <a:off x="476250" y="2857500"/>
            <a:ext cx="8191500" cy="1428900"/>
            <a:chOff x="476250" y="2857500"/>
            <a:chExt cx="8191500" cy="1428900"/>
          </a:xfrm>
        </p:grpSpPr>
        <p:sp>
          <p:nvSpPr>
            <p:cNvPr id="243" name="Google Shape;243;p26"/>
            <p:cNvSpPr/>
            <p:nvPr/>
          </p:nvSpPr>
          <p:spPr>
            <a:xfrm>
              <a:off x="476250" y="2857500"/>
              <a:ext cx="81915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26"/>
            <p:cNvSpPr txBox="1"/>
            <p:nvPr/>
          </p:nvSpPr>
          <p:spPr>
            <a:xfrm>
              <a:off x="1068175" y="2952902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description</a:t>
              </a:r>
              <a:endParaRPr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45" name="Google Shape;245;p26"/>
            <p:cNvSpPr txBox="1"/>
            <p:nvPr/>
          </p:nvSpPr>
          <p:spPr>
            <a:xfrm>
              <a:off x="666750" y="3048000"/>
              <a:ext cx="7429500" cy="1047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1400">
                  <a:solidFill>
                    <a:srgbClr val="1E293B"/>
                  </a:solidFill>
                  <a:latin typeface="Assistant"/>
                  <a:ea typeface="Assistant"/>
                  <a:cs typeface="Assistant"/>
                  <a:sym typeface="Assistant"/>
                </a:rPr>
                <a:t>הנחיה טקסטואלית</a:t>
              </a:r>
              <a:endParaRPr b="1">
                <a:solidFill>
                  <a:srgbClr val="1E293B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rtl="1" algn="r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0" lang="iw" sz="1200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rPr>
                <a:t>עבור כל ציוץ, המודל קיבל הנחיה זהה שכללה את תיאור המשימה, ההקשר של המאגר (Manchester, Monkeypox או PHEME), הגדרת הקטגוריות והנחיה לביצוע הסקה.</a:t>
              </a:r>
              <a:endParaRPr b="0" sz="1200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476250" y="4476750"/>
            <a:ext cx="8191500" cy="476400"/>
            <a:chOff x="476250" y="4476750"/>
            <a:chExt cx="8191500" cy="476400"/>
          </a:xfrm>
        </p:grpSpPr>
        <p:sp>
          <p:nvSpPr>
            <p:cNvPr id="247" name="Google Shape;247;p26"/>
            <p:cNvSpPr/>
            <p:nvPr/>
          </p:nvSpPr>
          <p:spPr>
            <a:xfrm>
              <a:off x="476250" y="4476750"/>
              <a:ext cx="8191500" cy="476400"/>
            </a:xfrm>
            <a:prstGeom prst="roundRect">
              <a:avLst>
                <a:gd fmla="val 50000" name="adj"/>
              </a:avLst>
            </a:prstGeom>
            <a:solidFill>
              <a:srgbClr val="EEF2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6"/>
            <p:cNvSpPr txBox="1"/>
            <p:nvPr/>
          </p:nvSpPr>
          <p:spPr>
            <a:xfrm>
              <a:off x="666750" y="4476750"/>
              <a:ext cx="78105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w" sz="1200">
                  <a:solidFill>
                    <a:srgbClr val="3730A3"/>
                  </a:solidFill>
                  <a:latin typeface="Assistant SemiBold"/>
                  <a:ea typeface="Assistant SemiBold"/>
                  <a:cs typeface="Assistant SemiBold"/>
                  <a:sym typeface="Assistant SemiBold"/>
                </a:rPr>
                <a:t>הגישה מאפשרת סיווג מהיר וגמיש ללא צורך באיסוף מאגר מתויג גדול או </a:t>
              </a:r>
              <a:r>
                <a:rPr lang="iw" sz="1200">
                  <a:solidFill>
                    <a:srgbClr val="3730A3"/>
                  </a:solidFill>
                  <a:latin typeface="Assistant SemiBold"/>
                  <a:ea typeface="Assistant SemiBold"/>
                  <a:cs typeface="Assistant SemiBold"/>
                  <a:sym typeface="Assistant SemiBold"/>
                </a:rPr>
                <a:t>אימון</a:t>
              </a:r>
              <a:r>
                <a:rPr b="0" lang="iw" sz="1200">
                  <a:solidFill>
                    <a:srgbClr val="3730A3"/>
                  </a:solidFill>
                  <a:latin typeface="Assistant SemiBold"/>
                  <a:ea typeface="Assistant SemiBold"/>
                  <a:cs typeface="Assistant SemiBold"/>
                  <a:sym typeface="Assistant SemiBold"/>
                </a:rPr>
                <a:t> ממושך.</a:t>
              </a:r>
              <a:endParaRPr b="0" sz="1200">
                <a:solidFill>
                  <a:srgbClr val="3730A3"/>
                </a:solidFill>
                <a:latin typeface="Assistant SemiBold"/>
                <a:ea typeface="Assistant SemiBold"/>
                <a:cs typeface="Assistant SemiBold"/>
                <a:sym typeface="Assistant SemiBold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7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7"/>
          <p:cNvSpPr/>
          <p:nvPr/>
        </p:nvSpPr>
        <p:spPr>
          <a:xfrm>
            <a:off x="8324850" y="552450"/>
            <a:ext cx="381000" cy="38100"/>
          </a:xfrm>
          <a:prstGeom prst="roundRect">
            <a:avLst>
              <a:gd fmla="val 50000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81000" y="190500"/>
            <a:ext cx="8382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iw" sz="2400">
                <a:solidFill>
                  <a:srgbClr val="1E293B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שיטה | השוואה</a:t>
            </a:r>
            <a:endParaRPr b="0" sz="2400">
              <a:solidFill>
                <a:srgbClr val="1E293B"/>
              </a:solidFill>
              <a:latin typeface="Assistant ExtraBold"/>
              <a:ea typeface="Assistant ExtraBold"/>
              <a:cs typeface="Assistant ExtraBold"/>
              <a:sym typeface="Assistant ExtraBold"/>
            </a:endParaRPr>
          </a:p>
        </p:txBody>
      </p:sp>
      <p:sp>
        <p:nvSpPr>
          <p:cNvPr id="256" name="Google Shape;256;p27"/>
          <p:cNvSpPr txBox="1"/>
          <p:nvPr/>
        </p:nvSpPr>
        <p:spPr>
          <a:xfrm>
            <a:off x="476250" y="952500"/>
            <a:ext cx="8191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w" sz="1600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rPr>
              <a:t>מדדי ההשוואה המרכזיים בפרויקט:</a:t>
            </a:r>
            <a:endParaRPr b="1" sz="1600">
              <a:solidFill>
                <a:srgbClr val="475569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grpSp>
        <p:nvGrpSpPr>
          <p:cNvPr id="257" name="Google Shape;257;p27"/>
          <p:cNvGrpSpPr/>
          <p:nvPr/>
        </p:nvGrpSpPr>
        <p:grpSpPr>
          <a:xfrm>
            <a:off x="6096000" y="1428750"/>
            <a:ext cx="2571900" cy="1238400"/>
            <a:chOff x="6096000" y="1428750"/>
            <a:chExt cx="2571900" cy="1238400"/>
          </a:xfrm>
        </p:grpSpPr>
        <p:sp>
          <p:nvSpPr>
            <p:cNvPr id="258" name="Google Shape;258;p27"/>
            <p:cNvSpPr/>
            <p:nvPr/>
          </p:nvSpPr>
          <p:spPr>
            <a:xfrm>
              <a:off x="6096000" y="1428750"/>
              <a:ext cx="2571900" cy="1238400"/>
            </a:xfrm>
            <a:prstGeom prst="roundRect">
              <a:avLst>
                <a:gd fmla="val 923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7"/>
            <p:cNvSpPr txBox="1"/>
            <p:nvPr/>
          </p:nvSpPr>
          <p:spPr>
            <a:xfrm>
              <a:off x="6238875" y="1571625"/>
              <a:ext cx="2286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w" sz="1400">
                  <a:solidFill>
                    <a:srgbClr val="3B82F6"/>
                  </a:solidFill>
                  <a:latin typeface="Assistant ExtraBold"/>
                  <a:ea typeface="Assistant ExtraBold"/>
                  <a:cs typeface="Assistant ExtraBold"/>
                  <a:sym typeface="Assistant ExtraBold"/>
                </a:rPr>
                <a:t>Accuracy</a:t>
              </a:r>
              <a:endParaRPr b="0" sz="1400">
                <a:solidFill>
                  <a:srgbClr val="3B82F6"/>
                </a:solidFill>
                <a:latin typeface="Assistant ExtraBold"/>
                <a:ea typeface="Assistant ExtraBold"/>
                <a:cs typeface="Assistant ExtraBold"/>
                <a:sym typeface="Assistant ExtraBold"/>
              </a:endParaRPr>
            </a:p>
            <a:p>
              <a:pPr indent="0" lvl="0" marL="0" rtl="1" algn="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iw" sz="1200">
                  <a:solidFill>
                    <a:srgbClr val="1E293B"/>
                  </a:solidFill>
                  <a:latin typeface="Assistant"/>
                  <a:ea typeface="Assistant"/>
                  <a:cs typeface="Assistant"/>
                  <a:sym typeface="Assistant"/>
                </a:rPr>
                <a:t>שיעור הסיווגים הנכונים מתוך כלל הדוגמאות.</a:t>
              </a:r>
              <a:endParaRPr b="0" sz="1200">
                <a:solidFill>
                  <a:srgbClr val="1E293B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260" name="Google Shape;260;p27"/>
          <p:cNvGrpSpPr/>
          <p:nvPr/>
        </p:nvGrpSpPr>
        <p:grpSpPr>
          <a:xfrm>
            <a:off x="3286125" y="1428750"/>
            <a:ext cx="2571900" cy="1238400"/>
            <a:chOff x="3286125" y="1428750"/>
            <a:chExt cx="2571900" cy="1238400"/>
          </a:xfrm>
        </p:grpSpPr>
        <p:sp>
          <p:nvSpPr>
            <p:cNvPr id="261" name="Google Shape;261;p27"/>
            <p:cNvSpPr/>
            <p:nvPr/>
          </p:nvSpPr>
          <p:spPr>
            <a:xfrm>
              <a:off x="3286125" y="1428750"/>
              <a:ext cx="2571900" cy="1238400"/>
            </a:xfrm>
            <a:prstGeom prst="roundRect">
              <a:avLst>
                <a:gd fmla="val 923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7"/>
            <p:cNvSpPr txBox="1"/>
            <p:nvPr/>
          </p:nvSpPr>
          <p:spPr>
            <a:xfrm>
              <a:off x="3429000" y="1571625"/>
              <a:ext cx="2286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w" sz="1400">
                  <a:solidFill>
                    <a:srgbClr val="3B82F6"/>
                  </a:solidFill>
                  <a:latin typeface="Assistant ExtraBold"/>
                  <a:ea typeface="Assistant ExtraBold"/>
                  <a:cs typeface="Assistant ExtraBold"/>
                  <a:sym typeface="Assistant ExtraBold"/>
                </a:rPr>
                <a:t>Precision</a:t>
              </a:r>
              <a:endParaRPr b="0" sz="1400">
                <a:solidFill>
                  <a:srgbClr val="3B82F6"/>
                </a:solidFill>
                <a:latin typeface="Assistant ExtraBold"/>
                <a:ea typeface="Assistant ExtraBold"/>
                <a:cs typeface="Assistant ExtraBold"/>
                <a:sym typeface="Assistant ExtraBold"/>
              </a:endParaRPr>
            </a:p>
            <a:p>
              <a:pPr indent="0" lvl="0" marL="0" rtl="1" algn="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iw" sz="1200">
                  <a:solidFill>
                    <a:srgbClr val="1E293B"/>
                  </a:solidFill>
                  <a:latin typeface="Assistant"/>
                  <a:ea typeface="Assistant"/>
                  <a:cs typeface="Assistant"/>
                  <a:sym typeface="Assistant"/>
                </a:rPr>
                <a:t>שיעור הדוגמאות שסווגו כחיוביות ואכן היו חיוביות.</a:t>
              </a:r>
              <a:endParaRPr b="0" sz="1200">
                <a:solidFill>
                  <a:srgbClr val="1E293B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263" name="Google Shape;263;p27"/>
          <p:cNvGrpSpPr/>
          <p:nvPr/>
        </p:nvGrpSpPr>
        <p:grpSpPr>
          <a:xfrm>
            <a:off x="476250" y="1428750"/>
            <a:ext cx="2571900" cy="1238400"/>
            <a:chOff x="476250" y="1428750"/>
            <a:chExt cx="2571900" cy="1238400"/>
          </a:xfrm>
        </p:grpSpPr>
        <p:sp>
          <p:nvSpPr>
            <p:cNvPr id="264" name="Google Shape;264;p27"/>
            <p:cNvSpPr/>
            <p:nvPr/>
          </p:nvSpPr>
          <p:spPr>
            <a:xfrm>
              <a:off x="476250" y="1428750"/>
              <a:ext cx="2571900" cy="1238400"/>
            </a:xfrm>
            <a:prstGeom prst="roundRect">
              <a:avLst>
                <a:gd fmla="val 923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7"/>
            <p:cNvSpPr txBox="1"/>
            <p:nvPr/>
          </p:nvSpPr>
          <p:spPr>
            <a:xfrm>
              <a:off x="619125" y="1571625"/>
              <a:ext cx="2286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w" sz="1400">
                  <a:solidFill>
                    <a:srgbClr val="3B82F6"/>
                  </a:solidFill>
                  <a:latin typeface="Assistant ExtraBold"/>
                  <a:ea typeface="Assistant ExtraBold"/>
                  <a:cs typeface="Assistant ExtraBold"/>
                  <a:sym typeface="Assistant ExtraBold"/>
                </a:rPr>
                <a:t>Recall</a:t>
              </a:r>
              <a:endParaRPr b="0" sz="1400">
                <a:solidFill>
                  <a:srgbClr val="3B82F6"/>
                </a:solidFill>
                <a:latin typeface="Assistant ExtraBold"/>
                <a:ea typeface="Assistant ExtraBold"/>
                <a:cs typeface="Assistant ExtraBold"/>
                <a:sym typeface="Assistant ExtraBold"/>
              </a:endParaRPr>
            </a:p>
            <a:p>
              <a:pPr indent="0" lvl="0" marL="0" rtl="1" algn="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iw" sz="1200">
                  <a:solidFill>
                    <a:srgbClr val="1E293B"/>
                  </a:solidFill>
                  <a:latin typeface="Assistant"/>
                  <a:ea typeface="Assistant"/>
                  <a:cs typeface="Assistant"/>
                  <a:sym typeface="Assistant"/>
                </a:rPr>
                <a:t>שיעור הדוגמאות החיוביות שהמודל הצליח לזהות.</a:t>
              </a:r>
              <a:endParaRPr b="0" sz="1200">
                <a:solidFill>
                  <a:srgbClr val="1E293B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266" name="Google Shape;266;p27"/>
          <p:cNvGrpSpPr/>
          <p:nvPr/>
        </p:nvGrpSpPr>
        <p:grpSpPr>
          <a:xfrm>
            <a:off x="4667250" y="2857500"/>
            <a:ext cx="4000500" cy="952500"/>
            <a:chOff x="4667250" y="2857500"/>
            <a:chExt cx="4000500" cy="952500"/>
          </a:xfrm>
        </p:grpSpPr>
        <p:sp>
          <p:nvSpPr>
            <p:cNvPr id="267" name="Google Shape;267;p27"/>
            <p:cNvSpPr/>
            <p:nvPr/>
          </p:nvSpPr>
          <p:spPr>
            <a:xfrm>
              <a:off x="4667250" y="2857500"/>
              <a:ext cx="40005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27"/>
            <p:cNvSpPr txBox="1"/>
            <p:nvPr/>
          </p:nvSpPr>
          <p:spPr>
            <a:xfrm>
              <a:off x="4857750" y="3000375"/>
              <a:ext cx="3619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w" sz="1400">
                  <a:solidFill>
                    <a:srgbClr val="3B82F6"/>
                  </a:solidFill>
                  <a:latin typeface="Assistant ExtraBold"/>
                  <a:ea typeface="Assistant ExtraBold"/>
                  <a:cs typeface="Assistant ExtraBold"/>
                  <a:sym typeface="Assistant ExtraBold"/>
                </a:rPr>
                <a:t>F1-Macro</a:t>
              </a:r>
              <a:endParaRPr b="0" sz="1400">
                <a:solidFill>
                  <a:srgbClr val="3B82F6"/>
                </a:solidFill>
                <a:latin typeface="Assistant ExtraBold"/>
                <a:ea typeface="Assistant ExtraBold"/>
                <a:cs typeface="Assistant ExtraBold"/>
                <a:sym typeface="Assistant ExtraBold"/>
              </a:endParaRPr>
            </a:p>
            <a:p>
              <a:pPr indent="0" lvl="0" marL="0" rtl="1" algn="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iw" sz="1200">
                  <a:solidFill>
                    <a:srgbClr val="1E293B"/>
                  </a:solidFill>
                  <a:latin typeface="Assistant"/>
                  <a:ea typeface="Assistant"/>
                  <a:cs typeface="Assistant"/>
                  <a:sym typeface="Assistant"/>
                </a:rPr>
                <a:t>ממוצע F1 לא משוקלל בין המחלקות.</a:t>
              </a:r>
              <a:endParaRPr b="1" sz="1200">
                <a:solidFill>
                  <a:srgbClr val="1E293B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269" name="Google Shape;269;p27"/>
          <p:cNvGrpSpPr/>
          <p:nvPr/>
        </p:nvGrpSpPr>
        <p:grpSpPr>
          <a:xfrm>
            <a:off x="476250" y="2857500"/>
            <a:ext cx="4000500" cy="952500"/>
            <a:chOff x="476250" y="2857500"/>
            <a:chExt cx="4000500" cy="952500"/>
          </a:xfrm>
        </p:grpSpPr>
        <p:sp>
          <p:nvSpPr>
            <p:cNvPr id="270" name="Google Shape;270;p27"/>
            <p:cNvSpPr/>
            <p:nvPr/>
          </p:nvSpPr>
          <p:spPr>
            <a:xfrm>
              <a:off x="476250" y="2857500"/>
              <a:ext cx="40005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7"/>
            <p:cNvSpPr txBox="1"/>
            <p:nvPr/>
          </p:nvSpPr>
          <p:spPr>
            <a:xfrm>
              <a:off x="666750" y="3000375"/>
              <a:ext cx="3619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w" sz="1400">
                  <a:solidFill>
                    <a:srgbClr val="3B82F6"/>
                  </a:solidFill>
                  <a:latin typeface="Assistant ExtraBold"/>
                  <a:ea typeface="Assistant ExtraBold"/>
                  <a:cs typeface="Assistant ExtraBold"/>
                  <a:sym typeface="Assistant ExtraBold"/>
                </a:rPr>
                <a:t>ROC-AUC</a:t>
              </a:r>
              <a:endParaRPr b="0" sz="1400">
                <a:solidFill>
                  <a:srgbClr val="3B82F6"/>
                </a:solidFill>
                <a:latin typeface="Assistant ExtraBold"/>
                <a:ea typeface="Assistant ExtraBold"/>
                <a:cs typeface="Assistant ExtraBold"/>
                <a:sym typeface="Assistant ExtraBold"/>
              </a:endParaRPr>
            </a:p>
            <a:p>
              <a:pPr indent="0" lvl="0" marL="0" rtl="1" algn="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iw" sz="1200">
                  <a:solidFill>
                    <a:srgbClr val="1E293B"/>
                  </a:solidFill>
                  <a:latin typeface="Assistant"/>
                  <a:ea typeface="Assistant"/>
                  <a:cs typeface="Assistant"/>
                  <a:sym typeface="Assistant"/>
                </a:rPr>
                <a:t>יכולת הבחנה בין מחלקות, רלוונטי כשיש ציוני הסתברות.</a:t>
              </a:r>
              <a:endParaRPr b="0" sz="1200">
                <a:solidFill>
                  <a:srgbClr val="1E293B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272" name="Google Shape;272;p27"/>
          <p:cNvGrpSpPr/>
          <p:nvPr/>
        </p:nvGrpSpPr>
        <p:grpSpPr>
          <a:xfrm>
            <a:off x="476250" y="4191000"/>
            <a:ext cx="8191500" cy="571500"/>
            <a:chOff x="476250" y="4191000"/>
            <a:chExt cx="8191500" cy="571500"/>
          </a:xfrm>
        </p:grpSpPr>
        <p:sp>
          <p:nvSpPr>
            <p:cNvPr id="273" name="Google Shape;273;p27"/>
            <p:cNvSpPr/>
            <p:nvPr/>
          </p:nvSpPr>
          <p:spPr>
            <a:xfrm>
              <a:off x="476250" y="4191000"/>
              <a:ext cx="8191500" cy="571500"/>
            </a:xfrm>
            <a:prstGeom prst="roundRect">
              <a:avLst>
                <a:gd fmla="val 50000" name="adj"/>
              </a:avLst>
            </a:prstGeom>
            <a:solidFill>
              <a:srgbClr val="EEF2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7"/>
            <p:cNvSpPr txBox="1"/>
            <p:nvPr/>
          </p:nvSpPr>
          <p:spPr>
            <a:xfrm>
              <a:off x="666750" y="4191000"/>
              <a:ext cx="7810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w" sz="1300">
                  <a:solidFill>
                    <a:srgbClr val="3730A3"/>
                  </a:solidFill>
                  <a:latin typeface="Assistant SemiBold"/>
                  <a:ea typeface="Assistant SemiBold"/>
                  <a:cs typeface="Assistant SemiBold"/>
                  <a:sym typeface="Assistant SemiBold"/>
                </a:rPr>
                <a:t>מדדים אלו משמשים להערכה והשוואה מהימנה בין המודלים השונים במחקר.</a:t>
              </a:r>
              <a:endParaRPr b="0" sz="1300">
                <a:solidFill>
                  <a:srgbClr val="3730A3"/>
                </a:solidFill>
                <a:latin typeface="Assistant SemiBold"/>
                <a:ea typeface="Assistant SemiBold"/>
                <a:cs typeface="Assistant SemiBold"/>
                <a:sym typeface="Assistant SemiBold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8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8"/>
          <p:cNvSpPr/>
          <p:nvPr/>
        </p:nvSpPr>
        <p:spPr>
          <a:xfrm>
            <a:off x="8324850" y="552450"/>
            <a:ext cx="381000" cy="38100"/>
          </a:xfrm>
          <a:prstGeom prst="roundRect">
            <a:avLst>
              <a:gd fmla="val 50000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8"/>
          <p:cNvSpPr txBox="1"/>
          <p:nvPr>
            <p:ph type="title"/>
          </p:nvPr>
        </p:nvSpPr>
        <p:spPr>
          <a:xfrm>
            <a:off x="381000" y="190500"/>
            <a:ext cx="8382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iw" sz="2400">
                <a:solidFill>
                  <a:srgbClr val="1E293B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תוצאות | מטריצות בלבול</a:t>
            </a:r>
            <a:endParaRPr b="0" sz="2400">
              <a:solidFill>
                <a:srgbClr val="1E293B"/>
              </a:solidFill>
              <a:latin typeface="Assistant ExtraBold"/>
              <a:ea typeface="Assistant ExtraBold"/>
              <a:cs typeface="Assistant ExtraBold"/>
              <a:sym typeface="Assistant ExtraBold"/>
            </a:endParaRPr>
          </a:p>
        </p:txBody>
      </p:sp>
      <p:sp>
        <p:nvSpPr>
          <p:cNvPr id="282" name="Google Shape;282;p28"/>
          <p:cNvSpPr/>
          <p:nvPr/>
        </p:nvSpPr>
        <p:spPr>
          <a:xfrm>
            <a:off x="381000" y="952500"/>
            <a:ext cx="8382000" cy="3619500"/>
          </a:xfrm>
          <a:prstGeom prst="roundRect">
            <a:avLst>
              <a:gd fmla="val 421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3" name="Google Shape;28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55045" y="952500"/>
            <a:ext cx="6033910" cy="3619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4" name="Google Shape;284;p28"/>
          <p:cNvGrpSpPr/>
          <p:nvPr/>
        </p:nvGrpSpPr>
        <p:grpSpPr>
          <a:xfrm>
            <a:off x="381000" y="4572000"/>
            <a:ext cx="8382000" cy="381000"/>
            <a:chOff x="381000" y="4572000"/>
            <a:chExt cx="8382000" cy="381000"/>
          </a:xfrm>
        </p:grpSpPr>
        <p:sp>
          <p:nvSpPr>
            <p:cNvPr id="285" name="Google Shape;285;p28"/>
            <p:cNvSpPr/>
            <p:nvPr/>
          </p:nvSpPr>
          <p:spPr>
            <a:xfrm>
              <a:off x="381000" y="4572000"/>
              <a:ext cx="8382000" cy="381000"/>
            </a:xfrm>
            <a:prstGeom prst="roundRect">
              <a:avLst>
                <a:gd fmla="val 50000" name="adj"/>
              </a:avLst>
            </a:prstGeom>
            <a:solidFill>
              <a:srgbClr val="EEF2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8"/>
            <p:cNvSpPr txBox="1"/>
            <p:nvPr/>
          </p:nvSpPr>
          <p:spPr>
            <a:xfrm>
              <a:off x="571500" y="4572000"/>
              <a:ext cx="800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w" sz="1100">
                  <a:solidFill>
                    <a:srgbClr val="3730A3"/>
                  </a:solidFill>
                  <a:latin typeface="Assistant SemiBold"/>
                  <a:ea typeface="Assistant SemiBold"/>
                  <a:cs typeface="Assistant SemiBold"/>
                  <a:sym typeface="Assistant SemiBold"/>
                </a:rPr>
                <a:t>מטריצות בלבול לכל 6 המודלים על שלושת המאגרים הראשיים: ⁦RoBERTa⁩ מוביל בעקביות; הפער הגדול ביותר נצפה במאגר ⁦PHEME⁩.</a:t>
              </a:r>
              <a:endParaRPr b="0" sz="1100">
                <a:solidFill>
                  <a:srgbClr val="3730A3"/>
                </a:solidFill>
                <a:latin typeface="Assistant SemiBold"/>
                <a:ea typeface="Assistant SemiBold"/>
                <a:cs typeface="Assistant SemiBold"/>
                <a:sym typeface="Assistant SemiBold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>
                <a:latin typeface="Assistant"/>
                <a:ea typeface="Assistant"/>
                <a:cs typeface="Assistant"/>
                <a:sym typeface="Assistant"/>
              </a:rPr>
              <a:t>מפת חום ⁦F1-Macro⁩ עבור כל תשעת המודלים על פני 12 מאגרי הנתונים (3 ראשיים + 9 תת-אירועי ⁦PHEME⁩):</a:t>
            </a:r>
            <a:endParaRPr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457200" rtl="1" algn="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2" name="Google Shape;29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2110" y="1152475"/>
            <a:ext cx="5519779" cy="34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9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9"/>
          <p:cNvSpPr txBox="1"/>
          <p:nvPr>
            <p:ph type="title"/>
          </p:nvPr>
        </p:nvSpPr>
        <p:spPr>
          <a:xfrm>
            <a:off x="381000" y="190500"/>
            <a:ext cx="8382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iw" sz="2400">
                <a:solidFill>
                  <a:srgbClr val="1E293B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תוצאות | </a:t>
            </a:r>
            <a:r>
              <a:rPr lang="iw" sz="2400">
                <a:solidFill>
                  <a:srgbClr val="1E293B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מדדים כלליים</a:t>
            </a:r>
            <a:endParaRPr b="0" sz="2400">
              <a:solidFill>
                <a:srgbClr val="1E293B"/>
              </a:solidFill>
              <a:latin typeface="Assistant ExtraBold"/>
              <a:ea typeface="Assistant ExtraBold"/>
              <a:cs typeface="Assistant ExtraBold"/>
              <a:sym typeface="Assistant ExtraBold"/>
            </a:endParaRPr>
          </a:p>
        </p:txBody>
      </p:sp>
      <p:sp>
        <p:nvSpPr>
          <p:cNvPr id="295" name="Google Shape;295;p29"/>
          <p:cNvSpPr/>
          <p:nvPr/>
        </p:nvSpPr>
        <p:spPr>
          <a:xfrm>
            <a:off x="8324850" y="552450"/>
            <a:ext cx="381000" cy="38100"/>
          </a:xfrm>
          <a:prstGeom prst="roundRect">
            <a:avLst>
              <a:gd fmla="val 50000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0"/>
          <p:cNvSpPr/>
          <p:nvPr/>
        </p:nvSpPr>
        <p:spPr>
          <a:xfrm>
            <a:off x="8324850" y="552450"/>
            <a:ext cx="381000" cy="38100"/>
          </a:xfrm>
          <a:prstGeom prst="roundRect">
            <a:avLst>
              <a:gd fmla="val 50000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30"/>
          <p:cNvSpPr txBox="1"/>
          <p:nvPr>
            <p:ph type="title"/>
          </p:nvPr>
        </p:nvSpPr>
        <p:spPr>
          <a:xfrm>
            <a:off x="381000" y="190500"/>
            <a:ext cx="8382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iw" sz="2400">
                <a:solidFill>
                  <a:srgbClr val="1E293B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תוצאות | המודל המנצח בכל מאגר</a:t>
            </a:r>
            <a:endParaRPr b="0" sz="2400">
              <a:solidFill>
                <a:srgbClr val="1E293B"/>
              </a:solidFill>
              <a:latin typeface="Assistant ExtraBold"/>
              <a:ea typeface="Assistant ExtraBold"/>
              <a:cs typeface="Assistant ExtraBold"/>
              <a:sym typeface="Assistant ExtraBold"/>
            </a:endParaRPr>
          </a:p>
        </p:txBody>
      </p:sp>
      <p:sp>
        <p:nvSpPr>
          <p:cNvPr id="303" name="Google Shape;303;p30"/>
          <p:cNvSpPr/>
          <p:nvPr/>
        </p:nvSpPr>
        <p:spPr>
          <a:xfrm>
            <a:off x="381000" y="952500"/>
            <a:ext cx="8382000" cy="342900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4" name="Google Shape;304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77224" y="952500"/>
            <a:ext cx="5589553" cy="3429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5" name="Google Shape;305;p30"/>
          <p:cNvGrpSpPr/>
          <p:nvPr/>
        </p:nvGrpSpPr>
        <p:grpSpPr>
          <a:xfrm>
            <a:off x="381000" y="4524375"/>
            <a:ext cx="8382000" cy="428700"/>
            <a:chOff x="381000" y="4524375"/>
            <a:chExt cx="8382000" cy="428700"/>
          </a:xfrm>
        </p:grpSpPr>
        <p:sp>
          <p:nvSpPr>
            <p:cNvPr id="306" name="Google Shape;306;p30"/>
            <p:cNvSpPr/>
            <p:nvPr/>
          </p:nvSpPr>
          <p:spPr>
            <a:xfrm>
              <a:off x="381000" y="4524375"/>
              <a:ext cx="8382000" cy="428700"/>
            </a:xfrm>
            <a:prstGeom prst="roundRect">
              <a:avLst>
                <a:gd fmla="val 500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30"/>
            <p:cNvSpPr txBox="1"/>
            <p:nvPr/>
          </p:nvSpPr>
          <p:spPr>
            <a:xfrm>
              <a:off x="571500" y="4524375"/>
              <a:ext cx="8001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w" sz="1200">
                  <a:solidFill>
                    <a:srgbClr val="1E40AF"/>
                  </a:solidFill>
                  <a:latin typeface="Assistant SemiBold"/>
                  <a:ea typeface="Assistant SemiBold"/>
                  <a:cs typeface="Assistant SemiBold"/>
                  <a:sym typeface="Assistant SemiBold"/>
                </a:rPr>
                <a:t>⁦RoBERTa⁩ מנצח ברוב המאגרים, אך ⁦BERTweet⁩ (המאומן מראש על ציוצים) משיג את התוצאה הטובה ביותר במספר מאגרי אירועים - עדות ליתרון של ⁦Pretraining⁩ ייעודי לדומיין.</a:t>
              </a:r>
              <a:endParaRPr b="0" sz="1200">
                <a:solidFill>
                  <a:srgbClr val="1E40AF"/>
                </a:solidFill>
                <a:latin typeface="Assistant SemiBold"/>
                <a:ea typeface="Assistant SemiBold"/>
                <a:cs typeface="Assistant SemiBold"/>
                <a:sym typeface="Assistant SemiBold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1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1"/>
          <p:cNvSpPr/>
          <p:nvPr/>
        </p:nvSpPr>
        <p:spPr>
          <a:xfrm>
            <a:off x="8324850" y="552450"/>
            <a:ext cx="381000" cy="38100"/>
          </a:xfrm>
          <a:prstGeom prst="roundRect">
            <a:avLst>
              <a:gd fmla="val 50000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81000" y="190500"/>
            <a:ext cx="8382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iw" sz="2400">
                <a:solidFill>
                  <a:srgbClr val="1E293B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סיכום תוצאות</a:t>
            </a:r>
            <a:endParaRPr b="0" sz="2400">
              <a:solidFill>
                <a:srgbClr val="1E293B"/>
              </a:solidFill>
              <a:latin typeface="Assistant ExtraBold"/>
              <a:ea typeface="Assistant ExtraBold"/>
              <a:cs typeface="Assistant ExtraBold"/>
              <a:sym typeface="Assistant ExtraBold"/>
            </a:endParaRPr>
          </a:p>
        </p:txBody>
      </p:sp>
      <p:grpSp>
        <p:nvGrpSpPr>
          <p:cNvPr id="315" name="Google Shape;315;p31"/>
          <p:cNvGrpSpPr/>
          <p:nvPr/>
        </p:nvGrpSpPr>
        <p:grpSpPr>
          <a:xfrm>
            <a:off x="381000" y="952500"/>
            <a:ext cx="8382000" cy="952500"/>
            <a:chOff x="381000" y="952500"/>
            <a:chExt cx="8382000" cy="952500"/>
          </a:xfrm>
        </p:grpSpPr>
        <p:sp>
          <p:nvSpPr>
            <p:cNvPr id="316" name="Google Shape;316;p31"/>
            <p:cNvSpPr/>
            <p:nvPr/>
          </p:nvSpPr>
          <p:spPr>
            <a:xfrm>
              <a:off x="381000" y="952500"/>
              <a:ext cx="83820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31"/>
            <p:cNvSpPr txBox="1"/>
            <p:nvPr/>
          </p:nvSpPr>
          <p:spPr>
            <a:xfrm>
              <a:off x="8191500" y="1178052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w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trending_up</a:t>
              </a:r>
              <a:endParaRPr b="0"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18" name="Google Shape;318;p31"/>
            <p:cNvSpPr txBox="1"/>
            <p:nvPr/>
          </p:nvSpPr>
          <p:spPr>
            <a:xfrm>
              <a:off x="571500" y="1047750"/>
              <a:ext cx="7429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1600">
                  <a:solidFill>
                    <a:srgbClr val="1E293B"/>
                  </a:solidFill>
                  <a:latin typeface="Assistant"/>
                  <a:ea typeface="Assistant"/>
                  <a:cs typeface="Assistant"/>
                  <a:sym typeface="Assistant"/>
                </a:rPr>
                <a:t>יתרון עקבי, אך הפער מצטמצם</a:t>
              </a:r>
              <a:endParaRPr b="1" sz="1600">
                <a:solidFill>
                  <a:srgbClr val="1E293B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rtl="1" algn="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iw" sz="1200">
                  <a:solidFill>
                    <a:srgbClr val="64748B"/>
                  </a:solidFill>
                  <a:latin typeface="Assistant"/>
                  <a:ea typeface="Assistant"/>
                  <a:cs typeface="Assistant"/>
                  <a:sym typeface="Assistant"/>
                </a:rPr>
                <a:t>מודלי ה-‎Fine-Tuned עלו על כל מודלי ה-‎Zero-Shot בכל 12 מאגרי הנתונים, אך המודלים הגדולים (Gemini, GPT-OSS, Llama 3.3) הגיעו ל-‎0.71-0.77 F1-Macro במנצ'סטר ומאנקיפוקס - פער שהצטמצם משמעותית מול הדגם הראשוני.</a:t>
              </a:r>
              <a:endParaRPr b="0" sz="1200">
                <a:solidFill>
                  <a:srgbClr val="64748B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319" name="Google Shape;319;p31"/>
          <p:cNvGrpSpPr/>
          <p:nvPr/>
        </p:nvGrpSpPr>
        <p:grpSpPr>
          <a:xfrm>
            <a:off x="381000" y="2047875"/>
            <a:ext cx="8382000" cy="952500"/>
            <a:chOff x="381000" y="2047875"/>
            <a:chExt cx="8382000" cy="952500"/>
          </a:xfrm>
        </p:grpSpPr>
        <p:sp>
          <p:nvSpPr>
            <p:cNvPr id="320" name="Google Shape;320;p31"/>
            <p:cNvSpPr/>
            <p:nvPr/>
          </p:nvSpPr>
          <p:spPr>
            <a:xfrm>
              <a:off x="381000" y="2047875"/>
              <a:ext cx="83820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31"/>
            <p:cNvSpPr txBox="1"/>
            <p:nvPr/>
          </p:nvSpPr>
          <p:spPr>
            <a:xfrm>
              <a:off x="8191500" y="2273427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w" sz="24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precision_manufacturing</a:t>
              </a:r>
              <a:endParaRPr b="0" sz="24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22" name="Google Shape;322;p31"/>
            <p:cNvSpPr txBox="1"/>
            <p:nvPr/>
          </p:nvSpPr>
          <p:spPr>
            <a:xfrm>
              <a:off x="571500" y="2143125"/>
              <a:ext cx="7429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1600">
                  <a:solidFill>
                    <a:srgbClr val="1E293B"/>
                  </a:solidFill>
                  <a:latin typeface="Assistant"/>
                  <a:ea typeface="Assistant"/>
                  <a:cs typeface="Assistant"/>
                  <a:sym typeface="Assistant"/>
                </a:rPr>
                <a:t>BERTweet: יתרון ל-‎Pretraining ייעודי לדומיין</a:t>
              </a:r>
              <a:endParaRPr b="1" sz="1600">
                <a:solidFill>
                  <a:srgbClr val="1E293B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rtl="1" algn="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iw" sz="1200">
                  <a:solidFill>
                    <a:srgbClr val="64748B"/>
                  </a:solidFill>
                  <a:latin typeface="Assistant"/>
                  <a:ea typeface="Assistant"/>
                  <a:cs typeface="Assistant"/>
                  <a:sym typeface="Assistant"/>
                </a:rPr>
                <a:t>קידוד שאומן מראש על ציוצים (BERTweet) השיג את התוצאה הטובה ביותר במרבית תת-אירועי PHEME, ולעיתים אף עלה על RoBERTa הכללי.</a:t>
              </a:r>
              <a:endParaRPr b="0" sz="1200">
                <a:solidFill>
                  <a:srgbClr val="64748B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323" name="Google Shape;323;p31"/>
          <p:cNvGrpSpPr/>
          <p:nvPr/>
        </p:nvGrpSpPr>
        <p:grpSpPr>
          <a:xfrm>
            <a:off x="381000" y="3143250"/>
            <a:ext cx="8382000" cy="1143000"/>
            <a:chOff x="381000" y="3143250"/>
            <a:chExt cx="8382000" cy="1143000"/>
          </a:xfrm>
        </p:grpSpPr>
        <p:sp>
          <p:nvSpPr>
            <p:cNvPr id="324" name="Google Shape;324;p31"/>
            <p:cNvSpPr/>
            <p:nvPr/>
          </p:nvSpPr>
          <p:spPr>
            <a:xfrm>
              <a:off x="381000" y="3143250"/>
              <a:ext cx="8382000" cy="1143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31"/>
            <p:cNvSpPr txBox="1"/>
            <p:nvPr/>
          </p:nvSpPr>
          <p:spPr>
            <a:xfrm>
              <a:off x="8191500" y="3464052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w" sz="240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report_problem</a:t>
              </a:r>
              <a:endParaRPr b="0" sz="2400">
                <a:solidFill>
                  <a:srgbClr val="EF444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26" name="Google Shape;326;p31"/>
            <p:cNvSpPr txBox="1"/>
            <p:nvPr/>
          </p:nvSpPr>
          <p:spPr>
            <a:xfrm>
              <a:off x="571500" y="3238500"/>
              <a:ext cx="74295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1600">
                  <a:solidFill>
                    <a:srgbClr val="1E293B"/>
                  </a:solidFill>
                  <a:latin typeface="Assistant"/>
                  <a:ea typeface="Assistant"/>
                  <a:cs typeface="Assistant"/>
                  <a:sym typeface="Assistant"/>
                </a:rPr>
                <a:t>PHEME: נקודת השבירה של Zero-Shot</a:t>
              </a:r>
              <a:endParaRPr b="1" sz="1600">
                <a:solidFill>
                  <a:srgbClr val="1E293B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rtl="1" algn="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iw" sz="1200">
                  <a:solidFill>
                    <a:srgbClr val="64748B"/>
                  </a:solidFill>
                  <a:latin typeface="Assistant"/>
                  <a:ea typeface="Assistant"/>
                  <a:cs typeface="Assistant"/>
                  <a:sym typeface="Assistant"/>
                </a:rPr>
                <a:t>זיהוי שמועות דורש הקשר זמן-אמת שאין למודל ⁦LLM⁩ כללי: אפילו ⁦Gemini 2.5 Flash⁩ קורס לכ-⁦0.32 F1-Macro⁩, זהה למודל המקומי הקטן ביותר.</a:t>
              </a:r>
              <a:endParaRPr b="0" sz="1200">
                <a:solidFill>
                  <a:srgbClr val="64748B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81000" y="4429125"/>
            <a:ext cx="8382000" cy="476400"/>
            <a:chOff x="381000" y="4429125"/>
            <a:chExt cx="8382000" cy="476400"/>
          </a:xfrm>
        </p:grpSpPr>
        <p:sp>
          <p:nvSpPr>
            <p:cNvPr id="328" name="Google Shape;328;p31"/>
            <p:cNvSpPr/>
            <p:nvPr/>
          </p:nvSpPr>
          <p:spPr>
            <a:xfrm>
              <a:off x="381000" y="4429125"/>
              <a:ext cx="8382000" cy="476400"/>
            </a:xfrm>
            <a:prstGeom prst="roundRect">
              <a:avLst>
                <a:gd fmla="val 500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31"/>
            <p:cNvSpPr txBox="1"/>
            <p:nvPr/>
          </p:nvSpPr>
          <p:spPr>
            <a:xfrm>
              <a:off x="571500" y="4429125"/>
              <a:ext cx="80010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w" sz="1100">
                  <a:solidFill>
                    <a:srgbClr val="1E40AF"/>
                  </a:solidFill>
                  <a:latin typeface="Assistant SemiBold"/>
                  <a:ea typeface="Assistant SemiBold"/>
                  <a:cs typeface="Assistant SemiBold"/>
                  <a:sym typeface="Assistant SemiBold"/>
                </a:rPr>
                <a:t>המחקר מאשש: ⁦Fine-Tuning⁩ עדיין הכרחי במשימות רגישות ותלויות-הקשר, אך גודל וטיב הפרה-אימון של מודלי ⁦LLM⁩ ממשיכים לצמצם את הפער.</a:t>
              </a:r>
              <a:endParaRPr b="0" sz="1100">
                <a:solidFill>
                  <a:srgbClr val="1E40AF"/>
                </a:solidFill>
                <a:latin typeface="Assistant SemiBold"/>
                <a:ea typeface="Assistant SemiBold"/>
                <a:cs typeface="Assistant SemiBold"/>
                <a:sym typeface="Assistant SemiBold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2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2"/>
          <p:cNvSpPr/>
          <p:nvPr/>
        </p:nvSpPr>
        <p:spPr>
          <a:xfrm>
            <a:off x="8324850" y="552450"/>
            <a:ext cx="381000" cy="38100"/>
          </a:xfrm>
          <a:prstGeom prst="roundRect">
            <a:avLst>
              <a:gd fmla="val 50000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32"/>
          <p:cNvSpPr txBox="1"/>
          <p:nvPr/>
        </p:nvSpPr>
        <p:spPr>
          <a:xfrm>
            <a:off x="381000" y="19050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iw" sz="2400">
                <a:solidFill>
                  <a:srgbClr val="1E293B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מה השתנה מאז הדגם הראשוני</a:t>
            </a:r>
            <a:endParaRPr b="0" sz="2400">
              <a:solidFill>
                <a:srgbClr val="1E293B"/>
              </a:solidFill>
              <a:latin typeface="Assistant ExtraBold"/>
              <a:ea typeface="Assistant ExtraBold"/>
              <a:cs typeface="Assistant ExtraBold"/>
              <a:sym typeface="Assistant ExtraBold"/>
            </a:endParaRPr>
          </a:p>
        </p:txBody>
      </p:sp>
      <p:grpSp>
        <p:nvGrpSpPr>
          <p:cNvPr id="337" name="Google Shape;337;p32"/>
          <p:cNvGrpSpPr/>
          <p:nvPr/>
        </p:nvGrpSpPr>
        <p:grpSpPr>
          <a:xfrm>
            <a:off x="4701118" y="968300"/>
            <a:ext cx="4095900" cy="1428900"/>
            <a:chOff x="381000" y="1047750"/>
            <a:chExt cx="4095900" cy="1428900"/>
          </a:xfrm>
        </p:grpSpPr>
        <p:sp>
          <p:nvSpPr>
            <p:cNvPr id="338" name="Google Shape;338;p32"/>
            <p:cNvSpPr/>
            <p:nvPr/>
          </p:nvSpPr>
          <p:spPr>
            <a:xfrm>
              <a:off x="381000" y="1047750"/>
              <a:ext cx="40959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32"/>
            <p:cNvSpPr txBox="1"/>
            <p:nvPr/>
          </p:nvSpPr>
          <p:spPr>
            <a:xfrm>
              <a:off x="571500" y="1231519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238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analytics</a:t>
              </a:r>
              <a:endParaRPr sz="238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40" name="Google Shape;340;p32"/>
            <p:cNvSpPr txBox="1"/>
            <p:nvPr/>
          </p:nvSpPr>
          <p:spPr>
            <a:xfrm>
              <a:off x="1047750" y="1190625"/>
              <a:ext cx="3238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1600">
                  <a:solidFill>
                    <a:srgbClr val="1E293B"/>
                  </a:solidFill>
                  <a:latin typeface="Assistant"/>
                  <a:ea typeface="Assistant"/>
                  <a:cs typeface="Assistant"/>
                  <a:sym typeface="Assistant"/>
                </a:rPr>
                <a:t>1. הרחבת ההשוואה ✔</a:t>
              </a:r>
              <a:endParaRPr b="1" sz="1600">
                <a:solidFill>
                  <a:srgbClr val="1E293B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rtl="1" algn="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iw" sz="1200">
                  <a:solidFill>
                    <a:srgbClr val="64748B"/>
                  </a:solidFill>
                  <a:latin typeface="Assistant"/>
                  <a:ea typeface="Assistant"/>
                  <a:cs typeface="Assistant"/>
                  <a:sym typeface="Assistant"/>
                </a:rPr>
                <a:t>נוספו ⁦BERTweet, MiniLM ו-‎ModernBERT⁩ (קידודים), ⁦Gemini 2.5 Flash, GPT-OSS 120B,⁩</a:t>
              </a:r>
              <a:r>
                <a:rPr lang="iw" sz="1200">
                  <a:solidFill>
                    <a:srgbClr val="64748B"/>
                  </a:solidFill>
                  <a:latin typeface="Assistant"/>
                  <a:ea typeface="Assistant"/>
                  <a:cs typeface="Assistant"/>
                  <a:sym typeface="Assistant"/>
                </a:rPr>
                <a:t> </a:t>
              </a:r>
              <a:r>
                <a:rPr lang="iw" sz="1200">
                  <a:solidFill>
                    <a:srgbClr val="64748B"/>
                  </a:solidFill>
                  <a:latin typeface="Assistant"/>
                  <a:ea typeface="Assistant"/>
                  <a:cs typeface="Assistant"/>
                  <a:sym typeface="Assistant"/>
                </a:rPr>
                <a:t>⁦Llama 3.3 70B ו-‎Qwen3.6 27B⁩ (⁦Zero-Shot⁩) - סה"כ 9 מודלים.</a:t>
              </a:r>
              <a:endParaRPr sz="1200">
                <a:solidFill>
                  <a:srgbClr val="64748B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341" name="Google Shape;341;p32"/>
          <p:cNvGrpSpPr/>
          <p:nvPr/>
        </p:nvGrpSpPr>
        <p:grpSpPr>
          <a:xfrm>
            <a:off x="381000" y="952425"/>
            <a:ext cx="4095900" cy="1428900"/>
            <a:chOff x="4667250" y="1047750"/>
            <a:chExt cx="4095900" cy="1428900"/>
          </a:xfrm>
        </p:grpSpPr>
        <p:sp>
          <p:nvSpPr>
            <p:cNvPr id="342" name="Google Shape;342;p32"/>
            <p:cNvSpPr/>
            <p:nvPr/>
          </p:nvSpPr>
          <p:spPr>
            <a:xfrm>
              <a:off x="4667250" y="1047750"/>
              <a:ext cx="40959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32"/>
            <p:cNvSpPr txBox="1"/>
            <p:nvPr/>
          </p:nvSpPr>
          <p:spPr>
            <a:xfrm>
              <a:off x="4857750" y="1231519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238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compare_arrows</a:t>
              </a:r>
              <a:endParaRPr sz="238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44" name="Google Shape;344;p32"/>
            <p:cNvSpPr txBox="1"/>
            <p:nvPr/>
          </p:nvSpPr>
          <p:spPr>
            <a:xfrm>
              <a:off x="5334000" y="1190625"/>
              <a:ext cx="3238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1600">
                  <a:solidFill>
                    <a:srgbClr val="1E293B"/>
                  </a:solidFill>
                  <a:latin typeface="Assistant"/>
                  <a:ea typeface="Assistant"/>
                  <a:cs typeface="Assistant"/>
                  <a:sym typeface="Assistant"/>
                </a:rPr>
                <a:t>2. השוואה רוחבית ✔</a:t>
              </a:r>
              <a:endParaRPr b="1" sz="1600">
                <a:solidFill>
                  <a:srgbClr val="1E293B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rtl="1" algn="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iw" sz="1200">
                  <a:solidFill>
                    <a:srgbClr val="64748B"/>
                  </a:solidFill>
                  <a:latin typeface="Assistant"/>
                  <a:ea typeface="Assistant"/>
                  <a:cs typeface="Assistant"/>
                  <a:sym typeface="Assistant"/>
                </a:rPr>
                <a:t>PHEME פוצל ל-‎9 תת-אירועים ספציפיים + מאגר מאוחד, לניתוח השוואתי בין דומיינים.</a:t>
              </a:r>
              <a:endParaRPr sz="1200">
                <a:solidFill>
                  <a:srgbClr val="64748B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345" name="Google Shape;345;p32"/>
          <p:cNvGrpSpPr/>
          <p:nvPr/>
        </p:nvGrpSpPr>
        <p:grpSpPr>
          <a:xfrm>
            <a:off x="4701118" y="2587550"/>
            <a:ext cx="4095900" cy="1428900"/>
            <a:chOff x="381000" y="2667000"/>
            <a:chExt cx="4095900" cy="1428900"/>
          </a:xfrm>
        </p:grpSpPr>
        <p:sp>
          <p:nvSpPr>
            <p:cNvPr id="346" name="Google Shape;346;p32"/>
            <p:cNvSpPr/>
            <p:nvPr/>
          </p:nvSpPr>
          <p:spPr>
            <a:xfrm>
              <a:off x="381000" y="2667000"/>
              <a:ext cx="40959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32"/>
            <p:cNvSpPr txBox="1"/>
            <p:nvPr/>
          </p:nvSpPr>
          <p:spPr>
            <a:xfrm>
              <a:off x="571500" y="2850769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238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bug_report</a:t>
              </a:r>
              <a:endParaRPr sz="2380">
                <a:solidFill>
                  <a:srgbClr val="EF444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48" name="Google Shape;348;p32"/>
            <p:cNvSpPr txBox="1"/>
            <p:nvPr/>
          </p:nvSpPr>
          <p:spPr>
            <a:xfrm>
              <a:off x="1047750" y="2809875"/>
              <a:ext cx="3238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1600">
                  <a:solidFill>
                    <a:srgbClr val="1E293B"/>
                  </a:solidFill>
                  <a:latin typeface="Assistant"/>
                  <a:ea typeface="Assistant"/>
                  <a:cs typeface="Assistant"/>
                  <a:sym typeface="Assistant"/>
                </a:rPr>
                <a:t>3. ניתוח שגיאות - בתהליך</a:t>
              </a:r>
              <a:endParaRPr b="1" sz="1600">
                <a:solidFill>
                  <a:srgbClr val="1E293B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rtl="1" algn="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iw" sz="1200">
                  <a:solidFill>
                    <a:srgbClr val="64748B"/>
                  </a:solidFill>
                  <a:latin typeface="Assistant"/>
                  <a:ea typeface="Assistant"/>
                  <a:cs typeface="Assistant"/>
                  <a:sym typeface="Assistant"/>
                </a:rPr>
                <a:t>בחינה פרטנית של דוגמאות בהן המודלים טעו - היעד הבא בהרחבת המחקר.</a:t>
              </a:r>
              <a:endParaRPr sz="1200">
                <a:solidFill>
                  <a:srgbClr val="64748B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349" name="Google Shape;349;p32"/>
          <p:cNvGrpSpPr/>
          <p:nvPr/>
        </p:nvGrpSpPr>
        <p:grpSpPr>
          <a:xfrm>
            <a:off x="381000" y="2571675"/>
            <a:ext cx="4095900" cy="1428900"/>
            <a:chOff x="4667250" y="2667000"/>
            <a:chExt cx="4095900" cy="1428900"/>
          </a:xfrm>
        </p:grpSpPr>
        <p:sp>
          <p:nvSpPr>
            <p:cNvPr id="350" name="Google Shape;350;p32"/>
            <p:cNvSpPr/>
            <p:nvPr/>
          </p:nvSpPr>
          <p:spPr>
            <a:xfrm>
              <a:off x="4667250" y="2667000"/>
              <a:ext cx="40959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32"/>
            <p:cNvSpPr txBox="1"/>
            <p:nvPr/>
          </p:nvSpPr>
          <p:spPr>
            <a:xfrm>
              <a:off x="4857750" y="2850769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238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description</a:t>
              </a:r>
              <a:endParaRPr sz="238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52" name="Google Shape;352;p32"/>
            <p:cNvSpPr txBox="1"/>
            <p:nvPr/>
          </p:nvSpPr>
          <p:spPr>
            <a:xfrm>
              <a:off x="5334000" y="2809875"/>
              <a:ext cx="3238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1600">
                  <a:solidFill>
                    <a:srgbClr val="1E293B"/>
                  </a:solidFill>
                  <a:latin typeface="Assistant"/>
                  <a:ea typeface="Assistant"/>
                  <a:cs typeface="Assistant"/>
                  <a:sym typeface="Assistant"/>
                </a:rPr>
                <a:t>4. תיעוד הפרויקט ✔</a:t>
              </a:r>
              <a:endParaRPr b="1" sz="1600">
                <a:solidFill>
                  <a:srgbClr val="1E293B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rtl="1" algn="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iw" sz="1200">
                  <a:solidFill>
                    <a:srgbClr val="64748B"/>
                  </a:solidFill>
                  <a:latin typeface="Assistant"/>
                  <a:ea typeface="Assistant"/>
                  <a:cs typeface="Assistant"/>
                  <a:sym typeface="Assistant"/>
                </a:rPr>
                <a:t>הקוד נוקה, ה-‎README עודכן, וכלל התוצאות (62 שילובי מודל-מאגר) עלו ל-‎GitHub.</a:t>
              </a:r>
              <a:endParaRPr sz="1200">
                <a:solidFill>
                  <a:srgbClr val="64748B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353" name="Google Shape;353;p32"/>
          <p:cNvGrpSpPr/>
          <p:nvPr/>
        </p:nvGrpSpPr>
        <p:grpSpPr>
          <a:xfrm>
            <a:off x="381000" y="4381500"/>
            <a:ext cx="8382000" cy="476400"/>
            <a:chOff x="381000" y="4381500"/>
            <a:chExt cx="8382000" cy="476400"/>
          </a:xfrm>
        </p:grpSpPr>
        <p:sp>
          <p:nvSpPr>
            <p:cNvPr id="354" name="Google Shape;354;p32"/>
            <p:cNvSpPr/>
            <p:nvPr/>
          </p:nvSpPr>
          <p:spPr>
            <a:xfrm>
              <a:off x="381000" y="4381500"/>
              <a:ext cx="8382000" cy="476400"/>
            </a:xfrm>
            <a:prstGeom prst="roundRect">
              <a:avLst>
                <a:gd fmla="val 500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32"/>
            <p:cNvSpPr txBox="1"/>
            <p:nvPr/>
          </p:nvSpPr>
          <p:spPr>
            <a:xfrm>
              <a:off x="571500" y="4381500"/>
              <a:ext cx="8001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w" sz="1200">
                  <a:solidFill>
                    <a:srgbClr val="1E40AF"/>
                  </a:solidFill>
                  <a:latin typeface="Assistant SemiBold"/>
                  <a:ea typeface="Assistant SemiBold"/>
                  <a:cs typeface="Assistant SemiBold"/>
                  <a:sym typeface="Assistant SemiBold"/>
                </a:rPr>
                <a:t>הרחבת המחקר מעבר לדגם הראשוני הושלמה ברובה; ניתוח השגיאות הפרטני הוא היעד הבא.</a:t>
              </a:r>
              <a:endParaRPr b="0" sz="1200">
                <a:solidFill>
                  <a:srgbClr val="1E40AF"/>
                </a:solidFill>
                <a:latin typeface="Assistant SemiBold"/>
                <a:ea typeface="Assistant SemiBold"/>
                <a:cs typeface="Assistant SemiBold"/>
                <a:sym typeface="Assistant SemiBold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33"/>
          <p:cNvSpPr txBox="1"/>
          <p:nvPr/>
        </p:nvSpPr>
        <p:spPr>
          <a:xfrm>
            <a:off x="762000" y="2381250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iw" sz="4800">
                <a:solidFill>
                  <a:srgbClr val="1E293B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תודה רבה!</a:t>
            </a:r>
            <a:endParaRPr b="0" sz="4800">
              <a:solidFill>
                <a:srgbClr val="1E293B"/>
              </a:solidFill>
              <a:latin typeface="Assistant ExtraBold"/>
              <a:ea typeface="Assistant ExtraBold"/>
              <a:cs typeface="Assistant ExtraBold"/>
              <a:sym typeface="Assistant ExtraBol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762000" y="3143250"/>
            <a:ext cx="7620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iw" sz="2400">
                <a:solidFill>
                  <a:srgbClr val="3B82F6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שאלות?</a:t>
            </a:r>
            <a:endParaRPr b="0" sz="2400">
              <a:solidFill>
                <a:srgbClr val="3B82F6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pic>
        <p:nvPicPr>
          <p:cNvPr id="363" name="Google Shape;363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71950" y="3790950"/>
            <a:ext cx="8001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33"/>
          <p:cNvSpPr txBox="1"/>
          <p:nvPr/>
        </p:nvSpPr>
        <p:spPr>
          <a:xfrm>
            <a:off x="762000" y="4191000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iw" sz="1400">
                <a:solidFill>
                  <a:srgbClr val="64748B"/>
                </a:solidFill>
                <a:latin typeface="Assistant"/>
                <a:ea typeface="Assistant"/>
                <a:cs typeface="Assistant"/>
                <a:sym typeface="Assistant"/>
              </a:rPr>
              <a:t>יהונתן שדה | שובל ברמלי</a:t>
            </a:r>
            <a:endParaRPr b="0" sz="1400">
              <a:solidFill>
                <a:srgbClr val="64748B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iw" sz="1400">
                <a:solidFill>
                  <a:srgbClr val="64748B"/>
                </a:solidFill>
                <a:latin typeface="Assistant"/>
                <a:ea typeface="Assistant"/>
                <a:cs typeface="Assistant"/>
                <a:sym typeface="Assistant"/>
              </a:rPr>
              <a:t>מנחה: ד"ר אבי יוסיפוף</a:t>
            </a:r>
            <a:endParaRPr b="0" sz="1400">
              <a:solidFill>
                <a:srgbClr val="64748B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365" name="Google Shape;365;p33"/>
          <p:cNvSpPr/>
          <p:nvPr/>
        </p:nvSpPr>
        <p:spPr>
          <a:xfrm>
            <a:off x="4381500" y="4000500"/>
            <a:ext cx="381000" cy="38100"/>
          </a:xfrm>
          <a:prstGeom prst="roundRect">
            <a:avLst>
              <a:gd fmla="val 50000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6" name="Google Shape;366;p33"/>
          <p:cNvPicPr preferRelativeResize="0"/>
          <p:nvPr/>
        </p:nvPicPr>
        <p:blipFill rotWithShape="1">
          <a:blip r:embed="rId5">
            <a:alphaModFix/>
          </a:blip>
          <a:srcRect b="0" l="0" r="39132" t="24110"/>
          <a:stretch/>
        </p:blipFill>
        <p:spPr>
          <a:xfrm>
            <a:off x="7125275" y="0"/>
            <a:ext cx="2018725" cy="251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0"/>
          <p:cNvSpPr/>
          <p:nvPr/>
        </p:nvSpPr>
        <p:spPr>
          <a:xfrm>
            <a:off x="8324850" y="552450"/>
            <a:ext cx="381000" cy="38100"/>
          </a:xfrm>
          <a:prstGeom prst="roundRect">
            <a:avLst>
              <a:gd fmla="val 50000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30"/>
          <p:cNvSpPr txBox="1"/>
          <p:nvPr>
            <p:ph type="title"/>
          </p:nvPr>
        </p:nvSpPr>
        <p:spPr>
          <a:xfrm>
            <a:off x="381000" y="190500"/>
            <a:ext cx="8382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iw" sz="2400">
                <a:solidFill>
                  <a:srgbClr val="1E293B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תוצאות | תת-אירועי PHEME (Multi-Encoder)</a:t>
            </a:r>
            <a:endParaRPr b="0" sz="2400">
              <a:solidFill>
                <a:srgbClr val="1E293B"/>
              </a:solidFill>
              <a:latin typeface="Assistant ExtraBold"/>
              <a:ea typeface="Assistant ExtraBold"/>
              <a:cs typeface="Assistant ExtraBold"/>
              <a:sym typeface="Assistant ExtraBold"/>
            </a:endParaRPr>
          </a:p>
        </p:txBody>
      </p:sp>
      <p:sp>
        <p:nvSpPr>
          <p:cNvPr id="303" name="Google Shape;303;p30"/>
          <p:cNvSpPr/>
          <p:nvPr/>
        </p:nvSpPr>
        <p:spPr>
          <a:xfrm>
            <a:off x="381000" y="952500"/>
            <a:ext cx="8382000" cy="342900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4" name="Google Shape;304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79898" y="952500"/>
            <a:ext cx="4384204" cy="3429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5" name="Google Shape;305;p30"/>
          <p:cNvGrpSpPr/>
          <p:nvPr/>
        </p:nvGrpSpPr>
        <p:grpSpPr>
          <a:xfrm>
            <a:off x="381000" y="4524375"/>
            <a:ext cx="8382000" cy="428700"/>
            <a:chOff x="381000" y="4524375"/>
            <a:chExt cx="8382000" cy="428700"/>
          </a:xfrm>
        </p:grpSpPr>
        <p:sp>
          <p:nvSpPr>
            <p:cNvPr id="306" name="Google Shape;306;p30"/>
            <p:cNvSpPr/>
            <p:nvPr/>
          </p:nvSpPr>
          <p:spPr>
            <a:xfrm>
              <a:off x="381000" y="4524375"/>
              <a:ext cx="8382000" cy="428700"/>
            </a:xfrm>
            <a:prstGeom prst="roundRect">
              <a:avLst>
                <a:gd fmla="val 500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30"/>
            <p:cNvSpPr txBox="1"/>
            <p:nvPr/>
          </p:nvSpPr>
          <p:spPr>
            <a:xfrm>
              <a:off x="571500" y="4524375"/>
              <a:ext cx="8001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w" sz="1200">
                  <a:solidFill>
                    <a:srgbClr val="1E40AF"/>
                  </a:solidFill>
                  <a:latin typeface="Assistant SemiBold"/>
                  <a:ea typeface="Assistant SemiBold"/>
                  <a:cs typeface="Assistant SemiBold"/>
                  <a:sym typeface="Assistant SemiBold"/>
                </a:rPr>
                <a:t>ארבעת הקידודים הושוו על 9 תת-אירועי ⁦PHEME⁩ (2-מחלקתי); ⁦Zero-Shot⁩ לא הורץ על מאגרים אלו בשלב זה. שימו לב: ⁦gurlitt ו-‎prince-toronto⁩ קטנים וחריגים (30-46 שורות בדיקה) - התוצאות שם רועשות.</a:t>
              </a:r>
              <a:endParaRPr b="0" sz="1200">
                <a:solidFill>
                  <a:srgbClr val="1E40AF"/>
                </a:solidFill>
                <a:latin typeface="Assistant SemiBold"/>
                <a:ea typeface="Assistant SemiBold"/>
                <a:cs typeface="Assistant SemiBold"/>
                <a:sym typeface="Assistant SemiBold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